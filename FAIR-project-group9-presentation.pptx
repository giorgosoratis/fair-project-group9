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7"/>
  </p:notesMasterIdLst>
  <p:sldIdLst>
    <p:sldId id="256" r:id="rId3"/>
    <p:sldId id="257" r:id="rId4"/>
    <p:sldId id="258" r:id="rId5"/>
    <p:sldId id="267" r:id="rId6"/>
    <p:sldId id="266" r:id="rId7"/>
    <p:sldId id="268" r:id="rId8"/>
    <p:sldId id="269" r:id="rId9"/>
    <p:sldId id="270" r:id="rId10"/>
    <p:sldId id="273" r:id="rId11"/>
    <p:sldId id="274" r:id="rId12"/>
    <p:sldId id="275" r:id="rId13"/>
    <p:sldId id="276" r:id="rId14"/>
    <p:sldId id="277" r:id="rId15"/>
    <p:sldId id="278" r:id="rId16"/>
  </p:sldIdLst>
  <p:sldSz cx="18288000" cy="10287000"/>
  <p:notesSz cx="6858000" cy="9144000"/>
  <p:embeddedFontLst>
    <p:embeddedFont>
      <p:font typeface="Archivo Black" panose="020B0604020202020204" charset="0"/>
      <p:regular r:id="rId18"/>
    </p:embeddedFont>
    <p:embeddedFont>
      <p:font typeface="Roboto" panose="02000000000000000000" pitchFamily="2" charset="0"/>
      <p:regular r:id="rId19"/>
      <p:bold r:id="rId20"/>
      <p:italic r:id="rId21"/>
      <p:boldItalic r:id="rId22"/>
    </p:embeddedFont>
    <p:embeddedFont>
      <p:font typeface="Roboto Bold" panose="02000000000000000000"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5098" autoAdjust="0"/>
  </p:normalViewPr>
  <p:slideViewPr>
    <p:cSldViewPr>
      <p:cViewPr>
        <p:scale>
          <a:sx n="50" d="100"/>
          <a:sy n="50" d="100"/>
        </p:scale>
        <p:origin x="874" y="-29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139C4-A8C9-4D53-83DC-10B91B618373}" type="datetimeFigureOut">
              <a:rPr lang="el-GR" smtClean="0"/>
              <a:t>25/10/2026</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FD0E7-A571-4D38-B239-BD25B118AD61}" type="slidenum">
              <a:rPr lang="el-GR" smtClean="0"/>
              <a:t>‹#›</a:t>
            </a:fld>
            <a:endParaRPr lang="el-GR"/>
          </a:p>
        </p:txBody>
      </p:sp>
    </p:spTree>
    <p:extLst>
      <p:ext uri="{BB962C8B-B14F-4D97-AF65-F5344CB8AC3E}">
        <p14:creationId xmlns:p14="http://schemas.microsoft.com/office/powerpoint/2010/main" val="1476018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Giorgos and Nefeli, and today we will present our project on the </a:t>
            </a:r>
            <a:r>
              <a:rPr lang="en-US" dirty="0" err="1"/>
              <a:t>FAIRification</a:t>
            </a:r>
            <a:r>
              <a:rPr lang="en-US" dirty="0"/>
              <a:t> of Premier League player statistics for the 2024–2025 season.</a:t>
            </a:r>
          </a:p>
          <a:p>
            <a:r>
              <a:rPr lang="en-US" dirty="0"/>
              <a:t>We will explain how we selected and prepared the data, transformed it into RDF, created metadata, and improved its potential for reuse and interoperability.</a:t>
            </a:r>
          </a:p>
          <a:p>
            <a:endParaRPr lang="en-US" dirty="0"/>
          </a:p>
        </p:txBody>
      </p:sp>
      <p:sp>
        <p:nvSpPr>
          <p:cNvPr id="4" name="Slide Number Placeholder 3"/>
          <p:cNvSpPr>
            <a:spLocks noGrp="1"/>
          </p:cNvSpPr>
          <p:nvPr>
            <p:ph type="sldNum" sz="quarter" idx="5"/>
          </p:nvPr>
        </p:nvSpPr>
        <p:spPr/>
        <p:txBody>
          <a:bodyPr/>
          <a:lstStyle/>
          <a:p>
            <a:fld id="{2DBFD0E7-A571-4D38-B239-BD25B118AD61}" type="slidenum">
              <a:rPr lang="el-GR" smtClean="0"/>
              <a:t>1</a:t>
            </a:fld>
            <a:endParaRPr lang="el-GR"/>
          </a:p>
        </p:txBody>
      </p:sp>
    </p:spTree>
    <p:extLst>
      <p:ext uri="{BB962C8B-B14F-4D97-AF65-F5344CB8AC3E}">
        <p14:creationId xmlns:p14="http://schemas.microsoft.com/office/powerpoint/2010/main" val="3969878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n-US" dirty="0"/>
              <a:t>Our project is based on a dataset from Kaggle called “Premier League Data from 2016 to 2025.”</a:t>
            </a:r>
          </a:p>
          <a:p>
            <a:r>
              <a:rPr lang="en-US" dirty="0"/>
              <a:t>The original dataset contains information from multiple seasons, including club statistics, player profiles, and performance metrics. We decided to focus on the 2024–2025 season and specifically on player information and performance statistics.</a:t>
            </a:r>
          </a:p>
          <a:p>
            <a:r>
              <a:rPr lang="en-US" dirty="0"/>
              <a:t>We selected two CSV files containing complementary information, which we later combined into a single dataset for our </a:t>
            </a:r>
            <a:r>
              <a:rPr lang="en-US" dirty="0" err="1"/>
              <a:t>FAIRification</a:t>
            </a:r>
            <a:r>
              <a:rPr lang="en-US" dirty="0"/>
              <a:t> process.</a:t>
            </a:r>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2</a:t>
            </a:fld>
            <a:endParaRPr lang="el-GR"/>
          </a:p>
        </p:txBody>
      </p:sp>
    </p:spTree>
    <p:extLst>
      <p:ext uri="{BB962C8B-B14F-4D97-AF65-F5344CB8AC3E}">
        <p14:creationId xmlns:p14="http://schemas.microsoft.com/office/powerpoint/2010/main" val="1141277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n-US" dirty="0"/>
              <a:t>Before starting, we defined the main goals of our </a:t>
            </a:r>
            <a:r>
              <a:rPr lang="en-US" dirty="0" err="1"/>
              <a:t>FAIRification</a:t>
            </a:r>
            <a:r>
              <a:rPr lang="en-US" dirty="0"/>
              <a:t> process.</a:t>
            </a:r>
          </a:p>
          <a:p>
            <a:r>
              <a:rPr lang="en-US" dirty="0"/>
              <a:t>First, we wanted to integrate the two CSV files into one dataset. Second, we aimed to enrich the data semantically by linking relevant entities to external resources.</a:t>
            </a:r>
          </a:p>
          <a:p>
            <a:r>
              <a:rPr lang="en-US" dirty="0"/>
              <a:t>We then planned to transform the data into RDF, create descriptive metadata, assign persistent identifiers, and publish the resources on GitHub.</a:t>
            </a:r>
          </a:p>
          <a:p>
            <a:r>
              <a:rPr lang="en-US" dirty="0"/>
              <a:t>These steps were intended to improve the findability, accessibility, interoperability, and reusability of our dataset.</a:t>
            </a:r>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3</a:t>
            </a:fld>
            <a:endParaRPr lang="el-GR"/>
          </a:p>
        </p:txBody>
      </p:sp>
    </p:spTree>
    <p:extLst>
      <p:ext uri="{BB962C8B-B14F-4D97-AF65-F5344CB8AC3E}">
        <p14:creationId xmlns:p14="http://schemas.microsoft.com/office/powerpoint/2010/main" val="531439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several groups that could benefit from our dataset.</a:t>
            </a:r>
          </a:p>
          <a:p>
            <a:r>
              <a:rPr lang="en-US" dirty="0"/>
              <a:t>Football analysts and statisticians could use it to compare player performance. Researchers and students could use it for academic projects, while football clubs and scouting analysts could explore player statistics.</a:t>
            </a:r>
          </a:p>
          <a:p>
            <a:r>
              <a:rPr lang="en-US" dirty="0"/>
              <a:t>Also, data scientists and developers could reuse the structured data in analytical applications or potentially combine it with other football datasets.</a:t>
            </a:r>
          </a:p>
          <a:p>
            <a:endParaRPr lang="en-US" dirty="0"/>
          </a:p>
        </p:txBody>
      </p:sp>
      <p:sp>
        <p:nvSpPr>
          <p:cNvPr id="4" name="Slide Number Placeholder 3"/>
          <p:cNvSpPr>
            <a:spLocks noGrp="1"/>
          </p:cNvSpPr>
          <p:nvPr>
            <p:ph type="sldNum" sz="quarter" idx="5"/>
          </p:nvPr>
        </p:nvSpPr>
        <p:spPr/>
        <p:txBody>
          <a:bodyPr/>
          <a:lstStyle/>
          <a:p>
            <a:fld id="{2DBFD0E7-A571-4D38-B239-BD25B118AD61}" type="slidenum">
              <a:rPr lang="el-GR" smtClean="0"/>
              <a:t>4</a:t>
            </a:fld>
            <a:endParaRPr lang="el-GR"/>
          </a:p>
        </p:txBody>
      </p:sp>
    </p:spTree>
    <p:extLst>
      <p:ext uri="{BB962C8B-B14F-4D97-AF65-F5344CB8AC3E}">
        <p14:creationId xmlns:p14="http://schemas.microsoft.com/office/powerpoint/2010/main" val="3524314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two CSV files: one containing player information and another containing performance statistics for the 2024–2025 season.</a:t>
            </a:r>
          </a:p>
          <a:p>
            <a:r>
              <a:rPr lang="en-US" dirty="0"/>
              <a:t>To keep the project manageable, we selected ten relevant properties, we merged the selected columns into one CSV file and cleaned and prepared the resulting data.</a:t>
            </a:r>
          </a:p>
          <a:p>
            <a:r>
              <a:rPr lang="en-US" dirty="0"/>
              <a:t>We also used </a:t>
            </a:r>
            <a:r>
              <a:rPr lang="en-US" dirty="0" err="1"/>
              <a:t>OpenRefine</a:t>
            </a:r>
            <a:r>
              <a:rPr lang="en-US" dirty="0"/>
              <a:t> to reconcile relevant entities with </a:t>
            </a:r>
            <a:r>
              <a:rPr lang="en-US" dirty="0" err="1"/>
              <a:t>Wikidata</a:t>
            </a:r>
            <a:r>
              <a:rPr lang="en-US" dirty="0"/>
              <a:t>. This allowed us to connect selected values to external identifiers instead of representing everything only as plain text.</a:t>
            </a:r>
          </a:p>
          <a:p>
            <a:endParaRPr lang="en-US" dirty="0"/>
          </a:p>
        </p:txBody>
      </p:sp>
      <p:sp>
        <p:nvSpPr>
          <p:cNvPr id="4" name="Slide Number Placeholder 3"/>
          <p:cNvSpPr>
            <a:spLocks noGrp="1"/>
          </p:cNvSpPr>
          <p:nvPr>
            <p:ph type="sldNum" sz="quarter" idx="5"/>
          </p:nvPr>
        </p:nvSpPr>
        <p:spPr/>
        <p:txBody>
          <a:bodyPr/>
          <a:lstStyle/>
          <a:p>
            <a:fld id="{2DBFD0E7-A571-4D38-B239-BD25B118AD61}" type="slidenum">
              <a:rPr lang="el-GR" smtClean="0"/>
              <a:t>5</a:t>
            </a:fld>
            <a:endParaRPr lang="el-GR"/>
          </a:p>
        </p:txBody>
      </p:sp>
    </p:spTree>
    <p:extLst>
      <p:ext uri="{BB962C8B-B14F-4D97-AF65-F5344CB8AC3E}">
        <p14:creationId xmlns:p14="http://schemas.microsoft.com/office/powerpoint/2010/main" val="201703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n-US" dirty="0"/>
              <a:t>After preparing the data, we designed our semantic data model.</a:t>
            </a:r>
          </a:p>
          <a:p>
            <a:r>
              <a:rPr lang="en-US" dirty="0"/>
              <a:t>The main class is Football Player, which we defined specifically for our project. We also reused existing concepts for Country, Sports Club, Football Position, and Laterality from external vocabularies.</a:t>
            </a:r>
          </a:p>
          <a:p>
            <a:r>
              <a:rPr lang="en-US" dirty="0"/>
              <a:t>Where appropriate, we reused existing properties to describe information such as a player's name, date of birth, nationality, club membership, position, and preferred foot.</a:t>
            </a:r>
          </a:p>
          <a:p>
            <a:r>
              <a:rPr lang="en-US" dirty="0"/>
              <a:t>For performance statistics, we created project-specific properties for goals, assists, expected goals, and expected assists, using Protégé,. This model defines how the different concepts and properties are represented and related in our RDF dataset.</a:t>
            </a:r>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6</a:t>
            </a:fld>
            <a:endParaRPr lang="el-GR"/>
          </a:p>
        </p:txBody>
      </p:sp>
    </p:spTree>
    <p:extLst>
      <p:ext uri="{BB962C8B-B14F-4D97-AF65-F5344CB8AC3E}">
        <p14:creationId xmlns:p14="http://schemas.microsoft.com/office/powerpoint/2010/main" val="2603332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n-US" dirty="0"/>
              <a:t>Next, we transformed the prepared CSV file into RDF using the RDF extension in </a:t>
            </a:r>
            <a:r>
              <a:rPr lang="en-US" dirty="0" err="1"/>
              <a:t>OpenRefine</a:t>
            </a:r>
            <a:r>
              <a:rPr lang="en-US" dirty="0"/>
              <a:t>.</a:t>
            </a:r>
          </a:p>
          <a:p>
            <a:r>
              <a:rPr lang="en-US" dirty="0"/>
              <a:t>As we know RDF represents data as triples: a subject, a predicate, and an object.  For our dataset, the subject of all triples is the Football Player entity.</a:t>
            </a:r>
          </a:p>
          <a:p>
            <a:r>
              <a:rPr lang="en-US" dirty="0"/>
              <a:t>We used our semantic model and existing vocabulary terms to describe player information. We also linked selected entities to their corresponding </a:t>
            </a:r>
            <a:r>
              <a:rPr lang="en-US" dirty="0" err="1"/>
              <a:t>Wikidata</a:t>
            </a:r>
            <a:r>
              <a:rPr lang="en-US" dirty="0"/>
              <a:t> identifiers.</a:t>
            </a:r>
          </a:p>
          <a:p>
            <a:r>
              <a:rPr lang="en-US" dirty="0"/>
              <a:t>For statistics we used our own project specific properties.</a:t>
            </a:r>
          </a:p>
          <a:p>
            <a:r>
              <a:rPr lang="en-US" dirty="0"/>
              <a:t>Finally, we exported the resulting dataset in Turtle format</a:t>
            </a:r>
            <a:r>
              <a:rPr lang="en-GB" dirty="0"/>
              <a:t>.</a:t>
            </a:r>
            <a:endParaRPr lang="en-US" dirty="0"/>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7</a:t>
            </a:fld>
            <a:endParaRPr lang="el-GR"/>
          </a:p>
        </p:txBody>
      </p:sp>
    </p:spTree>
    <p:extLst>
      <p:ext uri="{BB962C8B-B14F-4D97-AF65-F5344CB8AC3E}">
        <p14:creationId xmlns:p14="http://schemas.microsoft.com/office/powerpoint/2010/main" val="2137844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player data, we also needed structured metadata to describe our resources.</a:t>
            </a:r>
          </a:p>
          <a:p>
            <a:r>
              <a:rPr lang="en-US" dirty="0"/>
              <a:t>We created two custom SHACL schemas: one for dataset metadata and one for distribution metadata.</a:t>
            </a:r>
          </a:p>
          <a:p>
            <a:r>
              <a:rPr lang="en-US" dirty="0"/>
              <a:t>The dataset schema defines fields such as the title, description, creators, dates, </a:t>
            </a:r>
            <a:r>
              <a:rPr lang="en-US" dirty="0" err="1"/>
              <a:t>licence</a:t>
            </a:r>
            <a:r>
              <a:rPr lang="en-US" dirty="0"/>
              <a:t>, and coverage. </a:t>
            </a:r>
          </a:p>
          <a:p>
            <a:r>
              <a:rPr lang="en-US" dirty="0"/>
              <a:t>The distribution schema describes details such as the file format, media type, access and download URLs, file size, and conformance.</a:t>
            </a:r>
          </a:p>
          <a:p>
            <a:r>
              <a:rPr lang="en-US" dirty="0"/>
              <a:t>We also defined validation constraints for required fields, datatypes, and cardinality. These schemas help us check whether our metadata records follow the structure we intended.</a:t>
            </a:r>
          </a:p>
          <a:p>
            <a:endParaRPr lang="en-US" dirty="0"/>
          </a:p>
        </p:txBody>
      </p:sp>
      <p:sp>
        <p:nvSpPr>
          <p:cNvPr id="4" name="Slide Number Placeholder 3"/>
          <p:cNvSpPr>
            <a:spLocks noGrp="1"/>
          </p:cNvSpPr>
          <p:nvPr>
            <p:ph type="sldNum" sz="quarter" idx="5"/>
          </p:nvPr>
        </p:nvSpPr>
        <p:spPr/>
        <p:txBody>
          <a:bodyPr/>
          <a:lstStyle/>
          <a:p>
            <a:fld id="{2DBFD0E7-A571-4D38-B239-BD25B118AD61}" type="slidenum">
              <a:rPr lang="el-GR" smtClean="0"/>
              <a:t>8</a:t>
            </a:fld>
            <a:endParaRPr lang="el-GR"/>
          </a:p>
        </p:txBody>
      </p:sp>
    </p:spTree>
    <p:extLst>
      <p:ext uri="{BB962C8B-B14F-4D97-AF65-F5344CB8AC3E}">
        <p14:creationId xmlns:p14="http://schemas.microsoft.com/office/powerpoint/2010/main" val="3115537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n-US" dirty="0"/>
              <a:t>Using our metadata schemas, we created records, through FDP, at three levels: the catalog, the dataset, and its distributions.</a:t>
            </a:r>
          </a:p>
          <a:p>
            <a:r>
              <a:rPr lang="en-US" dirty="0"/>
              <a:t>The dataset record provides descriptive information about the Premier League player statistics.</a:t>
            </a:r>
          </a:p>
          <a:p>
            <a:r>
              <a:rPr lang="en-US" dirty="0"/>
              <a:t>We also described two distributions. The original distribution contains the two CSV files packaged together as a ZIP archive. The </a:t>
            </a:r>
            <a:r>
              <a:rPr lang="en-US" dirty="0" err="1"/>
              <a:t>FAIRified</a:t>
            </a:r>
            <a:r>
              <a:rPr lang="en-US" dirty="0"/>
              <a:t> distribution contains the transformed data in RDF/Turtle format.</a:t>
            </a:r>
          </a:p>
          <a:p>
            <a:r>
              <a:rPr lang="en-US" dirty="0"/>
              <a:t>This structure makes it clearer what the dataset contains and which versions of the data are available for use.</a:t>
            </a:r>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9</a:t>
            </a:fld>
            <a:endParaRPr lang="el-GR"/>
          </a:p>
        </p:txBody>
      </p:sp>
    </p:spTree>
    <p:extLst>
      <p:ext uri="{BB962C8B-B14F-4D97-AF65-F5344CB8AC3E}">
        <p14:creationId xmlns:p14="http://schemas.microsoft.com/office/powerpoint/2010/main" val="3213613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published the project resources in a GitHub repository. These resources include the original data, the </a:t>
            </a:r>
            <a:r>
              <a:rPr lang="en-US" dirty="0" err="1"/>
              <a:t>FAIRified</a:t>
            </a:r>
            <a:r>
              <a:rPr lang="en-US" dirty="0"/>
              <a:t> RDF dataset, the ontology, and the metadata files.</a:t>
            </a:r>
          </a:p>
          <a:p>
            <a:r>
              <a:rPr lang="en-US" dirty="0"/>
              <a:t>We also assigned W3ID identifiers to the ontology and both data distributions, linking those identifiers to the corresponding resources.</a:t>
            </a:r>
          </a:p>
          <a:p>
            <a:r>
              <a:rPr lang="en-US" dirty="0"/>
              <a:t>Persistent identifiers help other people refer to the resources consistently, while publishing the files and metadata makes them easier to discover and access.</a:t>
            </a:r>
          </a:p>
          <a:p>
            <a:r>
              <a:rPr lang="en-US" dirty="0"/>
              <a:t>The repository therefore acts as the main location for sharing the outputs of our project.</a:t>
            </a:r>
          </a:p>
          <a:p>
            <a:endParaRPr lang="el-GR" dirty="0"/>
          </a:p>
        </p:txBody>
      </p:sp>
      <p:sp>
        <p:nvSpPr>
          <p:cNvPr id="4" name="Slide Number Placeholder 3"/>
          <p:cNvSpPr>
            <a:spLocks noGrp="1"/>
          </p:cNvSpPr>
          <p:nvPr>
            <p:ph type="sldNum" sz="quarter" idx="5"/>
          </p:nvPr>
        </p:nvSpPr>
        <p:spPr/>
        <p:txBody>
          <a:bodyPr/>
          <a:lstStyle/>
          <a:p>
            <a:fld id="{2DBFD0E7-A571-4D38-B239-BD25B118AD61}" type="slidenum">
              <a:rPr lang="el-GR" smtClean="0"/>
              <a:t>10</a:t>
            </a:fld>
            <a:endParaRPr lang="el-GR"/>
          </a:p>
        </p:txBody>
      </p:sp>
    </p:spTree>
    <p:extLst>
      <p:ext uri="{BB962C8B-B14F-4D97-AF65-F5344CB8AC3E}">
        <p14:creationId xmlns:p14="http://schemas.microsoft.com/office/powerpoint/2010/main" val="2732689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a:t>
            </a:r>
            <a:r>
              <a:rPr lang="en-US" dirty="0" err="1"/>
              <a:t>summarise</a:t>
            </a:r>
            <a:r>
              <a:rPr lang="en-US" dirty="0"/>
              <a:t> our work in terms of the four FAIR principles.</a:t>
            </a:r>
          </a:p>
          <a:p>
            <a:r>
              <a:rPr lang="en-US" dirty="0"/>
              <a:t>For Findability, we created descriptive metadata and assigned W3ID identifiers to the ontology and data distributions.</a:t>
            </a:r>
          </a:p>
          <a:p>
            <a:r>
              <a:rPr lang="en-US" dirty="0"/>
              <a:t>For Accessibility, we published the resources on GitHub and provided both the original </a:t>
            </a:r>
            <a:r>
              <a:rPr lang="en-GB" dirty="0"/>
              <a:t>data</a:t>
            </a:r>
            <a:r>
              <a:rPr lang="en-US" dirty="0"/>
              <a:t> and the </a:t>
            </a:r>
            <a:r>
              <a:rPr lang="en-US" dirty="0" err="1"/>
              <a:t>FAIRified</a:t>
            </a:r>
            <a:r>
              <a:rPr lang="en-US" dirty="0"/>
              <a:t> Turtle file.</a:t>
            </a:r>
          </a:p>
          <a:p>
            <a:r>
              <a:rPr lang="en-US" dirty="0"/>
              <a:t>For Interoperability, we represented the data in RDF, used a project-specific ontology, and linked selected entities to </a:t>
            </a:r>
            <a:r>
              <a:rPr lang="en-US" dirty="0" err="1"/>
              <a:t>Wikidata</a:t>
            </a:r>
            <a:r>
              <a:rPr lang="en-US" dirty="0"/>
              <a:t>.</a:t>
            </a:r>
          </a:p>
          <a:p>
            <a:r>
              <a:rPr lang="en-US" dirty="0"/>
              <a:t>Finally, for Reusability, we documented the preparation and transformation process and included metadata about provenance and licensing.</a:t>
            </a:r>
          </a:p>
        </p:txBody>
      </p:sp>
      <p:sp>
        <p:nvSpPr>
          <p:cNvPr id="4" name="Slide Number Placeholder 3"/>
          <p:cNvSpPr>
            <a:spLocks noGrp="1"/>
          </p:cNvSpPr>
          <p:nvPr>
            <p:ph type="sldNum" sz="quarter" idx="5"/>
          </p:nvPr>
        </p:nvSpPr>
        <p:spPr/>
        <p:txBody>
          <a:bodyPr/>
          <a:lstStyle/>
          <a:p>
            <a:fld id="{2DBFD0E7-A571-4D38-B239-BD25B118AD61}" type="slidenum">
              <a:rPr lang="el-GR" smtClean="0"/>
              <a:t>11</a:t>
            </a:fld>
            <a:endParaRPr lang="el-GR"/>
          </a:p>
        </p:txBody>
      </p:sp>
    </p:spTree>
    <p:extLst>
      <p:ext uri="{BB962C8B-B14F-4D97-AF65-F5344CB8AC3E}">
        <p14:creationId xmlns:p14="http://schemas.microsoft.com/office/powerpoint/2010/main" val="512295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 also creates opportunities for future use.</a:t>
            </a:r>
          </a:p>
          <a:p>
            <a:r>
              <a:rPr lang="en-US" dirty="0"/>
              <a:t>The player statistics can support comparisons based on goals, assists, expected goals, and expected assists. Because the data is represented in RDF and selected entities are linked to </a:t>
            </a:r>
            <a:r>
              <a:rPr lang="en-GB" dirty="0"/>
              <a:t>external entities</a:t>
            </a:r>
            <a:r>
              <a:rPr lang="en-US" dirty="0"/>
              <a:t>, it may also be easier to connect the dataset to additional resources in the future.</a:t>
            </a:r>
          </a:p>
          <a:p>
            <a:r>
              <a:rPr lang="en-US" dirty="0"/>
              <a:t>However, full integration with other football datasets would require further work, including identifying compatible data, establishing the relevant links, and incorporating additional information.</a:t>
            </a:r>
          </a:p>
          <a:p>
            <a:r>
              <a:rPr lang="en-US" dirty="0"/>
              <a:t>We therefore consider broader data linking and integration as future opportunities</a:t>
            </a:r>
            <a:r>
              <a:rPr lang="en-GB" dirty="0"/>
              <a:t>.</a:t>
            </a:r>
            <a:endParaRPr lang="en-US" dirty="0"/>
          </a:p>
          <a:p>
            <a:endParaRPr lang="en-US" dirty="0"/>
          </a:p>
        </p:txBody>
      </p:sp>
      <p:sp>
        <p:nvSpPr>
          <p:cNvPr id="4" name="Slide Number Placeholder 3"/>
          <p:cNvSpPr>
            <a:spLocks noGrp="1"/>
          </p:cNvSpPr>
          <p:nvPr>
            <p:ph type="sldNum" sz="quarter" idx="5"/>
          </p:nvPr>
        </p:nvSpPr>
        <p:spPr/>
        <p:txBody>
          <a:bodyPr/>
          <a:lstStyle/>
          <a:p>
            <a:fld id="{2DBFD0E7-A571-4D38-B239-BD25B118AD61}" type="slidenum">
              <a:rPr lang="el-GR" smtClean="0"/>
              <a:t>12</a:t>
            </a:fld>
            <a:endParaRPr lang="el-GR"/>
          </a:p>
        </p:txBody>
      </p:sp>
    </p:spTree>
    <p:extLst>
      <p:ext uri="{BB962C8B-B14F-4D97-AF65-F5344CB8AC3E}">
        <p14:creationId xmlns:p14="http://schemas.microsoft.com/office/powerpoint/2010/main" val="2906552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696C-6BFD-93BE-D12B-F719CBEDA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B2A3A-0347-0B79-E04C-38887A9049D3}"/>
              </a:ext>
            </a:extLst>
          </p:cNvPr>
          <p:cNvSpPr>
            <a:spLocks noGrp="1" noRot="1" noChangeAspect="1"/>
          </p:cNvSpPr>
          <p:nvPr>
            <p:ph type="sldImg"/>
          </p:nvPr>
        </p:nvSpPr>
        <p:spPr/>
        <p:txBody>
          <a:bodyPr/>
          <a:lstStyle/>
          <a:p>
            <a:endParaRPr lang="el-GR"/>
          </a:p>
        </p:txBody>
      </p:sp>
      <p:sp>
        <p:nvSpPr>
          <p:cNvPr id="3" name="Notes Placeholder 2">
            <a:extLst>
              <a:ext uri="{FF2B5EF4-FFF2-40B4-BE49-F238E27FC236}">
                <a16:creationId xmlns:a16="http://schemas.microsoft.com/office/drawing/2014/main" id="{4F40C3F2-A87E-7D4B-11CF-F9288267329C}"/>
              </a:ext>
            </a:extLst>
          </p:cNvPr>
          <p:cNvSpPr>
            <a:spLocks noGrp="1"/>
          </p:cNvSpPr>
          <p:nvPr>
            <p:ph type="body" idx="1"/>
          </p:nvPr>
        </p:nvSpPr>
        <p:spPr/>
        <p:txBody>
          <a:bodyPr/>
          <a:lstStyle/>
          <a:p>
            <a:r>
              <a:rPr lang="en-US" dirty="0"/>
              <a:t>During this project, we faced two main challenges.</a:t>
            </a:r>
          </a:p>
          <a:p>
            <a:endParaRPr lang="en-US" dirty="0"/>
          </a:p>
          <a:p>
            <a:r>
              <a:rPr lang="en-US" dirty="0"/>
              <a:t>The first was entity linking: using </a:t>
            </a:r>
            <a:r>
              <a:rPr lang="en-US" dirty="0" err="1"/>
              <a:t>OpenRefine</a:t>
            </a:r>
            <a:r>
              <a:rPr lang="en-US" dirty="0"/>
              <a:t> to reconcile selected values and connect them to external entities.</a:t>
            </a:r>
            <a:r>
              <a:rPr lang="en-GB" dirty="0"/>
              <a:t>The most difficult part of this process was finding the proper entities to match our data.  </a:t>
            </a:r>
            <a:r>
              <a:rPr lang="en-US" dirty="0"/>
              <a:t>The second was semantic modelling, which required us to define an ontology and represent our data correctly in RDF.</a:t>
            </a:r>
          </a:p>
          <a:p>
            <a:endParaRPr lang="en-US" dirty="0"/>
          </a:p>
          <a:p>
            <a:r>
              <a:rPr lang="en-US" dirty="0"/>
              <a:t>As future work, we could link the dataset to more football-related resources, include additional seasons, and extend the available player statistics.</a:t>
            </a:r>
          </a:p>
          <a:p>
            <a:endParaRPr lang="en-US" dirty="0"/>
          </a:p>
          <a:p>
            <a:r>
              <a:rPr lang="en-US" dirty="0"/>
              <a:t>Overall, this project showed us how </a:t>
            </a:r>
            <a:r>
              <a:rPr lang="en-US" dirty="0" err="1"/>
              <a:t>FAIRification</a:t>
            </a:r>
            <a:r>
              <a:rPr lang="en-US" dirty="0"/>
              <a:t> involves more than changing a file format: it also requires semantic modelling, metadata, identifiers, and a plan for making data reusable.</a:t>
            </a:r>
            <a:endParaRPr lang="el-GR" dirty="0"/>
          </a:p>
        </p:txBody>
      </p:sp>
      <p:sp>
        <p:nvSpPr>
          <p:cNvPr id="4" name="Slide Number Placeholder 3">
            <a:extLst>
              <a:ext uri="{FF2B5EF4-FFF2-40B4-BE49-F238E27FC236}">
                <a16:creationId xmlns:a16="http://schemas.microsoft.com/office/drawing/2014/main" id="{37585510-02A6-000F-EF0B-FAFF8DF97515}"/>
              </a:ext>
            </a:extLst>
          </p:cNvPr>
          <p:cNvSpPr>
            <a:spLocks noGrp="1"/>
          </p:cNvSpPr>
          <p:nvPr>
            <p:ph type="sldNum" sz="quarter" idx="5"/>
          </p:nvPr>
        </p:nvSpPr>
        <p:spPr/>
        <p:txBody>
          <a:bodyPr/>
          <a:lstStyle/>
          <a:p>
            <a:fld id="{2DBFD0E7-A571-4D38-B239-BD25B118AD61}" type="slidenum">
              <a:rPr lang="el-GR" smtClean="0"/>
              <a:t>13</a:t>
            </a:fld>
            <a:endParaRPr lang="el-GR"/>
          </a:p>
        </p:txBody>
      </p:sp>
    </p:spTree>
    <p:extLst>
      <p:ext uri="{BB962C8B-B14F-4D97-AF65-F5344CB8AC3E}">
        <p14:creationId xmlns:p14="http://schemas.microsoft.com/office/powerpoint/2010/main" val="3544107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700" y="3195638"/>
            <a:ext cx="11658600" cy="2205038"/>
          </a:xfrm>
        </p:spPr>
        <p:txBody>
          <a:bodyPr/>
          <a:lstStyle/>
          <a:p>
            <a:r>
              <a:rPr lang="en-US"/>
              <a:t>Click to edit Master title style</a:t>
            </a:r>
          </a:p>
        </p:txBody>
      </p:sp>
      <p:sp>
        <p:nvSpPr>
          <p:cNvPr id="3" name="Subtitle 2"/>
          <p:cNvSpPr>
            <a:spLocks noGrp="1"/>
          </p:cNvSpPr>
          <p:nvPr>
            <p:ph type="subTitle" idx="1"/>
          </p:nvPr>
        </p:nvSpPr>
        <p:spPr>
          <a:xfrm>
            <a:off x="2057400" y="5829300"/>
            <a:ext cx="9601200" cy="2628900"/>
          </a:xfrm>
        </p:spPr>
        <p:txBody>
          <a:bodyPr/>
          <a:lstStyle>
            <a:lvl1pPr marL="0" indent="0" algn="ctr">
              <a:buNone/>
              <a:defRPr>
                <a:solidFill>
                  <a:schemeClr val="tx1">
                    <a:tint val="7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426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653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3469" y="6610351"/>
            <a:ext cx="11658600" cy="2043113"/>
          </a:xfrm>
        </p:spPr>
        <p:txBody>
          <a:bodyPr anchor="t"/>
          <a:lstStyle>
            <a:lvl1pPr algn="l">
              <a:defRPr sz="6000" b="1" cap="all"/>
            </a:lvl1pPr>
          </a:lstStyle>
          <a:p>
            <a:r>
              <a:rPr lang="en-US"/>
              <a:t>Click to edit Master title style</a:t>
            </a:r>
          </a:p>
        </p:txBody>
      </p:sp>
      <p:sp>
        <p:nvSpPr>
          <p:cNvPr id="3" name="Text Placeholder 2"/>
          <p:cNvSpPr>
            <a:spLocks noGrp="1"/>
          </p:cNvSpPr>
          <p:nvPr>
            <p:ph type="body" idx="1"/>
          </p:nvPr>
        </p:nvSpPr>
        <p:spPr>
          <a:xfrm>
            <a:off x="1083469" y="4360070"/>
            <a:ext cx="11658600" cy="2250281"/>
          </a:xfrm>
        </p:spPr>
        <p:txBody>
          <a:bodyPr anchor="b"/>
          <a:lstStyle>
            <a:lvl1pPr marL="0" indent="0">
              <a:buNone/>
              <a:defRPr sz="3000">
                <a:solidFill>
                  <a:schemeClr val="tx1">
                    <a:tint val="7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4357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400301"/>
            <a:ext cx="60579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72300" y="2400301"/>
            <a:ext cx="60579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279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2302670"/>
            <a:ext cx="6060282"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685800" y="3262313"/>
            <a:ext cx="6060282"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967538" y="2302670"/>
            <a:ext cx="6062663"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6967538" y="3262313"/>
            <a:ext cx="6062663"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8933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7363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8054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409575"/>
            <a:ext cx="4512470" cy="1743075"/>
          </a:xfrm>
        </p:spPr>
        <p:txBody>
          <a:bodyPr anchor="b"/>
          <a:lstStyle>
            <a:lvl1pPr algn="l">
              <a:defRPr sz="3000" b="1"/>
            </a:lvl1pPr>
          </a:lstStyle>
          <a:p>
            <a:r>
              <a:rPr lang="en-US"/>
              <a:t>Click to edit Master title style</a:t>
            </a:r>
          </a:p>
        </p:txBody>
      </p:sp>
      <p:sp>
        <p:nvSpPr>
          <p:cNvPr id="3" name="Content Placeholder 2"/>
          <p:cNvSpPr>
            <a:spLocks noGrp="1"/>
          </p:cNvSpPr>
          <p:nvPr>
            <p:ph idx="1"/>
          </p:nvPr>
        </p:nvSpPr>
        <p:spPr>
          <a:xfrm>
            <a:off x="5362575" y="409576"/>
            <a:ext cx="7667625" cy="877967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1" y="2152651"/>
            <a:ext cx="4512470" cy="7036595"/>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8414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8432" y="7200900"/>
            <a:ext cx="8229600" cy="850107"/>
          </a:xfrm>
        </p:spPr>
        <p:txBody>
          <a:bodyPr anchor="b"/>
          <a:lstStyle>
            <a:lvl1pPr algn="l">
              <a:defRPr sz="3000" b="1"/>
            </a:lvl1pPr>
          </a:lstStyle>
          <a:p>
            <a:r>
              <a:rPr lang="en-US"/>
              <a:t>Click to edit Master title style</a:t>
            </a:r>
          </a:p>
        </p:txBody>
      </p:sp>
      <p:sp>
        <p:nvSpPr>
          <p:cNvPr id="3" name="Picture Placeholder 2"/>
          <p:cNvSpPr>
            <a:spLocks noGrp="1"/>
          </p:cNvSpPr>
          <p:nvPr>
            <p:ph type="pic" idx="1"/>
          </p:nvPr>
        </p:nvSpPr>
        <p:spPr>
          <a:xfrm>
            <a:off x="2688432" y="919163"/>
            <a:ext cx="8229600" cy="6172200"/>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p:cNvSpPr>
            <a:spLocks noGrp="1"/>
          </p:cNvSpPr>
          <p:nvPr>
            <p:ph type="body" sz="half" idx="2"/>
          </p:nvPr>
        </p:nvSpPr>
        <p:spPr>
          <a:xfrm>
            <a:off x="2688432" y="8051007"/>
            <a:ext cx="8229600" cy="1207293"/>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3807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6294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4100" y="411958"/>
            <a:ext cx="3086100" cy="87772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411958"/>
            <a:ext cx="9029700" cy="87772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9073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11957"/>
            <a:ext cx="12344400" cy="1714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2400301"/>
            <a:ext cx="12344400" cy="67889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5800" y="9534526"/>
            <a:ext cx="32004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4686300" y="9534526"/>
            <a:ext cx="43434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829800" y="9534526"/>
            <a:ext cx="32004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35516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858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685800" rtl="0" eaLnBrk="1" latinLnBrk="0" hangingPunct="1">
        <a:spcBef>
          <a:spcPct val="20000"/>
        </a:spcBef>
        <a:buFont typeface="Arial"/>
        <a:buChar char="•"/>
        <a:defRPr sz="4800" kern="1200">
          <a:solidFill>
            <a:schemeClr val="tx1"/>
          </a:solidFill>
          <a:latin typeface="+mn-lt"/>
          <a:ea typeface="+mn-ea"/>
          <a:cs typeface="+mn-cs"/>
        </a:defRPr>
      </a:lvl1pPr>
      <a:lvl2pPr marL="1114425" indent="-428625" algn="l" defTabSz="685800" rtl="0" eaLnBrk="1" latinLnBrk="0" hangingPunct="1">
        <a:spcBef>
          <a:spcPct val="20000"/>
        </a:spcBef>
        <a:buFont typeface="Arial"/>
        <a:buChar char="–"/>
        <a:defRPr sz="4200" kern="1200">
          <a:solidFill>
            <a:schemeClr val="tx1"/>
          </a:solidFill>
          <a:latin typeface="+mn-lt"/>
          <a:ea typeface="+mn-ea"/>
          <a:cs typeface="+mn-cs"/>
        </a:defRPr>
      </a:lvl2pPr>
      <a:lvl3pPr marL="1714500" indent="-342900" algn="l" defTabSz="685800" rtl="0" eaLnBrk="1" latinLnBrk="0" hangingPunct="1">
        <a:spcBef>
          <a:spcPct val="20000"/>
        </a:spcBef>
        <a:buFont typeface="Arial"/>
        <a:buChar char="•"/>
        <a:defRPr sz="3600" kern="1200">
          <a:solidFill>
            <a:schemeClr val="tx1"/>
          </a:solidFill>
          <a:latin typeface="+mn-lt"/>
          <a:ea typeface="+mn-ea"/>
          <a:cs typeface="+mn-cs"/>
        </a:defRPr>
      </a:lvl3pPr>
      <a:lvl4pPr marL="2400300" indent="-342900" algn="l" defTabSz="685800" rtl="0" eaLnBrk="1" latinLnBrk="0" hangingPunct="1">
        <a:spcBef>
          <a:spcPct val="20000"/>
        </a:spcBef>
        <a:buFont typeface="Arial"/>
        <a:buChar char="–"/>
        <a:defRPr sz="3000" kern="1200">
          <a:solidFill>
            <a:schemeClr val="tx1"/>
          </a:solidFill>
          <a:latin typeface="+mn-lt"/>
          <a:ea typeface="+mn-ea"/>
          <a:cs typeface="+mn-cs"/>
        </a:defRPr>
      </a:lvl4pPr>
      <a:lvl5pPr marL="3086100" indent="-342900" algn="l" defTabSz="685800" rtl="0" eaLnBrk="1" latinLnBrk="0" hangingPunct="1">
        <a:spcBef>
          <a:spcPct val="20000"/>
        </a:spcBef>
        <a:buFont typeface="Arial"/>
        <a:buChar char="»"/>
        <a:defRPr sz="3000" kern="1200">
          <a:solidFill>
            <a:schemeClr val="tx1"/>
          </a:solidFill>
          <a:latin typeface="+mn-lt"/>
          <a:ea typeface="+mn-ea"/>
          <a:cs typeface="+mn-cs"/>
        </a:defRPr>
      </a:lvl5pPr>
      <a:lvl6pPr marL="3771900" indent="-342900" algn="l" defTabSz="685800" rtl="0" eaLnBrk="1" latinLnBrk="0" hangingPunct="1">
        <a:spcBef>
          <a:spcPct val="20000"/>
        </a:spcBef>
        <a:buFont typeface="Arial"/>
        <a:buChar char="•"/>
        <a:defRPr sz="3000" kern="1200">
          <a:solidFill>
            <a:schemeClr val="tx1"/>
          </a:solidFill>
          <a:latin typeface="+mn-lt"/>
          <a:ea typeface="+mn-ea"/>
          <a:cs typeface="+mn-cs"/>
        </a:defRPr>
      </a:lvl6pPr>
      <a:lvl7pPr marL="4457700" indent="-342900" algn="l" defTabSz="685800" rtl="0" eaLnBrk="1" latinLnBrk="0" hangingPunct="1">
        <a:spcBef>
          <a:spcPct val="20000"/>
        </a:spcBef>
        <a:buFont typeface="Arial"/>
        <a:buChar char="•"/>
        <a:defRPr sz="3000" kern="1200">
          <a:solidFill>
            <a:schemeClr val="tx1"/>
          </a:solidFill>
          <a:latin typeface="+mn-lt"/>
          <a:ea typeface="+mn-ea"/>
          <a:cs typeface="+mn-cs"/>
        </a:defRPr>
      </a:lvl7pPr>
      <a:lvl8pPr marL="5143500" indent="-342900" algn="l" defTabSz="685800" rtl="0" eaLnBrk="1" latinLnBrk="0" hangingPunct="1">
        <a:spcBef>
          <a:spcPct val="20000"/>
        </a:spcBef>
        <a:buFont typeface="Arial"/>
        <a:buChar char="•"/>
        <a:defRPr sz="3000" kern="1200">
          <a:solidFill>
            <a:schemeClr val="tx1"/>
          </a:solidFill>
          <a:latin typeface="+mn-lt"/>
          <a:ea typeface="+mn-ea"/>
          <a:cs typeface="+mn-cs"/>
        </a:defRPr>
      </a:lvl8pPr>
      <a:lvl9pPr marL="5829300" indent="-342900" algn="l" defTabSz="685800" rtl="0" eaLnBrk="1" latinLnBrk="0" hangingPunct="1">
        <a:spcBef>
          <a:spcPct val="20000"/>
        </a:spcBef>
        <a:buFont typeface="Arial"/>
        <a:buChar char="•"/>
        <a:defRPr sz="3000" kern="1200">
          <a:solidFill>
            <a:schemeClr val="tx1"/>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6.svg"/><Relationship Id="rId5" Type="http://schemas.openxmlformats.org/officeDocument/2006/relationships/image" Target="../media/image17.sv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23.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5.svg"/><Relationship Id="rId7"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w3id.org/FAIR-course-UT/2026/group09/data-original" TargetMode="External"/><Relationship Id="rId5" Type="http://schemas.openxmlformats.org/officeDocument/2006/relationships/hyperlink" Target="https://w3id.org/FAIR-course-UT/2026/group09/data" TargetMode="External"/><Relationship Id="rId4" Type="http://schemas.openxmlformats.org/officeDocument/2006/relationships/hyperlink" Target="https://w3id.org/FAIR-course-UT/2026/group09/o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6453" y="550355"/>
            <a:ext cx="5403124" cy="4106374"/>
          </a:xfrm>
          <a:custGeom>
            <a:avLst/>
            <a:gdLst/>
            <a:ahLst/>
            <a:cxnLst/>
            <a:rect l="l" t="t" r="r" b="b"/>
            <a:pathLst>
              <a:path w="5403124" h="4106374">
                <a:moveTo>
                  <a:pt x="0" y="0"/>
                </a:moveTo>
                <a:lnTo>
                  <a:pt x="5403123" y="0"/>
                </a:lnTo>
                <a:lnTo>
                  <a:pt x="5403123" y="4106374"/>
                </a:lnTo>
                <a:lnTo>
                  <a:pt x="0" y="41063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p>
        </p:txBody>
      </p:sp>
      <p:sp>
        <p:nvSpPr>
          <p:cNvPr id="3" name="Freeform 3"/>
          <p:cNvSpPr/>
          <p:nvPr/>
        </p:nvSpPr>
        <p:spPr>
          <a:xfrm>
            <a:off x="12196704" y="541929"/>
            <a:ext cx="5414211" cy="4114800"/>
          </a:xfrm>
          <a:custGeom>
            <a:avLst/>
            <a:gdLst/>
            <a:ahLst/>
            <a:cxnLst/>
            <a:rect l="l" t="t" r="r" b="b"/>
            <a:pathLst>
              <a:path w="5414211" h="4114800">
                <a:moveTo>
                  <a:pt x="0" y="0"/>
                </a:moveTo>
                <a:lnTo>
                  <a:pt x="5414210" y="0"/>
                </a:lnTo>
                <a:lnTo>
                  <a:pt x="541421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dirty="0"/>
          </a:p>
        </p:txBody>
      </p:sp>
      <p:grpSp>
        <p:nvGrpSpPr>
          <p:cNvPr id="4" name="Group 4"/>
          <p:cNvGrpSpPr/>
          <p:nvPr/>
        </p:nvGrpSpPr>
        <p:grpSpPr>
          <a:xfrm>
            <a:off x="1507139" y="4374926"/>
            <a:ext cx="15273723" cy="3960625"/>
            <a:chOff x="0" y="0"/>
            <a:chExt cx="4022709" cy="1043128"/>
          </a:xfrm>
          <a:effectLst>
            <a:outerShdw blurRad="63500" sx="101000" sy="101000" algn="ctr" rotWithShape="0">
              <a:prstClr val="black">
                <a:alpha val="60000"/>
              </a:prstClr>
            </a:outerShdw>
          </a:effectLst>
        </p:grpSpPr>
        <p:sp>
          <p:nvSpPr>
            <p:cNvPr id="5" name="Freeform 5"/>
            <p:cNvSpPr/>
            <p:nvPr/>
          </p:nvSpPr>
          <p:spPr>
            <a:xfrm>
              <a:off x="0" y="0"/>
              <a:ext cx="4022709" cy="1043128"/>
            </a:xfrm>
            <a:custGeom>
              <a:avLst/>
              <a:gdLst/>
              <a:ahLst/>
              <a:cxnLst/>
              <a:rect l="l" t="t" r="r" b="b"/>
              <a:pathLst>
                <a:path w="4022709" h="1043128">
                  <a:moveTo>
                    <a:pt x="25851" y="0"/>
                  </a:moveTo>
                  <a:lnTo>
                    <a:pt x="3996858" y="0"/>
                  </a:lnTo>
                  <a:cubicBezTo>
                    <a:pt x="4003715" y="0"/>
                    <a:pt x="4010290" y="2724"/>
                    <a:pt x="4015137" y="7572"/>
                  </a:cubicBezTo>
                  <a:cubicBezTo>
                    <a:pt x="4019986" y="12419"/>
                    <a:pt x="4022709" y="18995"/>
                    <a:pt x="4022709" y="25851"/>
                  </a:cubicBezTo>
                  <a:lnTo>
                    <a:pt x="4022709" y="1017277"/>
                  </a:lnTo>
                  <a:cubicBezTo>
                    <a:pt x="4022709" y="1031554"/>
                    <a:pt x="4011135" y="1043128"/>
                    <a:pt x="3996858" y="1043128"/>
                  </a:cubicBezTo>
                  <a:lnTo>
                    <a:pt x="25851" y="1043128"/>
                  </a:lnTo>
                  <a:cubicBezTo>
                    <a:pt x="18995" y="1043128"/>
                    <a:pt x="12419" y="1040404"/>
                    <a:pt x="7572" y="1035556"/>
                  </a:cubicBezTo>
                  <a:cubicBezTo>
                    <a:pt x="2724" y="1030708"/>
                    <a:pt x="0" y="1024133"/>
                    <a:pt x="0" y="1017277"/>
                  </a:cubicBezTo>
                  <a:lnTo>
                    <a:pt x="0" y="25851"/>
                  </a:lnTo>
                  <a:cubicBezTo>
                    <a:pt x="0" y="18995"/>
                    <a:pt x="2724" y="12419"/>
                    <a:pt x="7572" y="7572"/>
                  </a:cubicBezTo>
                  <a:cubicBezTo>
                    <a:pt x="12419" y="2724"/>
                    <a:pt x="18995" y="0"/>
                    <a:pt x="25851" y="0"/>
                  </a:cubicBezTo>
                  <a:close/>
                </a:path>
              </a:pathLst>
            </a:custGeom>
            <a:solidFill>
              <a:srgbClr val="FFFFFF"/>
            </a:solidFill>
          </p:spPr>
          <p:txBody>
            <a:bodyPr/>
            <a:lstStyle/>
            <a:p>
              <a:endParaRPr lang="el-GR"/>
            </a:p>
          </p:txBody>
        </p:sp>
        <p:sp>
          <p:nvSpPr>
            <p:cNvPr id="6" name="TextBox 6"/>
            <p:cNvSpPr txBox="1"/>
            <p:nvPr/>
          </p:nvSpPr>
          <p:spPr>
            <a:xfrm>
              <a:off x="0" y="-38100"/>
              <a:ext cx="4022709" cy="108122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504489" y="1990185"/>
            <a:ext cx="11279021" cy="2837255"/>
            <a:chOff x="0" y="0"/>
            <a:chExt cx="2970606" cy="747260"/>
          </a:xfrm>
          <a:effectLst>
            <a:outerShdw blurRad="63500" sx="101000" sy="101000" algn="ctr" rotWithShape="0">
              <a:prstClr val="black">
                <a:alpha val="60000"/>
              </a:prstClr>
            </a:outerShdw>
          </a:effectLst>
        </p:grpSpPr>
        <p:sp>
          <p:nvSpPr>
            <p:cNvPr id="9" name="Freeform 9"/>
            <p:cNvSpPr/>
            <p:nvPr/>
          </p:nvSpPr>
          <p:spPr>
            <a:xfrm>
              <a:off x="0" y="0"/>
              <a:ext cx="2970606" cy="747260"/>
            </a:xfrm>
            <a:custGeom>
              <a:avLst/>
              <a:gdLst/>
              <a:ahLst/>
              <a:cxnLst/>
              <a:rect l="l" t="t" r="r" b="b"/>
              <a:pathLst>
                <a:path w="2970606" h="747260">
                  <a:moveTo>
                    <a:pt x="35006" y="0"/>
                  </a:moveTo>
                  <a:lnTo>
                    <a:pt x="2935600" y="0"/>
                  </a:lnTo>
                  <a:cubicBezTo>
                    <a:pt x="2954934" y="0"/>
                    <a:pt x="2970606" y="15673"/>
                    <a:pt x="2970606" y="35006"/>
                  </a:cubicBezTo>
                  <a:lnTo>
                    <a:pt x="2970606" y="712254"/>
                  </a:lnTo>
                  <a:cubicBezTo>
                    <a:pt x="2970606" y="731588"/>
                    <a:pt x="2954934" y="747260"/>
                    <a:pt x="2935600" y="747260"/>
                  </a:cubicBezTo>
                  <a:lnTo>
                    <a:pt x="35006" y="747260"/>
                  </a:lnTo>
                  <a:cubicBezTo>
                    <a:pt x="15673" y="747260"/>
                    <a:pt x="0" y="731588"/>
                    <a:pt x="0" y="712254"/>
                  </a:cubicBezTo>
                  <a:lnTo>
                    <a:pt x="0" y="35006"/>
                  </a:lnTo>
                  <a:cubicBezTo>
                    <a:pt x="0" y="15673"/>
                    <a:pt x="15673" y="0"/>
                    <a:pt x="35006" y="0"/>
                  </a:cubicBezTo>
                  <a:close/>
                </a:path>
              </a:pathLst>
            </a:custGeom>
            <a:solidFill>
              <a:srgbClr val="FFFFFF"/>
            </a:solidFill>
            <a:effectLst>
              <a:outerShdw blurRad="50800" dist="50800" dir="5400000" algn="ctr" rotWithShape="0">
                <a:schemeClr val="tx1">
                  <a:alpha val="50000"/>
                </a:schemeClr>
              </a:outerShdw>
            </a:effectLst>
          </p:spPr>
          <p:txBody>
            <a:bodyPr/>
            <a:lstStyle/>
            <a:p>
              <a:endParaRPr lang="el-GR" dirty="0"/>
            </a:p>
          </p:txBody>
        </p:sp>
        <p:sp>
          <p:nvSpPr>
            <p:cNvPr id="10" name="TextBox 10"/>
            <p:cNvSpPr txBox="1"/>
            <p:nvPr/>
          </p:nvSpPr>
          <p:spPr>
            <a:xfrm>
              <a:off x="0" y="-38100"/>
              <a:ext cx="2970606" cy="78536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139262" y="2430425"/>
            <a:ext cx="10158385" cy="1987852"/>
          </a:xfrm>
          <a:prstGeom prst="rect">
            <a:avLst/>
          </a:prstGeom>
        </p:spPr>
        <p:txBody>
          <a:bodyPr lIns="0" tIns="0" rIns="0" bIns="0" rtlCol="0" anchor="t">
            <a:spAutoFit/>
          </a:bodyPr>
          <a:lstStyle/>
          <a:p>
            <a:pPr algn="ctr">
              <a:lnSpc>
                <a:spcPts val="8033"/>
              </a:lnSpc>
            </a:pPr>
            <a:r>
              <a:rPr lang="en-US" sz="5400" dirty="0">
                <a:solidFill>
                  <a:srgbClr val="000000"/>
                </a:solidFill>
                <a:latin typeface="Archivo Black"/>
                <a:ea typeface="Archivo Black"/>
                <a:cs typeface="Archivo Black"/>
                <a:sym typeface="Archivo Black"/>
              </a:rPr>
              <a:t>FAIRIFICATION OF PREMIER LEAGUE DATA</a:t>
            </a:r>
          </a:p>
        </p:txBody>
      </p:sp>
      <p:sp>
        <p:nvSpPr>
          <p:cNvPr id="13" name="Freeform 13"/>
          <p:cNvSpPr/>
          <p:nvPr/>
        </p:nvSpPr>
        <p:spPr>
          <a:xfrm>
            <a:off x="7950515" y="7712987"/>
            <a:ext cx="2386971" cy="2386649"/>
          </a:xfrm>
          <a:custGeom>
            <a:avLst/>
            <a:gdLst/>
            <a:ahLst/>
            <a:cxnLst/>
            <a:rect l="l" t="t" r="r" b="b"/>
            <a:pathLst>
              <a:path w="1619589" h="1789601">
                <a:moveTo>
                  <a:pt x="0" y="0"/>
                </a:moveTo>
                <a:lnTo>
                  <a:pt x="1619589" y="0"/>
                </a:lnTo>
                <a:lnTo>
                  <a:pt x="1619589" y="1789601"/>
                </a:lnTo>
                <a:lnTo>
                  <a:pt x="0" y="17896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algn="ctr"/>
            <a:endParaRPr lang="el-GR" dirty="0"/>
          </a:p>
        </p:txBody>
      </p:sp>
      <p:sp>
        <p:nvSpPr>
          <p:cNvPr id="14" name="TextBox 14"/>
          <p:cNvSpPr txBox="1"/>
          <p:nvPr/>
        </p:nvSpPr>
        <p:spPr>
          <a:xfrm>
            <a:off x="2268785" y="5227490"/>
            <a:ext cx="13750429" cy="607795"/>
          </a:xfrm>
          <a:prstGeom prst="rect">
            <a:avLst/>
          </a:prstGeom>
        </p:spPr>
        <p:txBody>
          <a:bodyPr lIns="0" tIns="0" rIns="0" bIns="0" rtlCol="0" anchor="t">
            <a:spAutoFit/>
          </a:bodyPr>
          <a:lstStyle/>
          <a:p>
            <a:pPr algn="ctr">
              <a:lnSpc>
                <a:spcPts val="5119"/>
              </a:lnSpc>
            </a:pPr>
            <a:r>
              <a:rPr lang="en-US" sz="3657" b="1" dirty="0">
                <a:solidFill>
                  <a:srgbClr val="000000"/>
                </a:solidFill>
                <a:latin typeface="Roboto Bold"/>
                <a:ea typeface="Roboto Bold"/>
                <a:cs typeface="Roboto Bold"/>
                <a:sym typeface="Roboto Bold"/>
              </a:rPr>
              <a:t>PLAYER STATISTICS FOR 2024-2025 SEASON</a:t>
            </a:r>
          </a:p>
        </p:txBody>
      </p:sp>
      <p:sp>
        <p:nvSpPr>
          <p:cNvPr id="15" name="TextBox 15"/>
          <p:cNvSpPr txBox="1"/>
          <p:nvPr/>
        </p:nvSpPr>
        <p:spPr>
          <a:xfrm>
            <a:off x="4973271" y="6288564"/>
            <a:ext cx="8341459" cy="1032334"/>
          </a:xfrm>
          <a:prstGeom prst="rect">
            <a:avLst/>
          </a:prstGeom>
        </p:spPr>
        <p:txBody>
          <a:bodyPr lIns="0" tIns="0" rIns="0" bIns="0" rtlCol="0" anchor="t">
            <a:spAutoFit/>
          </a:bodyPr>
          <a:lstStyle/>
          <a:p>
            <a:pPr algn="ctr">
              <a:lnSpc>
                <a:spcPts val="4177"/>
              </a:lnSpc>
            </a:pPr>
            <a:r>
              <a:rPr lang="en-US" sz="2800" dirty="0">
                <a:solidFill>
                  <a:srgbClr val="000000"/>
                </a:solidFill>
                <a:latin typeface="Roboto"/>
                <a:ea typeface="Roboto"/>
                <a:cs typeface="Roboto"/>
                <a:sym typeface="Roboto"/>
              </a:rPr>
              <a:t>Group 9:</a:t>
            </a:r>
          </a:p>
          <a:p>
            <a:pPr algn="ctr">
              <a:lnSpc>
                <a:spcPts val="4177"/>
              </a:lnSpc>
            </a:pPr>
            <a:r>
              <a:rPr lang="en-US" sz="2800" dirty="0">
                <a:solidFill>
                  <a:srgbClr val="000000"/>
                </a:solidFill>
                <a:latin typeface="Roboto"/>
                <a:ea typeface="Roboto"/>
                <a:cs typeface="Roboto"/>
                <a:sym typeface="Roboto"/>
              </a:rPr>
              <a:t>Giorgos Oratis &amp; Nefeli </a:t>
            </a:r>
            <a:r>
              <a:rPr lang="en-US" sz="2800" dirty="0" err="1">
                <a:solidFill>
                  <a:srgbClr val="000000"/>
                </a:solidFill>
                <a:latin typeface="Roboto"/>
                <a:ea typeface="Roboto"/>
                <a:cs typeface="Roboto"/>
                <a:sym typeface="Roboto"/>
              </a:rPr>
              <a:t>Kantouna</a:t>
            </a:r>
            <a:endParaRPr lang="en-US" sz="2800" dirty="0">
              <a:solidFill>
                <a:srgbClr val="000000"/>
              </a:solidFill>
              <a:latin typeface="Roboto"/>
              <a:ea typeface="Roboto"/>
              <a:cs typeface="Roboto"/>
              <a:sym typeface="Roboto"/>
            </a:endParaRPr>
          </a:p>
        </p:txBody>
      </p:sp>
      <p:pic>
        <p:nvPicPr>
          <p:cNvPr id="19" name="Graphic 18" descr="Football Goal with solid fill">
            <a:extLst>
              <a:ext uri="{FF2B5EF4-FFF2-40B4-BE49-F238E27FC236}">
                <a16:creationId xmlns:a16="http://schemas.microsoft.com/office/drawing/2014/main" id="{FB4300D0-A3A1-CF13-0C25-91DC05F353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418283" y="2803301"/>
            <a:ext cx="914400" cy="914400"/>
          </a:xfrm>
          <a:prstGeom prst="rect">
            <a:avLst/>
          </a:prstGeom>
        </p:spPr>
      </p:pic>
      <p:pic>
        <p:nvPicPr>
          <p:cNvPr id="20" name="Picture 19" descr="Premier League Logo PNG, SVG - High Resolution &amp; Vector">
            <a:extLst>
              <a:ext uri="{FF2B5EF4-FFF2-40B4-BE49-F238E27FC236}">
                <a16:creationId xmlns:a16="http://schemas.microsoft.com/office/drawing/2014/main" id="{0B160A96-FF49-D49C-DE17-A6AC4C4D7FE1}"/>
              </a:ext>
            </a:extLst>
          </p:cNvPr>
          <p:cNvPicPr>
            <a:picLocks noChangeAspect="1"/>
          </p:cNvPicPr>
          <p:nvPr/>
        </p:nvPicPr>
        <p:blipFill>
          <a:blip r:embed="rId7">
            <a:biLevel thresh="75000"/>
          </a:blip>
          <a:stretch>
            <a:fillRect/>
          </a:stretch>
        </p:blipFill>
        <p:spPr>
          <a:xfrm>
            <a:off x="1235593" y="2324100"/>
            <a:ext cx="1981327" cy="19813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4621784" y="2188035"/>
            <a:ext cx="12926313" cy="7317708"/>
            <a:chOff x="0" y="0"/>
            <a:chExt cx="3404461" cy="1927298"/>
          </a:xfrm>
        </p:grpSpPr>
        <p:sp>
          <p:nvSpPr>
            <p:cNvPr id="4" name="Freeform 4"/>
            <p:cNvSpPr/>
            <p:nvPr/>
          </p:nvSpPr>
          <p:spPr>
            <a:xfrm>
              <a:off x="0" y="0"/>
              <a:ext cx="3404461" cy="1927297"/>
            </a:xfrm>
            <a:custGeom>
              <a:avLst/>
              <a:gdLst/>
              <a:ahLst/>
              <a:cxnLst/>
              <a:rect l="l" t="t" r="r" b="b"/>
              <a:pathLst>
                <a:path w="3404461" h="1927297">
                  <a:moveTo>
                    <a:pt x="30545" y="0"/>
                  </a:moveTo>
                  <a:lnTo>
                    <a:pt x="3373916" y="0"/>
                  </a:lnTo>
                  <a:cubicBezTo>
                    <a:pt x="3390786" y="0"/>
                    <a:pt x="3404461" y="13676"/>
                    <a:pt x="3404461" y="30545"/>
                  </a:cubicBezTo>
                  <a:lnTo>
                    <a:pt x="3404461" y="1896752"/>
                  </a:lnTo>
                  <a:cubicBezTo>
                    <a:pt x="3404461" y="1913622"/>
                    <a:pt x="3390786" y="1927297"/>
                    <a:pt x="3373916" y="1927297"/>
                  </a:cubicBezTo>
                  <a:lnTo>
                    <a:pt x="30545" y="1927297"/>
                  </a:lnTo>
                  <a:cubicBezTo>
                    <a:pt x="13676" y="1927297"/>
                    <a:pt x="0" y="1913622"/>
                    <a:pt x="0" y="1896752"/>
                  </a:cubicBezTo>
                  <a:lnTo>
                    <a:pt x="0" y="30545"/>
                  </a:lnTo>
                  <a:cubicBezTo>
                    <a:pt x="0" y="13676"/>
                    <a:pt x="13676" y="0"/>
                    <a:pt x="30545" y="0"/>
                  </a:cubicBezTo>
                  <a:close/>
                </a:path>
              </a:pathLst>
            </a:custGeom>
            <a:solidFill>
              <a:srgbClr val="FFFFFF"/>
            </a:solidFill>
          </p:spPr>
          <p:txBody>
            <a:bodyPr/>
            <a:lstStyle/>
            <a:p>
              <a:endParaRPr lang="el-GR" dirty="0"/>
            </a:p>
          </p:txBody>
        </p:sp>
        <p:sp>
          <p:nvSpPr>
            <p:cNvPr id="5" name="TextBox 5"/>
            <p:cNvSpPr txBox="1"/>
            <p:nvPr/>
          </p:nvSpPr>
          <p:spPr>
            <a:xfrm>
              <a:off x="0" y="-38100"/>
              <a:ext cx="3404461" cy="196539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69216" y="5846889"/>
            <a:ext cx="16756311" cy="3086100"/>
            <a:chOff x="0" y="0"/>
            <a:chExt cx="4413185" cy="812800"/>
          </a:xfrm>
        </p:grpSpPr>
        <p:sp>
          <p:nvSpPr>
            <p:cNvPr id="7" name="Freeform 7"/>
            <p:cNvSpPr/>
            <p:nvPr/>
          </p:nvSpPr>
          <p:spPr>
            <a:xfrm>
              <a:off x="0" y="0"/>
              <a:ext cx="4413185" cy="812800"/>
            </a:xfrm>
            <a:custGeom>
              <a:avLst/>
              <a:gdLst/>
              <a:ahLst/>
              <a:cxnLst/>
              <a:rect l="l" t="t" r="r" b="b"/>
              <a:pathLst>
                <a:path w="4413185" h="812800">
                  <a:moveTo>
                    <a:pt x="12475" y="0"/>
                  </a:moveTo>
                  <a:lnTo>
                    <a:pt x="4400710" y="0"/>
                  </a:lnTo>
                  <a:cubicBezTo>
                    <a:pt x="4404019" y="0"/>
                    <a:pt x="4407191" y="1314"/>
                    <a:pt x="4409531" y="3654"/>
                  </a:cubicBezTo>
                  <a:cubicBezTo>
                    <a:pt x="4411871" y="5993"/>
                    <a:pt x="4413185" y="9166"/>
                    <a:pt x="4413185" y="12475"/>
                  </a:cubicBezTo>
                  <a:lnTo>
                    <a:pt x="4413185" y="800325"/>
                  </a:lnTo>
                  <a:cubicBezTo>
                    <a:pt x="4413185" y="803634"/>
                    <a:pt x="4411871" y="806807"/>
                    <a:pt x="4409531" y="809146"/>
                  </a:cubicBezTo>
                  <a:cubicBezTo>
                    <a:pt x="4407191" y="811486"/>
                    <a:pt x="4404019" y="812800"/>
                    <a:pt x="4400710" y="812800"/>
                  </a:cubicBezTo>
                  <a:lnTo>
                    <a:pt x="12475" y="812800"/>
                  </a:lnTo>
                  <a:cubicBezTo>
                    <a:pt x="9166" y="812800"/>
                    <a:pt x="5993" y="811486"/>
                    <a:pt x="3654" y="809146"/>
                  </a:cubicBezTo>
                  <a:cubicBezTo>
                    <a:pt x="1314" y="806807"/>
                    <a:pt x="0" y="803634"/>
                    <a:pt x="0" y="800325"/>
                  </a:cubicBezTo>
                  <a:lnTo>
                    <a:pt x="0" y="12475"/>
                  </a:lnTo>
                  <a:cubicBezTo>
                    <a:pt x="0" y="9166"/>
                    <a:pt x="1314" y="5993"/>
                    <a:pt x="3654" y="3654"/>
                  </a:cubicBezTo>
                  <a:cubicBezTo>
                    <a:pt x="5993" y="1314"/>
                    <a:pt x="9166" y="0"/>
                    <a:pt x="12475" y="0"/>
                  </a:cubicBezTo>
                  <a:close/>
                </a:path>
              </a:pathLst>
            </a:custGeom>
            <a:solidFill>
              <a:srgbClr val="000000"/>
            </a:solidFill>
          </p:spPr>
          <p:txBody>
            <a:bodyPr/>
            <a:lstStyle/>
            <a:p>
              <a:endParaRPr lang="el-GR" dirty="0"/>
            </a:p>
          </p:txBody>
        </p:sp>
        <p:sp>
          <p:nvSpPr>
            <p:cNvPr id="8" name="TextBox 8"/>
            <p:cNvSpPr txBox="1"/>
            <p:nvPr/>
          </p:nvSpPr>
          <p:spPr>
            <a:xfrm>
              <a:off x="0" y="-38100"/>
              <a:ext cx="4413185" cy="8509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6412218" y="933450"/>
            <a:ext cx="10466789" cy="721288"/>
          </a:xfrm>
          <a:prstGeom prst="rect">
            <a:avLst/>
          </a:prstGeom>
        </p:spPr>
        <p:txBody>
          <a:bodyPr lIns="0" tIns="0" rIns="0" bIns="0" rtlCol="0" anchor="t">
            <a:spAutoFit/>
          </a:bodyPr>
          <a:lstStyle/>
          <a:p>
            <a:pPr algn="ctr">
              <a:lnSpc>
                <a:spcPct val="100000"/>
              </a:lnSpc>
            </a:pPr>
            <a:r>
              <a:rPr lang="en-US" sz="4687" dirty="0">
                <a:solidFill>
                  <a:srgbClr val="000000"/>
                </a:solidFill>
                <a:latin typeface="Archivo Black"/>
                <a:ea typeface="Archivo Black"/>
                <a:cs typeface="Archivo Black"/>
                <a:sym typeface="Archivo Black"/>
              </a:rPr>
              <a:t>Dataset Overview</a:t>
            </a:r>
          </a:p>
        </p:txBody>
      </p:sp>
      <p:sp>
        <p:nvSpPr>
          <p:cNvPr id="13" name="TextBox 13"/>
          <p:cNvSpPr txBox="1"/>
          <p:nvPr/>
        </p:nvSpPr>
        <p:spPr>
          <a:xfrm>
            <a:off x="6100948" y="2369183"/>
            <a:ext cx="10596813" cy="3318986"/>
          </a:xfrm>
          <a:prstGeom prst="rect">
            <a:avLst/>
          </a:prstGeom>
        </p:spPr>
        <p:txBody>
          <a:bodyPr lIns="0" tIns="0" rIns="0" bIns="0" rtlCol="0" anchor="t">
            <a:spAutoFit/>
          </a:bodyPr>
          <a:lstStyle/>
          <a:p>
            <a:pPr marL="457200" indent="-457200" algn="l">
              <a:lnSpc>
                <a:spcPts val="3757"/>
              </a:lnSpc>
              <a:buFont typeface="Arial" panose="020B0604020202020204" pitchFamily="34" charset="0"/>
              <a:buChar char="•"/>
            </a:pPr>
            <a:r>
              <a:rPr lang="en-US" sz="2800" b="1" dirty="0">
                <a:latin typeface="Roboto"/>
                <a:ea typeface="Roboto"/>
                <a:cs typeface="Roboto"/>
                <a:sym typeface="Roboto"/>
              </a:rPr>
              <a:t>Name: </a:t>
            </a:r>
            <a:r>
              <a:rPr lang="en-US" sz="2800" dirty="0">
                <a:latin typeface="Roboto"/>
                <a:ea typeface="Roboto"/>
                <a:cs typeface="Roboto"/>
                <a:sym typeface="Roboto"/>
              </a:rPr>
              <a:t>Premier League Data from 2016 to 2025</a:t>
            </a:r>
          </a:p>
          <a:p>
            <a:pPr marL="457200" indent="-457200" algn="l">
              <a:lnSpc>
                <a:spcPts val="3757"/>
              </a:lnSpc>
              <a:buFont typeface="Arial" panose="020B0604020202020204" pitchFamily="34" charset="0"/>
              <a:buChar char="•"/>
            </a:pPr>
            <a:r>
              <a:rPr lang="en-US" sz="2800" b="1" dirty="0">
                <a:latin typeface="Roboto"/>
                <a:ea typeface="Roboto"/>
                <a:cs typeface="Roboto"/>
                <a:sym typeface="Roboto"/>
              </a:rPr>
              <a:t>Source: </a:t>
            </a:r>
            <a:r>
              <a:rPr lang="el-GR" sz="2800" dirty="0" err="1">
                <a:latin typeface="Roboto" panose="02000000000000000000" pitchFamily="2" charset="0"/>
                <a:ea typeface="Roboto" panose="02000000000000000000" pitchFamily="2" charset="0"/>
                <a:cs typeface="Roboto" panose="02000000000000000000" pitchFamily="2" charset="0"/>
              </a:rPr>
              <a:t>Kaggle</a:t>
            </a:r>
            <a:endParaRPr lang="en-US" sz="2800" dirty="0">
              <a:latin typeface="Roboto" panose="02000000000000000000" pitchFamily="2" charset="0"/>
              <a:ea typeface="Roboto" panose="02000000000000000000" pitchFamily="2" charset="0"/>
              <a:cs typeface="Roboto" panose="02000000000000000000" pitchFamily="2" charset="0"/>
            </a:endParaRPr>
          </a:p>
          <a:p>
            <a:pPr marL="457200" indent="-457200" algn="l">
              <a:lnSpc>
                <a:spcPts val="3757"/>
              </a:lnSpc>
              <a:buFont typeface="Arial" panose="020B0604020202020204" pitchFamily="34" charset="0"/>
              <a:buChar char="•"/>
            </a:pPr>
            <a:r>
              <a:rPr lang="en-US" sz="2800" b="1" dirty="0">
                <a:latin typeface="Roboto" panose="02000000000000000000" pitchFamily="2" charset="0"/>
                <a:ea typeface="Roboto" panose="02000000000000000000" pitchFamily="2" charset="0"/>
                <a:cs typeface="Roboto" panose="02000000000000000000" pitchFamily="2" charset="0"/>
              </a:rPr>
              <a:t>Original coverage: </a:t>
            </a:r>
            <a:r>
              <a:rPr lang="en-US" sz="2800" dirty="0">
                <a:latin typeface="Roboto" panose="02000000000000000000" pitchFamily="2" charset="0"/>
                <a:ea typeface="Roboto" panose="02000000000000000000" pitchFamily="2" charset="0"/>
                <a:cs typeface="Roboto" panose="02000000000000000000" pitchFamily="2" charset="0"/>
              </a:rPr>
              <a:t>Multiple seasons (2016–2025)</a:t>
            </a:r>
          </a:p>
          <a:p>
            <a:pPr marL="457200" indent="-457200" algn="l">
              <a:lnSpc>
                <a:spcPts val="3757"/>
              </a:lnSpc>
              <a:buFont typeface="Arial" panose="020B0604020202020204" pitchFamily="34" charset="0"/>
              <a:buChar char="•"/>
            </a:pPr>
            <a:r>
              <a:rPr lang="en-US" sz="2800" b="1" dirty="0">
                <a:latin typeface="Roboto" panose="02000000000000000000" pitchFamily="2" charset="0"/>
                <a:ea typeface="Roboto" panose="02000000000000000000" pitchFamily="2" charset="0"/>
                <a:cs typeface="Roboto" panose="02000000000000000000" pitchFamily="2" charset="0"/>
              </a:rPr>
              <a:t>Original content: </a:t>
            </a:r>
            <a:r>
              <a:rPr lang="en-US" sz="2800" dirty="0">
                <a:latin typeface="Roboto" panose="02000000000000000000" pitchFamily="2" charset="0"/>
                <a:ea typeface="Roboto" panose="02000000000000000000" pitchFamily="2" charset="0"/>
                <a:cs typeface="Roboto" panose="02000000000000000000" pitchFamily="2" charset="0"/>
              </a:rPr>
              <a:t>Club performance, club statistics, player profiles, player performance metrics and home/away statistics.</a:t>
            </a:r>
          </a:p>
          <a:p>
            <a:pPr marL="457200" indent="-457200">
              <a:lnSpc>
                <a:spcPct val="100000"/>
              </a:lnSpc>
              <a:buFont typeface="Arial" panose="020B0604020202020204" pitchFamily="34" charset="0"/>
              <a:buChar char="•"/>
            </a:pPr>
            <a:r>
              <a:rPr lang="el-GR" sz="2800" b="1" dirty="0" err="1">
                <a:latin typeface="Roboto" panose="02000000000000000000" pitchFamily="2" charset="0"/>
                <a:ea typeface="Roboto" panose="02000000000000000000" pitchFamily="2" charset="0"/>
                <a:cs typeface="Roboto" panose="02000000000000000000" pitchFamily="2" charset="0"/>
              </a:rPr>
              <a:t>Original</a:t>
            </a:r>
            <a:r>
              <a:rPr lang="el-GR" sz="2800" b="1" dirty="0">
                <a:latin typeface="Roboto" panose="02000000000000000000" pitchFamily="2" charset="0"/>
                <a:ea typeface="Roboto" panose="02000000000000000000" pitchFamily="2" charset="0"/>
                <a:cs typeface="Roboto" panose="02000000000000000000" pitchFamily="2" charset="0"/>
              </a:rPr>
              <a:t> </a:t>
            </a:r>
            <a:r>
              <a:rPr lang="el-GR" sz="2800" b="1" dirty="0" err="1">
                <a:latin typeface="Roboto" panose="02000000000000000000" pitchFamily="2" charset="0"/>
                <a:ea typeface="Roboto" panose="02000000000000000000" pitchFamily="2" charset="0"/>
                <a:cs typeface="Roboto" panose="02000000000000000000" pitchFamily="2" charset="0"/>
              </a:rPr>
              <a:t>format</a:t>
            </a:r>
            <a:r>
              <a:rPr lang="el-GR" sz="2800" b="1" dirty="0">
                <a:latin typeface="Roboto" panose="02000000000000000000" pitchFamily="2" charset="0"/>
                <a:ea typeface="Roboto" panose="02000000000000000000" pitchFamily="2" charset="0"/>
                <a:cs typeface="Roboto" panose="02000000000000000000" pitchFamily="2" charset="0"/>
              </a:rPr>
              <a:t>:</a:t>
            </a:r>
            <a:r>
              <a:rPr lang="el-GR" sz="2800" dirty="0">
                <a:latin typeface="Roboto" panose="02000000000000000000" pitchFamily="2" charset="0"/>
                <a:ea typeface="Roboto" panose="02000000000000000000" pitchFamily="2" charset="0"/>
                <a:cs typeface="Roboto" panose="02000000000000000000" pitchFamily="2" charset="0"/>
              </a:rPr>
              <a:t> </a:t>
            </a:r>
            <a:r>
              <a:rPr lang="el-GR" sz="2800" dirty="0" err="1">
                <a:latin typeface="Roboto" panose="02000000000000000000" pitchFamily="2" charset="0"/>
                <a:ea typeface="Roboto" panose="02000000000000000000" pitchFamily="2" charset="0"/>
                <a:cs typeface="Roboto" panose="02000000000000000000" pitchFamily="2" charset="0"/>
              </a:rPr>
              <a:t>Multiple</a:t>
            </a:r>
            <a:r>
              <a:rPr lang="el-GR" sz="2800" dirty="0">
                <a:latin typeface="Roboto" panose="02000000000000000000" pitchFamily="2" charset="0"/>
                <a:ea typeface="Roboto" panose="02000000000000000000" pitchFamily="2" charset="0"/>
                <a:cs typeface="Roboto" panose="02000000000000000000" pitchFamily="2" charset="0"/>
              </a:rPr>
              <a:t> CSV </a:t>
            </a:r>
            <a:r>
              <a:rPr lang="el-GR" sz="2800" dirty="0" err="1">
                <a:latin typeface="Roboto" panose="02000000000000000000" pitchFamily="2" charset="0"/>
                <a:ea typeface="Roboto" panose="02000000000000000000" pitchFamily="2" charset="0"/>
                <a:cs typeface="Roboto" panose="02000000000000000000" pitchFamily="2" charset="0"/>
              </a:rPr>
              <a:t>files</a:t>
            </a:r>
            <a:endParaRPr lang="el-GR" sz="2800" dirty="0">
              <a:latin typeface="Roboto" panose="02000000000000000000" pitchFamily="2" charset="0"/>
              <a:ea typeface="Roboto" panose="02000000000000000000" pitchFamily="2" charset="0"/>
              <a:cs typeface="Roboto" panose="02000000000000000000" pitchFamily="2" charset="0"/>
            </a:endParaRPr>
          </a:p>
          <a:p>
            <a:pPr marL="457200" indent="-457200" algn="l">
              <a:lnSpc>
                <a:spcPts val="3757"/>
              </a:lnSpc>
              <a:buFont typeface="Arial" panose="020B0604020202020204" pitchFamily="34" charset="0"/>
              <a:buChar char="•"/>
            </a:pPr>
            <a:endParaRPr lang="en-US" sz="2683" dirty="0">
              <a:solidFill>
                <a:srgbClr val="000000"/>
              </a:solidFill>
              <a:latin typeface="Roboto"/>
              <a:ea typeface="Roboto"/>
              <a:cs typeface="Roboto"/>
              <a:sym typeface="Roboto"/>
            </a:endParaRPr>
          </a:p>
        </p:txBody>
      </p:sp>
      <p:sp>
        <p:nvSpPr>
          <p:cNvPr id="14" name="TextBox 14"/>
          <p:cNvSpPr txBox="1"/>
          <p:nvPr/>
        </p:nvSpPr>
        <p:spPr>
          <a:xfrm>
            <a:off x="6100947" y="6602668"/>
            <a:ext cx="10596813" cy="1429879"/>
          </a:xfrm>
          <a:prstGeom prst="rect">
            <a:avLst/>
          </a:prstGeom>
        </p:spPr>
        <p:txBody>
          <a:bodyPr lIns="0" tIns="0" rIns="0" bIns="0" rtlCol="0" anchor="t">
            <a:spAutoFit/>
          </a:bodyPr>
          <a:lstStyle/>
          <a:p>
            <a:pPr marL="457200" indent="-457200" algn="l">
              <a:lnSpc>
                <a:spcPts val="3757"/>
              </a:lnSpc>
              <a:buFont typeface="Arial" panose="020B0604020202020204" pitchFamily="34" charset="0"/>
              <a:buChar char="•"/>
            </a:pPr>
            <a:r>
              <a:rPr lang="en-US" sz="2800" b="1" dirty="0">
                <a:solidFill>
                  <a:srgbClr val="FFFFFF"/>
                </a:solidFill>
                <a:latin typeface="Roboto"/>
                <a:ea typeface="Roboto"/>
                <a:cs typeface="Roboto"/>
                <a:sym typeface="Roboto"/>
              </a:rPr>
              <a:t>Selected season: </a:t>
            </a:r>
            <a:r>
              <a:rPr lang="en-US" sz="2800" dirty="0">
                <a:solidFill>
                  <a:srgbClr val="FFFFFF"/>
                </a:solidFill>
                <a:latin typeface="Roboto"/>
                <a:ea typeface="Roboto"/>
                <a:cs typeface="Roboto"/>
                <a:sym typeface="Roboto"/>
              </a:rPr>
              <a:t>2024–2025</a:t>
            </a:r>
          </a:p>
          <a:p>
            <a:pPr marL="457200" indent="-457200">
              <a:lnSpc>
                <a:spcPts val="3757"/>
              </a:lnSpc>
              <a:buFont typeface="Arial" panose="020B0604020202020204" pitchFamily="34" charset="0"/>
              <a:buChar char="•"/>
            </a:pPr>
            <a:r>
              <a:rPr lang="en-US" sz="2800" b="1" dirty="0">
                <a:solidFill>
                  <a:srgbClr val="FFFFFF"/>
                </a:solidFill>
                <a:latin typeface="Roboto"/>
                <a:ea typeface="Roboto"/>
                <a:cs typeface="Roboto"/>
                <a:sym typeface="Roboto"/>
              </a:rPr>
              <a:t>Selected scope: </a:t>
            </a:r>
            <a:r>
              <a:rPr lang="en-US" sz="2800" dirty="0">
                <a:solidFill>
                  <a:srgbClr val="FFFFFF"/>
                </a:solidFill>
                <a:latin typeface="Roboto"/>
                <a:ea typeface="Roboto"/>
                <a:cs typeface="Roboto"/>
                <a:sym typeface="Roboto"/>
              </a:rPr>
              <a:t>Player information and performance statistics </a:t>
            </a:r>
          </a:p>
          <a:p>
            <a:pPr marL="457200" indent="-457200">
              <a:lnSpc>
                <a:spcPts val="3757"/>
              </a:lnSpc>
              <a:buFont typeface="Arial" panose="020B0604020202020204" pitchFamily="34" charset="0"/>
              <a:buChar char="•"/>
            </a:pPr>
            <a:r>
              <a:rPr lang="en-US" sz="2800" b="1" dirty="0">
                <a:solidFill>
                  <a:srgbClr val="FFFFFF"/>
                </a:solidFill>
                <a:latin typeface="Roboto"/>
                <a:ea typeface="Roboto"/>
                <a:cs typeface="Roboto"/>
                <a:sym typeface="Roboto"/>
              </a:rPr>
              <a:t>Selected Files: </a:t>
            </a:r>
            <a:r>
              <a:rPr lang="en-US" sz="2800" dirty="0">
                <a:solidFill>
                  <a:srgbClr val="FFFFFF"/>
                </a:solidFill>
                <a:latin typeface="Roboto"/>
                <a:ea typeface="Roboto"/>
                <a:cs typeface="Roboto"/>
                <a:sym typeface="Roboto"/>
              </a:rPr>
              <a:t>Two CSV files</a:t>
            </a:r>
          </a:p>
        </p:txBody>
      </p:sp>
      <p:pic>
        <p:nvPicPr>
          <p:cNvPr id="16" name="Graphic 15" descr="Database with solid fill">
            <a:extLst>
              <a:ext uri="{FF2B5EF4-FFF2-40B4-BE49-F238E27FC236}">
                <a16:creationId xmlns:a16="http://schemas.microsoft.com/office/drawing/2014/main" id="{862E56F8-8ACC-A1FF-F5D0-15EFFA4800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9903" y="781257"/>
            <a:ext cx="4206526" cy="42065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389420" y="432670"/>
            <a:ext cx="11509159" cy="1268008"/>
            <a:chOff x="0" y="0"/>
            <a:chExt cx="3031219" cy="333961"/>
          </a:xfrm>
        </p:grpSpPr>
        <p:sp>
          <p:nvSpPr>
            <p:cNvPr id="5" name="Freeform 5"/>
            <p:cNvSpPr/>
            <p:nvPr/>
          </p:nvSpPr>
          <p:spPr>
            <a:xfrm>
              <a:off x="0" y="0"/>
              <a:ext cx="3031219" cy="333961"/>
            </a:xfrm>
            <a:custGeom>
              <a:avLst/>
              <a:gdLst/>
              <a:ahLst/>
              <a:cxnLst/>
              <a:rect l="l" t="t" r="r" b="b"/>
              <a:pathLst>
                <a:path w="3031219" h="333961">
                  <a:moveTo>
                    <a:pt x="18162" y="0"/>
                  </a:moveTo>
                  <a:lnTo>
                    <a:pt x="3013057" y="0"/>
                  </a:lnTo>
                  <a:cubicBezTo>
                    <a:pt x="3023087" y="0"/>
                    <a:pt x="3031219" y="8132"/>
                    <a:pt x="3031219" y="18162"/>
                  </a:cubicBezTo>
                  <a:lnTo>
                    <a:pt x="3031219" y="315799"/>
                  </a:lnTo>
                  <a:cubicBezTo>
                    <a:pt x="3031219" y="325829"/>
                    <a:pt x="3023087" y="333961"/>
                    <a:pt x="3013057" y="333961"/>
                  </a:cubicBezTo>
                  <a:lnTo>
                    <a:pt x="18162" y="333961"/>
                  </a:lnTo>
                  <a:cubicBezTo>
                    <a:pt x="8132" y="333961"/>
                    <a:pt x="0" y="325829"/>
                    <a:pt x="0" y="315799"/>
                  </a:cubicBezTo>
                  <a:lnTo>
                    <a:pt x="0" y="18162"/>
                  </a:lnTo>
                  <a:cubicBezTo>
                    <a:pt x="0" y="8132"/>
                    <a:pt x="8132" y="0"/>
                    <a:pt x="18162" y="0"/>
                  </a:cubicBezTo>
                  <a:close/>
                </a:path>
              </a:pathLst>
            </a:custGeom>
            <a:solidFill>
              <a:srgbClr val="FFFFFF"/>
            </a:solidFill>
          </p:spPr>
          <p:txBody>
            <a:bodyPr/>
            <a:lstStyle/>
            <a:p>
              <a:endParaRPr lang="el-GR"/>
            </a:p>
          </p:txBody>
        </p:sp>
        <p:sp>
          <p:nvSpPr>
            <p:cNvPr id="6" name="TextBox 6"/>
            <p:cNvSpPr txBox="1"/>
            <p:nvPr/>
          </p:nvSpPr>
          <p:spPr>
            <a:xfrm>
              <a:off x="0" y="-38100"/>
              <a:ext cx="3031219" cy="372061"/>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4025675" y="616632"/>
            <a:ext cx="10236651" cy="805862"/>
          </a:xfrm>
          <a:prstGeom prst="rect">
            <a:avLst/>
          </a:prstGeom>
        </p:spPr>
        <p:txBody>
          <a:bodyPr lIns="0" tIns="0" rIns="0" bIns="0" rtlCol="0" anchor="t">
            <a:spAutoFit/>
          </a:bodyPr>
          <a:lstStyle/>
          <a:p>
            <a:pPr algn="ctr">
              <a:lnSpc>
                <a:spcPts val="6562"/>
              </a:lnSpc>
            </a:pPr>
            <a:r>
              <a:rPr lang="en-US" sz="4800" dirty="0" err="1">
                <a:solidFill>
                  <a:srgbClr val="000000"/>
                </a:solidFill>
                <a:latin typeface="Archivo Black"/>
                <a:ea typeface="Archivo Black"/>
                <a:cs typeface="Archivo Black"/>
                <a:sym typeface="Archivo Black"/>
              </a:rPr>
              <a:t>FAIRification</a:t>
            </a:r>
            <a:r>
              <a:rPr lang="en-US" sz="4687" dirty="0">
                <a:solidFill>
                  <a:srgbClr val="000000"/>
                </a:solidFill>
                <a:latin typeface="Archivo Black"/>
                <a:ea typeface="Archivo Black"/>
                <a:cs typeface="Archivo Black"/>
                <a:sym typeface="Archivo Black"/>
              </a:rPr>
              <a:t> Goals &amp; Planning</a:t>
            </a:r>
          </a:p>
        </p:txBody>
      </p:sp>
      <p:grpSp>
        <p:nvGrpSpPr>
          <p:cNvPr id="27" name="Group 26">
            <a:extLst>
              <a:ext uri="{FF2B5EF4-FFF2-40B4-BE49-F238E27FC236}">
                <a16:creationId xmlns:a16="http://schemas.microsoft.com/office/drawing/2014/main" id="{3602DFD1-9CF8-2169-DE66-83B2AF8E7997}"/>
              </a:ext>
            </a:extLst>
          </p:cNvPr>
          <p:cNvGrpSpPr/>
          <p:nvPr/>
        </p:nvGrpSpPr>
        <p:grpSpPr>
          <a:xfrm>
            <a:off x="15950185" y="4441766"/>
            <a:ext cx="1260000" cy="1260000"/>
            <a:chOff x="16022184" y="4441766"/>
            <a:chExt cx="1188000" cy="1188000"/>
          </a:xfrm>
        </p:grpSpPr>
        <p:pic>
          <p:nvPicPr>
            <p:cNvPr id="17" name="Graphic 16" descr="Bullseye outline">
              <a:extLst>
                <a:ext uri="{FF2B5EF4-FFF2-40B4-BE49-F238E27FC236}">
                  <a16:creationId xmlns:a16="http://schemas.microsoft.com/office/drawing/2014/main" id="{AAB126E1-228E-A5E7-002C-11D10C5A51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58984" y="4578566"/>
              <a:ext cx="914400" cy="914400"/>
            </a:xfrm>
            <a:prstGeom prst="rect">
              <a:avLst/>
            </a:prstGeom>
          </p:spPr>
        </p:pic>
        <p:sp>
          <p:nvSpPr>
            <p:cNvPr id="22" name="Oval 21">
              <a:extLst>
                <a:ext uri="{FF2B5EF4-FFF2-40B4-BE49-F238E27FC236}">
                  <a16:creationId xmlns:a16="http://schemas.microsoft.com/office/drawing/2014/main" id="{8FB35CCB-F085-DFEC-791A-3AC3F5113F20}"/>
                </a:ext>
              </a:extLst>
            </p:cNvPr>
            <p:cNvSpPr/>
            <p:nvPr/>
          </p:nvSpPr>
          <p:spPr>
            <a:xfrm>
              <a:off x="16022184" y="4441766"/>
              <a:ext cx="1188000" cy="11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15" name="Graphic 14" descr="Bullseye with solid fill">
              <a:extLst>
                <a:ext uri="{FF2B5EF4-FFF2-40B4-BE49-F238E27FC236}">
                  <a16:creationId xmlns:a16="http://schemas.microsoft.com/office/drawing/2014/main" id="{FE6D3516-39D5-B9F7-60E4-12FC3E36F7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58984" y="4578566"/>
              <a:ext cx="914400" cy="914400"/>
            </a:xfrm>
            <a:prstGeom prst="rect">
              <a:avLst/>
            </a:prstGeom>
          </p:spPr>
        </p:pic>
      </p:grpSp>
      <p:grpSp>
        <p:nvGrpSpPr>
          <p:cNvPr id="28" name="Group 27">
            <a:extLst>
              <a:ext uri="{FF2B5EF4-FFF2-40B4-BE49-F238E27FC236}">
                <a16:creationId xmlns:a16="http://schemas.microsoft.com/office/drawing/2014/main" id="{B674D5B8-F5CF-F94F-A9BC-7079920C7623}"/>
              </a:ext>
            </a:extLst>
          </p:cNvPr>
          <p:cNvGrpSpPr/>
          <p:nvPr/>
        </p:nvGrpSpPr>
        <p:grpSpPr>
          <a:xfrm>
            <a:off x="1077815" y="4441766"/>
            <a:ext cx="1260000" cy="1260000"/>
            <a:chOff x="1077815" y="4441766"/>
            <a:chExt cx="1188000" cy="1188000"/>
          </a:xfrm>
        </p:grpSpPr>
        <p:sp>
          <p:nvSpPr>
            <p:cNvPr id="24" name="Oval 23">
              <a:extLst>
                <a:ext uri="{FF2B5EF4-FFF2-40B4-BE49-F238E27FC236}">
                  <a16:creationId xmlns:a16="http://schemas.microsoft.com/office/drawing/2014/main" id="{5C1909F9-A7F6-D020-50ED-E2DAED246497}"/>
                </a:ext>
              </a:extLst>
            </p:cNvPr>
            <p:cNvSpPr/>
            <p:nvPr/>
          </p:nvSpPr>
          <p:spPr>
            <a:xfrm>
              <a:off x="1077815" y="4441766"/>
              <a:ext cx="1188000" cy="11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13" name="Graphic 12" descr="Football Goal with solid fill">
              <a:extLst>
                <a:ext uri="{FF2B5EF4-FFF2-40B4-BE49-F238E27FC236}">
                  <a16:creationId xmlns:a16="http://schemas.microsoft.com/office/drawing/2014/main" id="{817D4164-53C6-6AB6-AF8B-9761E7999D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7132" y="4551334"/>
              <a:ext cx="1049366" cy="1049366"/>
            </a:xfrm>
            <a:prstGeom prst="rect">
              <a:avLst/>
            </a:prstGeom>
          </p:spPr>
        </p:pic>
      </p:grpSp>
      <p:grpSp>
        <p:nvGrpSpPr>
          <p:cNvPr id="29" name="Group 5">
            <a:extLst>
              <a:ext uri="{FF2B5EF4-FFF2-40B4-BE49-F238E27FC236}">
                <a16:creationId xmlns:a16="http://schemas.microsoft.com/office/drawing/2014/main" id="{189A3AD0-43F0-BCAF-BF99-31FA0F342CB9}"/>
              </a:ext>
            </a:extLst>
          </p:cNvPr>
          <p:cNvGrpSpPr/>
          <p:nvPr/>
        </p:nvGrpSpPr>
        <p:grpSpPr>
          <a:xfrm>
            <a:off x="3150302" y="2448085"/>
            <a:ext cx="5341539" cy="6217179"/>
            <a:chOff x="0" y="0"/>
            <a:chExt cx="1692127" cy="1637446"/>
          </a:xfrm>
        </p:grpSpPr>
        <p:sp>
          <p:nvSpPr>
            <p:cNvPr id="30" name="Freeform 6">
              <a:extLst>
                <a:ext uri="{FF2B5EF4-FFF2-40B4-BE49-F238E27FC236}">
                  <a16:creationId xmlns:a16="http://schemas.microsoft.com/office/drawing/2014/main" id="{0C263A62-4148-1C4A-561F-97F8B443B298}"/>
                </a:ext>
              </a:extLst>
            </p:cNvPr>
            <p:cNvSpPr/>
            <p:nvPr/>
          </p:nvSpPr>
          <p:spPr>
            <a:xfrm>
              <a:off x="0" y="0"/>
              <a:ext cx="1692127" cy="1637446"/>
            </a:xfrm>
            <a:custGeom>
              <a:avLst/>
              <a:gdLst/>
              <a:ahLst/>
              <a:cxnLst/>
              <a:rect l="l" t="t" r="r" b="b"/>
              <a:pathLst>
                <a:path w="1692127" h="1637446">
                  <a:moveTo>
                    <a:pt x="25305" y="0"/>
                  </a:moveTo>
                  <a:lnTo>
                    <a:pt x="1666822" y="0"/>
                  </a:lnTo>
                  <a:cubicBezTo>
                    <a:pt x="1673533" y="0"/>
                    <a:pt x="1679969" y="2666"/>
                    <a:pt x="1684715" y="7412"/>
                  </a:cubicBezTo>
                  <a:cubicBezTo>
                    <a:pt x="1689461" y="12157"/>
                    <a:pt x="1692127" y="18594"/>
                    <a:pt x="1692127" y="25305"/>
                  </a:cubicBezTo>
                  <a:lnTo>
                    <a:pt x="1692127" y="1612141"/>
                  </a:lnTo>
                  <a:cubicBezTo>
                    <a:pt x="1692127" y="1626117"/>
                    <a:pt x="1680797" y="1637446"/>
                    <a:pt x="1666822" y="1637446"/>
                  </a:cubicBezTo>
                  <a:lnTo>
                    <a:pt x="25305" y="1637446"/>
                  </a:lnTo>
                  <a:cubicBezTo>
                    <a:pt x="18594" y="1637446"/>
                    <a:pt x="12157" y="1634780"/>
                    <a:pt x="7412" y="1630035"/>
                  </a:cubicBezTo>
                  <a:cubicBezTo>
                    <a:pt x="2666" y="1625289"/>
                    <a:pt x="0" y="1618853"/>
                    <a:pt x="0" y="1612141"/>
                  </a:cubicBezTo>
                  <a:lnTo>
                    <a:pt x="0" y="25305"/>
                  </a:lnTo>
                  <a:cubicBezTo>
                    <a:pt x="0" y="18594"/>
                    <a:pt x="2666" y="12157"/>
                    <a:pt x="7412" y="7412"/>
                  </a:cubicBezTo>
                  <a:cubicBezTo>
                    <a:pt x="12157" y="2666"/>
                    <a:pt x="18594" y="0"/>
                    <a:pt x="25305" y="0"/>
                  </a:cubicBezTo>
                  <a:close/>
                </a:path>
              </a:pathLst>
            </a:custGeom>
            <a:solidFill>
              <a:srgbClr val="000000"/>
            </a:solidFill>
          </p:spPr>
          <p:txBody>
            <a:bodyPr/>
            <a:lstStyle/>
            <a:p>
              <a:endParaRPr lang="el-GR"/>
            </a:p>
          </p:txBody>
        </p:sp>
        <p:sp>
          <p:nvSpPr>
            <p:cNvPr id="31" name="TextBox 7">
              <a:extLst>
                <a:ext uri="{FF2B5EF4-FFF2-40B4-BE49-F238E27FC236}">
                  <a16:creationId xmlns:a16="http://schemas.microsoft.com/office/drawing/2014/main" id="{4252BCE2-FA90-0C99-8F25-BF33154C12BE}"/>
                </a:ext>
              </a:extLst>
            </p:cNvPr>
            <p:cNvSpPr txBox="1"/>
            <p:nvPr/>
          </p:nvSpPr>
          <p:spPr>
            <a:xfrm>
              <a:off x="0" y="-38100"/>
              <a:ext cx="1692127" cy="1675546"/>
            </a:xfrm>
            <a:prstGeom prst="rect">
              <a:avLst/>
            </a:prstGeom>
          </p:spPr>
          <p:txBody>
            <a:bodyPr lIns="50800" tIns="50800" rIns="50800" bIns="50800" rtlCol="0" anchor="ctr"/>
            <a:lstStyle/>
            <a:p>
              <a:pPr algn="ctr">
                <a:lnSpc>
                  <a:spcPts val="2659"/>
                </a:lnSpc>
              </a:pPr>
              <a:endParaRPr/>
            </a:p>
          </p:txBody>
        </p:sp>
      </p:grpSp>
      <p:sp>
        <p:nvSpPr>
          <p:cNvPr id="32" name="TextBox 15">
            <a:extLst>
              <a:ext uri="{FF2B5EF4-FFF2-40B4-BE49-F238E27FC236}">
                <a16:creationId xmlns:a16="http://schemas.microsoft.com/office/drawing/2014/main" id="{C4390217-ADFC-8638-C583-9ED86AAF5C47}"/>
              </a:ext>
            </a:extLst>
          </p:cNvPr>
          <p:cNvSpPr txBox="1"/>
          <p:nvPr/>
        </p:nvSpPr>
        <p:spPr>
          <a:xfrm>
            <a:off x="3266873" y="3032006"/>
            <a:ext cx="5108080" cy="4904676"/>
          </a:xfrm>
          <a:prstGeom prst="rect">
            <a:avLst/>
          </a:prstGeom>
        </p:spPr>
        <p:txBody>
          <a:bodyPr wrap="square" lIns="0" tIns="0" rIns="0" bIns="0" rtlCol="0" anchor="t">
            <a:spAutoFit/>
          </a:bodyPr>
          <a:lstStyle/>
          <a:p>
            <a:pPr algn="ctr">
              <a:lnSpc>
                <a:spcPts val="3477"/>
              </a:lnSpc>
            </a:pPr>
            <a:r>
              <a:rPr lang="en-US" sz="2483" b="1" dirty="0">
                <a:solidFill>
                  <a:srgbClr val="FFFFFF"/>
                </a:solidFill>
                <a:latin typeface="Roboto"/>
                <a:ea typeface="Roboto"/>
                <a:cs typeface="Roboto"/>
                <a:sym typeface="Roboto"/>
              </a:rPr>
              <a:t>1. </a:t>
            </a:r>
            <a:r>
              <a:rPr lang="en-US" sz="2483" b="1" u="sng" dirty="0">
                <a:solidFill>
                  <a:srgbClr val="FFFFFF"/>
                </a:solidFill>
                <a:latin typeface="Roboto"/>
                <a:ea typeface="Roboto"/>
                <a:cs typeface="Roboto"/>
                <a:sym typeface="Roboto"/>
              </a:rPr>
              <a:t>Data Integration: </a:t>
            </a:r>
          </a:p>
          <a:p>
            <a:pPr algn="ctr">
              <a:lnSpc>
                <a:spcPts val="3477"/>
              </a:lnSpc>
            </a:pPr>
            <a:r>
              <a:rPr lang="en-US" sz="2483" dirty="0">
                <a:solidFill>
                  <a:srgbClr val="FFFFFF"/>
                </a:solidFill>
                <a:latin typeface="Roboto"/>
                <a:ea typeface="Roboto"/>
                <a:cs typeface="Roboto"/>
                <a:sym typeface="Roboto"/>
              </a:rPr>
              <a:t>Combine two CSV files into one dataset.</a:t>
            </a:r>
          </a:p>
          <a:p>
            <a:pPr algn="ctr">
              <a:lnSpc>
                <a:spcPts val="3477"/>
              </a:lnSpc>
            </a:pPr>
            <a:endParaRPr lang="en-US" sz="2483" dirty="0">
              <a:solidFill>
                <a:srgbClr val="FFFFFF"/>
              </a:solidFill>
              <a:latin typeface="Roboto"/>
              <a:ea typeface="Roboto"/>
              <a:cs typeface="Roboto"/>
              <a:sym typeface="Roboto"/>
            </a:endParaRPr>
          </a:p>
          <a:p>
            <a:pPr algn="ctr">
              <a:lnSpc>
                <a:spcPts val="3477"/>
              </a:lnSpc>
            </a:pPr>
            <a:r>
              <a:rPr lang="en-US" sz="2483" b="1" dirty="0">
                <a:solidFill>
                  <a:srgbClr val="FFFFFF"/>
                </a:solidFill>
                <a:latin typeface="Roboto"/>
                <a:ea typeface="Roboto"/>
                <a:cs typeface="Roboto"/>
                <a:sym typeface="Roboto"/>
              </a:rPr>
              <a:t>2. </a:t>
            </a:r>
            <a:r>
              <a:rPr lang="en-US" sz="2483" b="1" u="sng" dirty="0">
                <a:solidFill>
                  <a:srgbClr val="FFFFFF"/>
                </a:solidFill>
                <a:latin typeface="Roboto"/>
                <a:ea typeface="Roboto"/>
                <a:cs typeface="Roboto"/>
                <a:sym typeface="Roboto"/>
              </a:rPr>
              <a:t>Semantic Enrichment: </a:t>
            </a:r>
          </a:p>
          <a:p>
            <a:pPr algn="ctr">
              <a:lnSpc>
                <a:spcPts val="3477"/>
              </a:lnSpc>
            </a:pPr>
            <a:r>
              <a:rPr lang="en-US" sz="2483" dirty="0">
                <a:solidFill>
                  <a:srgbClr val="FFFFFF"/>
                </a:solidFill>
                <a:latin typeface="Roboto"/>
                <a:ea typeface="Roboto"/>
                <a:cs typeface="Roboto"/>
                <a:sym typeface="Roboto"/>
              </a:rPr>
              <a:t>Link relevant attributes to external entities.</a:t>
            </a:r>
          </a:p>
          <a:p>
            <a:pPr algn="ctr">
              <a:lnSpc>
                <a:spcPts val="3477"/>
              </a:lnSpc>
            </a:pPr>
            <a:endParaRPr lang="en-US" sz="2483" dirty="0">
              <a:solidFill>
                <a:srgbClr val="FFFFFF"/>
              </a:solidFill>
              <a:latin typeface="Roboto"/>
              <a:ea typeface="Roboto"/>
              <a:cs typeface="Roboto"/>
              <a:sym typeface="Roboto"/>
            </a:endParaRPr>
          </a:p>
          <a:p>
            <a:pPr algn="ctr">
              <a:lnSpc>
                <a:spcPts val="3477"/>
              </a:lnSpc>
            </a:pPr>
            <a:r>
              <a:rPr lang="en-US" sz="2483" b="1" dirty="0">
                <a:solidFill>
                  <a:srgbClr val="FFFFFF"/>
                </a:solidFill>
                <a:latin typeface="Roboto"/>
                <a:ea typeface="Roboto"/>
                <a:cs typeface="Roboto"/>
                <a:sym typeface="Roboto"/>
              </a:rPr>
              <a:t>3. </a:t>
            </a:r>
            <a:r>
              <a:rPr lang="en-US" sz="2483" b="1" u="sng" dirty="0">
                <a:solidFill>
                  <a:srgbClr val="FFFFFF"/>
                </a:solidFill>
                <a:latin typeface="Roboto"/>
                <a:ea typeface="Roboto"/>
                <a:cs typeface="Roboto"/>
                <a:sym typeface="Roboto"/>
              </a:rPr>
              <a:t>RDF Transformation: </a:t>
            </a:r>
          </a:p>
          <a:p>
            <a:pPr algn="ctr">
              <a:lnSpc>
                <a:spcPts val="3477"/>
              </a:lnSpc>
            </a:pPr>
            <a:r>
              <a:rPr lang="en-US" sz="2483" dirty="0">
                <a:solidFill>
                  <a:srgbClr val="FFFFFF"/>
                </a:solidFill>
                <a:latin typeface="Roboto"/>
                <a:ea typeface="Roboto"/>
                <a:cs typeface="Roboto"/>
                <a:sym typeface="Roboto"/>
              </a:rPr>
              <a:t>Convert the dataset into a machine-readable semantic format.</a:t>
            </a:r>
          </a:p>
        </p:txBody>
      </p:sp>
      <p:grpSp>
        <p:nvGrpSpPr>
          <p:cNvPr id="33" name="Group 5">
            <a:extLst>
              <a:ext uri="{FF2B5EF4-FFF2-40B4-BE49-F238E27FC236}">
                <a16:creationId xmlns:a16="http://schemas.microsoft.com/office/drawing/2014/main" id="{C462CD1C-AB55-EEF8-FA58-AC57FD3B2D2B}"/>
              </a:ext>
            </a:extLst>
          </p:cNvPr>
          <p:cNvGrpSpPr/>
          <p:nvPr/>
        </p:nvGrpSpPr>
        <p:grpSpPr>
          <a:xfrm>
            <a:off x="9796157" y="2440465"/>
            <a:ext cx="5341540" cy="6217179"/>
            <a:chOff x="0" y="0"/>
            <a:chExt cx="1692127" cy="1637446"/>
          </a:xfrm>
        </p:grpSpPr>
        <p:sp>
          <p:nvSpPr>
            <p:cNvPr id="34" name="Freeform 6">
              <a:extLst>
                <a:ext uri="{FF2B5EF4-FFF2-40B4-BE49-F238E27FC236}">
                  <a16:creationId xmlns:a16="http://schemas.microsoft.com/office/drawing/2014/main" id="{B26EF555-B8F6-78EF-A3FE-AF84A31BAD9C}"/>
                </a:ext>
              </a:extLst>
            </p:cNvPr>
            <p:cNvSpPr/>
            <p:nvPr/>
          </p:nvSpPr>
          <p:spPr>
            <a:xfrm>
              <a:off x="0" y="0"/>
              <a:ext cx="1692127" cy="1637446"/>
            </a:xfrm>
            <a:custGeom>
              <a:avLst/>
              <a:gdLst/>
              <a:ahLst/>
              <a:cxnLst/>
              <a:rect l="l" t="t" r="r" b="b"/>
              <a:pathLst>
                <a:path w="1692127" h="1637446">
                  <a:moveTo>
                    <a:pt x="25305" y="0"/>
                  </a:moveTo>
                  <a:lnTo>
                    <a:pt x="1666822" y="0"/>
                  </a:lnTo>
                  <a:cubicBezTo>
                    <a:pt x="1673533" y="0"/>
                    <a:pt x="1679969" y="2666"/>
                    <a:pt x="1684715" y="7412"/>
                  </a:cubicBezTo>
                  <a:cubicBezTo>
                    <a:pt x="1689461" y="12157"/>
                    <a:pt x="1692127" y="18594"/>
                    <a:pt x="1692127" y="25305"/>
                  </a:cubicBezTo>
                  <a:lnTo>
                    <a:pt x="1692127" y="1612141"/>
                  </a:lnTo>
                  <a:cubicBezTo>
                    <a:pt x="1692127" y="1626117"/>
                    <a:pt x="1680797" y="1637446"/>
                    <a:pt x="1666822" y="1637446"/>
                  </a:cubicBezTo>
                  <a:lnTo>
                    <a:pt x="25305" y="1637446"/>
                  </a:lnTo>
                  <a:cubicBezTo>
                    <a:pt x="18594" y="1637446"/>
                    <a:pt x="12157" y="1634780"/>
                    <a:pt x="7412" y="1630035"/>
                  </a:cubicBezTo>
                  <a:cubicBezTo>
                    <a:pt x="2666" y="1625289"/>
                    <a:pt x="0" y="1618853"/>
                    <a:pt x="0" y="1612141"/>
                  </a:cubicBezTo>
                  <a:lnTo>
                    <a:pt x="0" y="25305"/>
                  </a:lnTo>
                  <a:cubicBezTo>
                    <a:pt x="0" y="18594"/>
                    <a:pt x="2666" y="12157"/>
                    <a:pt x="7412" y="7412"/>
                  </a:cubicBezTo>
                  <a:cubicBezTo>
                    <a:pt x="12157" y="2666"/>
                    <a:pt x="18594" y="0"/>
                    <a:pt x="25305" y="0"/>
                  </a:cubicBezTo>
                  <a:close/>
                </a:path>
              </a:pathLst>
            </a:custGeom>
            <a:solidFill>
              <a:srgbClr val="000000"/>
            </a:solidFill>
          </p:spPr>
          <p:txBody>
            <a:bodyPr/>
            <a:lstStyle/>
            <a:p>
              <a:endParaRPr lang="el-GR"/>
            </a:p>
          </p:txBody>
        </p:sp>
        <p:sp>
          <p:nvSpPr>
            <p:cNvPr id="35" name="TextBox 7">
              <a:extLst>
                <a:ext uri="{FF2B5EF4-FFF2-40B4-BE49-F238E27FC236}">
                  <a16:creationId xmlns:a16="http://schemas.microsoft.com/office/drawing/2014/main" id="{4C95279E-C81F-DA0B-AD85-B738A29A4888}"/>
                </a:ext>
              </a:extLst>
            </p:cNvPr>
            <p:cNvSpPr txBox="1"/>
            <p:nvPr/>
          </p:nvSpPr>
          <p:spPr>
            <a:xfrm>
              <a:off x="0" y="-38100"/>
              <a:ext cx="1692127" cy="1675546"/>
            </a:xfrm>
            <a:prstGeom prst="rect">
              <a:avLst/>
            </a:prstGeom>
          </p:spPr>
          <p:txBody>
            <a:bodyPr lIns="50800" tIns="50800" rIns="50800" bIns="50800" rtlCol="0" anchor="ctr"/>
            <a:lstStyle/>
            <a:p>
              <a:pPr algn="ctr">
                <a:lnSpc>
                  <a:spcPts val="2659"/>
                </a:lnSpc>
              </a:pPr>
              <a:endParaRPr/>
            </a:p>
          </p:txBody>
        </p:sp>
      </p:grpSp>
      <p:sp>
        <p:nvSpPr>
          <p:cNvPr id="36" name="TextBox 15">
            <a:extLst>
              <a:ext uri="{FF2B5EF4-FFF2-40B4-BE49-F238E27FC236}">
                <a16:creationId xmlns:a16="http://schemas.microsoft.com/office/drawing/2014/main" id="{03E3945C-325D-9CCE-A54F-42BA129BCDB5}"/>
              </a:ext>
            </a:extLst>
          </p:cNvPr>
          <p:cNvSpPr txBox="1"/>
          <p:nvPr/>
        </p:nvSpPr>
        <p:spPr>
          <a:xfrm>
            <a:off x="9912727" y="3032006"/>
            <a:ext cx="5108400" cy="4904676"/>
          </a:xfrm>
          <a:prstGeom prst="rect">
            <a:avLst/>
          </a:prstGeom>
        </p:spPr>
        <p:txBody>
          <a:bodyPr wrap="square" lIns="0" tIns="0" rIns="0" bIns="0" rtlCol="0" anchor="t">
            <a:spAutoFit/>
          </a:bodyPr>
          <a:lstStyle/>
          <a:p>
            <a:pPr algn="ctr">
              <a:lnSpc>
                <a:spcPts val="3477"/>
              </a:lnSpc>
            </a:pPr>
            <a:r>
              <a:rPr lang="en-US" sz="2483" b="1" dirty="0">
                <a:solidFill>
                  <a:srgbClr val="FFFFFF"/>
                </a:solidFill>
                <a:latin typeface="Roboto"/>
                <a:ea typeface="Roboto"/>
                <a:cs typeface="Roboto"/>
                <a:sym typeface="Roboto"/>
              </a:rPr>
              <a:t>4. </a:t>
            </a:r>
            <a:r>
              <a:rPr lang="en-US" sz="2483" b="1" u="sng" dirty="0">
                <a:solidFill>
                  <a:srgbClr val="FFFFFF"/>
                </a:solidFill>
                <a:latin typeface="Roboto"/>
                <a:ea typeface="Roboto"/>
                <a:cs typeface="Roboto"/>
                <a:sym typeface="Roboto"/>
              </a:rPr>
              <a:t>Findability: </a:t>
            </a:r>
          </a:p>
          <a:p>
            <a:pPr algn="ctr">
              <a:lnSpc>
                <a:spcPts val="3477"/>
              </a:lnSpc>
            </a:pPr>
            <a:r>
              <a:rPr lang="en-US" sz="2483" dirty="0">
                <a:solidFill>
                  <a:srgbClr val="FFFFFF"/>
                </a:solidFill>
                <a:latin typeface="Roboto"/>
                <a:ea typeface="Roboto"/>
                <a:cs typeface="Roboto"/>
                <a:sym typeface="Roboto"/>
              </a:rPr>
              <a:t>Provide descriptive metadata and persistent identifiers.</a:t>
            </a:r>
          </a:p>
          <a:p>
            <a:pPr algn="ctr">
              <a:lnSpc>
                <a:spcPts val="3477"/>
              </a:lnSpc>
            </a:pPr>
            <a:endParaRPr lang="en-US" sz="2483" dirty="0">
              <a:solidFill>
                <a:srgbClr val="FFFFFF"/>
              </a:solidFill>
              <a:latin typeface="Roboto"/>
              <a:ea typeface="Roboto"/>
              <a:cs typeface="Roboto"/>
              <a:sym typeface="Roboto"/>
            </a:endParaRPr>
          </a:p>
          <a:p>
            <a:pPr algn="ctr">
              <a:lnSpc>
                <a:spcPts val="3477"/>
              </a:lnSpc>
            </a:pPr>
            <a:r>
              <a:rPr lang="en-US" sz="2483" b="1" dirty="0">
                <a:solidFill>
                  <a:srgbClr val="FFFFFF"/>
                </a:solidFill>
                <a:latin typeface="Roboto"/>
                <a:ea typeface="Roboto"/>
                <a:cs typeface="Roboto"/>
                <a:sym typeface="Roboto"/>
              </a:rPr>
              <a:t>5. </a:t>
            </a:r>
            <a:r>
              <a:rPr lang="en-US" sz="2483" b="1" u="sng" dirty="0">
                <a:solidFill>
                  <a:srgbClr val="FFFFFF"/>
                </a:solidFill>
                <a:latin typeface="Roboto"/>
                <a:ea typeface="Roboto"/>
                <a:cs typeface="Roboto"/>
                <a:sym typeface="Roboto"/>
              </a:rPr>
              <a:t>Accessibility: </a:t>
            </a:r>
          </a:p>
          <a:p>
            <a:pPr algn="ctr">
              <a:lnSpc>
                <a:spcPts val="3477"/>
              </a:lnSpc>
            </a:pPr>
            <a:r>
              <a:rPr lang="en-US" sz="2483" dirty="0">
                <a:solidFill>
                  <a:srgbClr val="FFFFFF"/>
                </a:solidFill>
                <a:latin typeface="Roboto"/>
                <a:ea typeface="Roboto"/>
                <a:cs typeface="Roboto"/>
                <a:sym typeface="Roboto"/>
              </a:rPr>
              <a:t>Publish the original and </a:t>
            </a:r>
            <a:r>
              <a:rPr lang="en-US" sz="2483" dirty="0" err="1">
                <a:solidFill>
                  <a:srgbClr val="FFFFFF"/>
                </a:solidFill>
                <a:latin typeface="Roboto"/>
                <a:ea typeface="Roboto"/>
                <a:cs typeface="Roboto"/>
                <a:sym typeface="Roboto"/>
              </a:rPr>
              <a:t>FAIRified</a:t>
            </a:r>
            <a:r>
              <a:rPr lang="en-US" sz="2483" dirty="0">
                <a:solidFill>
                  <a:srgbClr val="FFFFFF"/>
                </a:solidFill>
                <a:latin typeface="Roboto"/>
                <a:ea typeface="Roboto"/>
                <a:cs typeface="Roboto"/>
                <a:sym typeface="Roboto"/>
              </a:rPr>
              <a:t> resources on GitHub.</a:t>
            </a:r>
          </a:p>
          <a:p>
            <a:pPr algn="ctr">
              <a:lnSpc>
                <a:spcPts val="3477"/>
              </a:lnSpc>
            </a:pPr>
            <a:endParaRPr lang="en-US" sz="2483" dirty="0">
              <a:solidFill>
                <a:srgbClr val="FFFFFF"/>
              </a:solidFill>
              <a:latin typeface="Roboto"/>
              <a:ea typeface="Roboto"/>
              <a:cs typeface="Roboto"/>
              <a:sym typeface="Roboto"/>
            </a:endParaRPr>
          </a:p>
          <a:p>
            <a:pPr algn="ctr">
              <a:lnSpc>
                <a:spcPts val="3477"/>
              </a:lnSpc>
            </a:pPr>
            <a:r>
              <a:rPr lang="en-US" sz="2483" b="1" dirty="0">
                <a:solidFill>
                  <a:srgbClr val="FFFFFF"/>
                </a:solidFill>
                <a:latin typeface="Roboto"/>
                <a:ea typeface="Roboto"/>
                <a:cs typeface="Roboto"/>
                <a:sym typeface="Roboto"/>
              </a:rPr>
              <a:t>6. </a:t>
            </a:r>
            <a:r>
              <a:rPr lang="en-US" sz="2483" b="1" u="sng" dirty="0">
                <a:solidFill>
                  <a:srgbClr val="FFFFFF"/>
                </a:solidFill>
                <a:latin typeface="Roboto"/>
                <a:ea typeface="Roboto"/>
                <a:cs typeface="Roboto"/>
                <a:sym typeface="Roboto"/>
              </a:rPr>
              <a:t>Metadata Description: </a:t>
            </a:r>
          </a:p>
          <a:p>
            <a:pPr algn="ctr">
              <a:lnSpc>
                <a:spcPts val="3477"/>
              </a:lnSpc>
            </a:pPr>
            <a:r>
              <a:rPr lang="en-US" sz="2483" dirty="0">
                <a:solidFill>
                  <a:srgbClr val="FFFFFF"/>
                </a:solidFill>
                <a:latin typeface="Roboto"/>
                <a:ea typeface="Roboto"/>
                <a:cs typeface="Roboto"/>
                <a:sym typeface="Roboto"/>
              </a:rPr>
              <a:t>Describe the datasets and how to access them.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26324-D51C-F69B-36AB-05A7DD4C971C}"/>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361D651-2F48-0837-50C7-DFA07C4A68D6}"/>
              </a:ext>
            </a:extLst>
          </p:cNvPr>
          <p:cNvGrpSpPr/>
          <p:nvPr/>
        </p:nvGrpSpPr>
        <p:grpSpPr>
          <a:xfrm>
            <a:off x="5025502" y="5719500"/>
            <a:ext cx="11764001" cy="1710000"/>
            <a:chOff x="0" y="0"/>
            <a:chExt cx="3098338" cy="352460"/>
          </a:xfrm>
        </p:grpSpPr>
        <p:sp>
          <p:nvSpPr>
            <p:cNvPr id="6" name="Freeform 6">
              <a:extLst>
                <a:ext uri="{FF2B5EF4-FFF2-40B4-BE49-F238E27FC236}">
                  <a16:creationId xmlns:a16="http://schemas.microsoft.com/office/drawing/2014/main" id="{A07B9203-30F1-4822-392C-993F22CADD47}"/>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rgbClr val="000000"/>
            </a:solidFill>
          </p:spPr>
          <p:txBody>
            <a:bodyPr/>
            <a:lstStyle/>
            <a:p>
              <a:endParaRPr lang="el-GR"/>
            </a:p>
          </p:txBody>
        </p:sp>
        <p:sp>
          <p:nvSpPr>
            <p:cNvPr id="7" name="TextBox 7">
              <a:extLst>
                <a:ext uri="{FF2B5EF4-FFF2-40B4-BE49-F238E27FC236}">
                  <a16:creationId xmlns:a16="http://schemas.microsoft.com/office/drawing/2014/main" id="{CB303D3E-F9CB-A64C-577F-04077B507019}"/>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BD75F66D-A8D1-D840-4A4A-6F94A213656D}"/>
              </a:ext>
            </a:extLst>
          </p:cNvPr>
          <p:cNvGrpSpPr/>
          <p:nvPr/>
        </p:nvGrpSpPr>
        <p:grpSpPr>
          <a:xfrm>
            <a:off x="5025502" y="3881940"/>
            <a:ext cx="11764001" cy="1710000"/>
            <a:chOff x="0" y="0"/>
            <a:chExt cx="3098338" cy="352460"/>
          </a:xfrm>
        </p:grpSpPr>
        <p:sp>
          <p:nvSpPr>
            <p:cNvPr id="9" name="Freeform 9">
              <a:extLst>
                <a:ext uri="{FF2B5EF4-FFF2-40B4-BE49-F238E27FC236}">
                  <a16:creationId xmlns:a16="http://schemas.microsoft.com/office/drawing/2014/main" id="{C5ABEAD7-608D-A375-BA63-CD5174834E82}"/>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rgbClr val="000000"/>
            </a:solidFill>
          </p:spPr>
          <p:txBody>
            <a:bodyPr/>
            <a:lstStyle/>
            <a:p>
              <a:endParaRPr lang="el-GR"/>
            </a:p>
          </p:txBody>
        </p:sp>
        <p:sp>
          <p:nvSpPr>
            <p:cNvPr id="10" name="TextBox 10">
              <a:extLst>
                <a:ext uri="{FF2B5EF4-FFF2-40B4-BE49-F238E27FC236}">
                  <a16:creationId xmlns:a16="http://schemas.microsoft.com/office/drawing/2014/main" id="{E4B144DA-6ED0-F416-8570-8ADDFAC46639}"/>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5503F610-FEC6-0B84-60FF-8C63B0DD6EFF}"/>
              </a:ext>
            </a:extLst>
          </p:cNvPr>
          <p:cNvGrpSpPr/>
          <p:nvPr/>
        </p:nvGrpSpPr>
        <p:grpSpPr>
          <a:xfrm>
            <a:off x="5025502" y="2070215"/>
            <a:ext cx="11764001" cy="1710000"/>
            <a:chOff x="0" y="0"/>
            <a:chExt cx="3098338" cy="352460"/>
          </a:xfrm>
        </p:grpSpPr>
        <p:sp>
          <p:nvSpPr>
            <p:cNvPr id="12" name="Freeform 12">
              <a:extLst>
                <a:ext uri="{FF2B5EF4-FFF2-40B4-BE49-F238E27FC236}">
                  <a16:creationId xmlns:a16="http://schemas.microsoft.com/office/drawing/2014/main" id="{EC139641-4F50-7570-F9B6-44F4CA1A9C8B}"/>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rgbClr val="000000"/>
            </a:solidFill>
          </p:spPr>
          <p:txBody>
            <a:bodyPr/>
            <a:lstStyle/>
            <a:p>
              <a:endParaRPr lang="el-GR"/>
            </a:p>
          </p:txBody>
        </p:sp>
        <p:sp>
          <p:nvSpPr>
            <p:cNvPr id="13" name="TextBox 13">
              <a:extLst>
                <a:ext uri="{FF2B5EF4-FFF2-40B4-BE49-F238E27FC236}">
                  <a16:creationId xmlns:a16="http://schemas.microsoft.com/office/drawing/2014/main" id="{89504AF5-604D-E637-2D1D-472E7713B325}"/>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2FB80B4A-9C36-F690-6760-AE11DA919305}"/>
              </a:ext>
            </a:extLst>
          </p:cNvPr>
          <p:cNvGrpSpPr/>
          <p:nvPr/>
        </p:nvGrpSpPr>
        <p:grpSpPr>
          <a:xfrm>
            <a:off x="5025502" y="7549037"/>
            <a:ext cx="11764001" cy="1709263"/>
            <a:chOff x="0" y="0"/>
            <a:chExt cx="3098338" cy="352460"/>
          </a:xfrm>
        </p:grpSpPr>
        <p:sp>
          <p:nvSpPr>
            <p:cNvPr id="20" name="Freeform 20">
              <a:extLst>
                <a:ext uri="{FF2B5EF4-FFF2-40B4-BE49-F238E27FC236}">
                  <a16:creationId xmlns:a16="http://schemas.microsoft.com/office/drawing/2014/main" id="{66495660-76A2-3BBC-9FBD-3F842CAFCD3C}"/>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rgbClr val="000000"/>
            </a:solidFill>
          </p:spPr>
          <p:txBody>
            <a:bodyPr/>
            <a:lstStyle/>
            <a:p>
              <a:endParaRPr lang="el-GR"/>
            </a:p>
          </p:txBody>
        </p:sp>
        <p:sp>
          <p:nvSpPr>
            <p:cNvPr id="21" name="TextBox 21">
              <a:extLst>
                <a:ext uri="{FF2B5EF4-FFF2-40B4-BE49-F238E27FC236}">
                  <a16:creationId xmlns:a16="http://schemas.microsoft.com/office/drawing/2014/main" id="{DEBD686D-0E92-5AA1-FC8E-E5D306333450}"/>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sp>
        <p:nvSpPr>
          <p:cNvPr id="22" name="TextBox 22">
            <a:extLst>
              <a:ext uri="{FF2B5EF4-FFF2-40B4-BE49-F238E27FC236}">
                <a16:creationId xmlns:a16="http://schemas.microsoft.com/office/drawing/2014/main" id="{FE6E3897-95CA-E651-6B16-F2B66F38118C}"/>
              </a:ext>
            </a:extLst>
          </p:cNvPr>
          <p:cNvSpPr txBox="1"/>
          <p:nvPr/>
        </p:nvSpPr>
        <p:spPr>
          <a:xfrm>
            <a:off x="3380677" y="723900"/>
            <a:ext cx="11526647" cy="717947"/>
          </a:xfrm>
          <a:prstGeom prst="rect">
            <a:avLst/>
          </a:prstGeom>
        </p:spPr>
        <p:txBody>
          <a:bodyPr lIns="0" tIns="0" rIns="0" bIns="0" rtlCol="0" anchor="t">
            <a:spAutoFit/>
          </a:bodyPr>
          <a:lstStyle/>
          <a:p>
            <a:pPr algn="ctr">
              <a:lnSpc>
                <a:spcPts val="5671"/>
              </a:lnSpc>
            </a:pPr>
            <a:r>
              <a:rPr lang="en-US" sz="4687" dirty="0">
                <a:solidFill>
                  <a:srgbClr val="000000"/>
                </a:solidFill>
                <a:latin typeface="Archivo Black"/>
                <a:ea typeface="Archivo Black"/>
                <a:cs typeface="Archivo Black"/>
                <a:sym typeface="Archivo Black"/>
              </a:rPr>
              <a:t>Reuse Stakeholders</a:t>
            </a:r>
          </a:p>
        </p:txBody>
      </p:sp>
      <p:sp>
        <p:nvSpPr>
          <p:cNvPr id="23" name="TextBox 23">
            <a:extLst>
              <a:ext uri="{FF2B5EF4-FFF2-40B4-BE49-F238E27FC236}">
                <a16:creationId xmlns:a16="http://schemas.microsoft.com/office/drawing/2014/main" id="{645DEFE2-B3CF-4422-C513-2C7CBABE2246}"/>
              </a:ext>
            </a:extLst>
          </p:cNvPr>
          <p:cNvSpPr txBox="1"/>
          <p:nvPr/>
        </p:nvSpPr>
        <p:spPr>
          <a:xfrm>
            <a:off x="6212426" y="2452053"/>
            <a:ext cx="10399174" cy="938847"/>
          </a:xfrm>
          <a:prstGeom prst="rect">
            <a:avLst/>
          </a:prstGeom>
        </p:spPr>
        <p:txBody>
          <a:bodyPr wrap="square" lIns="0" tIns="0" rIns="0" bIns="0" rtlCol="0" anchor="t">
            <a:spAutoFit/>
          </a:bodyPr>
          <a:lstStyle/>
          <a:p>
            <a:pPr algn="l">
              <a:lnSpc>
                <a:spcPts val="3757"/>
              </a:lnSpc>
            </a:pPr>
            <a:r>
              <a:rPr lang="en-US" sz="2683" dirty="0">
                <a:solidFill>
                  <a:srgbClr val="FFFFFF"/>
                </a:solidFill>
                <a:latin typeface="Roboto Bold"/>
                <a:ea typeface="Roboto Bold"/>
                <a:cs typeface="Roboto Bold"/>
                <a:sym typeface="Roboto Bold"/>
              </a:rPr>
              <a:t>Football Analysts &amp; Sports Statisticians:</a:t>
            </a:r>
          </a:p>
          <a:p>
            <a:pPr algn="l">
              <a:lnSpc>
                <a:spcPts val="3757"/>
              </a:lnSpc>
            </a:pPr>
            <a:r>
              <a:rPr lang="en-US" sz="2683" dirty="0">
                <a:solidFill>
                  <a:srgbClr val="FFFFFF"/>
                </a:solidFill>
                <a:latin typeface="Roboto" panose="02000000000000000000" pitchFamily="2" charset="0"/>
                <a:ea typeface="Roboto" panose="02000000000000000000" pitchFamily="2" charset="0"/>
                <a:cs typeface="Roboto" panose="02000000000000000000" pitchFamily="2" charset="0"/>
                <a:sym typeface="Roboto Bold"/>
              </a:rPr>
              <a:t>Compare player performance statistics for the 2024/2025 season.</a:t>
            </a:r>
          </a:p>
        </p:txBody>
      </p:sp>
      <p:sp>
        <p:nvSpPr>
          <p:cNvPr id="24" name="TextBox 24">
            <a:extLst>
              <a:ext uri="{FF2B5EF4-FFF2-40B4-BE49-F238E27FC236}">
                <a16:creationId xmlns:a16="http://schemas.microsoft.com/office/drawing/2014/main" id="{85583109-A5E0-F064-CA69-1DDD7D489074}"/>
              </a:ext>
            </a:extLst>
          </p:cNvPr>
          <p:cNvSpPr txBox="1"/>
          <p:nvPr/>
        </p:nvSpPr>
        <p:spPr>
          <a:xfrm>
            <a:off x="6191344" y="4229100"/>
            <a:ext cx="9878696" cy="951010"/>
          </a:xfrm>
          <a:prstGeom prst="rect">
            <a:avLst/>
          </a:prstGeom>
        </p:spPr>
        <p:txBody>
          <a:bodyPr wrap="square" lIns="0" tIns="0" rIns="0" bIns="0" rtlCol="0" anchor="t">
            <a:spAutoFit/>
          </a:bodyPr>
          <a:lstStyle/>
          <a:p>
            <a:pPr algn="l">
              <a:lnSpc>
                <a:spcPts val="3757"/>
              </a:lnSpc>
            </a:pPr>
            <a:r>
              <a:rPr lang="en-US" sz="2683" b="1" dirty="0">
                <a:solidFill>
                  <a:srgbClr val="FFFFFF"/>
                </a:solidFill>
                <a:latin typeface="Roboto Bold"/>
                <a:ea typeface="Roboto Bold"/>
                <a:cs typeface="Roboto Bold"/>
                <a:sym typeface="Roboto Bold"/>
              </a:rPr>
              <a:t>Researchers &amp; University Students: </a:t>
            </a:r>
          </a:p>
          <a:p>
            <a:pPr algn="l">
              <a:lnSpc>
                <a:spcPts val="3757"/>
              </a:lnSpc>
            </a:pPr>
            <a:r>
              <a:rPr lang="en-US" sz="2683" dirty="0">
                <a:solidFill>
                  <a:srgbClr val="FFFFFF"/>
                </a:solidFill>
                <a:latin typeface="Roboto" panose="02000000000000000000" pitchFamily="2" charset="0"/>
                <a:ea typeface="Roboto" panose="02000000000000000000" pitchFamily="2" charset="0"/>
                <a:cs typeface="Roboto" panose="02000000000000000000" pitchFamily="2" charset="0"/>
                <a:sym typeface="Roboto Bold"/>
              </a:rPr>
              <a:t>Use the dataset for research and educational activities.</a:t>
            </a:r>
          </a:p>
        </p:txBody>
      </p:sp>
      <p:sp>
        <p:nvSpPr>
          <p:cNvPr id="25" name="TextBox 25">
            <a:extLst>
              <a:ext uri="{FF2B5EF4-FFF2-40B4-BE49-F238E27FC236}">
                <a16:creationId xmlns:a16="http://schemas.microsoft.com/office/drawing/2014/main" id="{EC9AB5F6-33AD-60F6-C46D-4A0C0A19DD19}"/>
              </a:ext>
            </a:extLst>
          </p:cNvPr>
          <p:cNvSpPr txBox="1"/>
          <p:nvPr/>
        </p:nvSpPr>
        <p:spPr>
          <a:xfrm>
            <a:off x="6191344" y="6097490"/>
            <a:ext cx="9878696" cy="951010"/>
          </a:xfrm>
          <a:prstGeom prst="rect">
            <a:avLst/>
          </a:prstGeom>
        </p:spPr>
        <p:txBody>
          <a:bodyPr wrap="square" lIns="0" tIns="0" rIns="0" bIns="0" rtlCol="0" anchor="t">
            <a:spAutoFit/>
          </a:bodyPr>
          <a:lstStyle/>
          <a:p>
            <a:pPr algn="l">
              <a:lnSpc>
                <a:spcPts val="3757"/>
              </a:lnSpc>
            </a:pPr>
            <a:r>
              <a:rPr lang="en-US" sz="2683" b="1" dirty="0">
                <a:solidFill>
                  <a:srgbClr val="FFFFFF"/>
                </a:solidFill>
                <a:latin typeface="Roboto Bold"/>
                <a:ea typeface="Roboto Bold"/>
                <a:cs typeface="Roboto Bold"/>
                <a:sym typeface="Roboto Bold"/>
              </a:rPr>
              <a:t>Football Clubs &amp; Scouting Analysts: </a:t>
            </a:r>
          </a:p>
          <a:p>
            <a:pPr algn="l">
              <a:lnSpc>
                <a:spcPts val="3757"/>
              </a:lnSpc>
            </a:pPr>
            <a:r>
              <a:rPr lang="en-US" sz="2683" dirty="0">
                <a:solidFill>
                  <a:srgbClr val="FFFFFF"/>
                </a:solidFill>
                <a:latin typeface="Roboto" panose="02000000000000000000" pitchFamily="2" charset="0"/>
                <a:ea typeface="Roboto" panose="02000000000000000000" pitchFamily="2" charset="0"/>
                <a:cs typeface="Roboto" panose="02000000000000000000" pitchFamily="2" charset="0"/>
                <a:sym typeface="Roboto Bold"/>
              </a:rPr>
              <a:t>Explore player statistics to support player comparisons.</a:t>
            </a:r>
          </a:p>
        </p:txBody>
      </p:sp>
      <p:sp>
        <p:nvSpPr>
          <p:cNvPr id="26" name="TextBox 26">
            <a:extLst>
              <a:ext uri="{FF2B5EF4-FFF2-40B4-BE49-F238E27FC236}">
                <a16:creationId xmlns:a16="http://schemas.microsoft.com/office/drawing/2014/main" id="{A1F6BD62-6EE7-C26B-9C93-1F131F03009C}"/>
              </a:ext>
            </a:extLst>
          </p:cNvPr>
          <p:cNvSpPr txBox="1"/>
          <p:nvPr/>
        </p:nvSpPr>
        <p:spPr>
          <a:xfrm>
            <a:off x="6158872" y="7661044"/>
            <a:ext cx="10399174" cy="1426160"/>
          </a:xfrm>
          <a:prstGeom prst="rect">
            <a:avLst/>
          </a:prstGeom>
        </p:spPr>
        <p:txBody>
          <a:bodyPr wrap="square" lIns="0" tIns="0" rIns="0" bIns="0" rtlCol="0" anchor="t">
            <a:spAutoFit/>
          </a:bodyPr>
          <a:lstStyle/>
          <a:p>
            <a:pPr algn="l">
              <a:lnSpc>
                <a:spcPts val="3757"/>
              </a:lnSpc>
            </a:pPr>
            <a:r>
              <a:rPr lang="en-US" sz="2683" b="1" dirty="0">
                <a:solidFill>
                  <a:srgbClr val="FFFFFF"/>
                </a:solidFill>
                <a:latin typeface="Roboto Bold"/>
                <a:ea typeface="Roboto Bold"/>
                <a:cs typeface="Roboto Bold"/>
                <a:sym typeface="Roboto Bold"/>
              </a:rPr>
              <a:t>Data Scientists &amp; Developers: </a:t>
            </a:r>
          </a:p>
          <a:p>
            <a:pPr algn="l">
              <a:lnSpc>
                <a:spcPts val="3757"/>
              </a:lnSpc>
            </a:pPr>
            <a:r>
              <a:rPr lang="en-US" sz="2683" dirty="0">
                <a:solidFill>
                  <a:srgbClr val="FFFFFF"/>
                </a:solidFill>
                <a:latin typeface="Roboto" panose="02000000000000000000" pitchFamily="2" charset="0"/>
                <a:ea typeface="Roboto" panose="02000000000000000000" pitchFamily="2" charset="0"/>
                <a:cs typeface="Roboto" panose="02000000000000000000" pitchFamily="2" charset="0"/>
                <a:sym typeface="Roboto Bold"/>
              </a:rPr>
              <a:t>Integrate the dataset into analytical workflows and combine it with other football datasets.</a:t>
            </a:r>
          </a:p>
        </p:txBody>
      </p:sp>
      <p:pic>
        <p:nvPicPr>
          <p:cNvPr id="32" name="Picture 31" descr="Close-up of documents and charts">
            <a:extLst>
              <a:ext uri="{FF2B5EF4-FFF2-40B4-BE49-F238E27FC236}">
                <a16:creationId xmlns:a16="http://schemas.microsoft.com/office/drawing/2014/main" id="{672D019C-08AE-3D84-C370-490790526D3A}"/>
              </a:ext>
            </a:extLst>
          </p:cNvPr>
          <p:cNvPicPr>
            <a:picLocks noChangeAspect="1"/>
          </p:cNvPicPr>
          <p:nvPr/>
        </p:nvPicPr>
        <p:blipFill>
          <a:blip r:embed="rId3" cstate="print">
            <a:extLst>
              <a:ext uri="{28A0092B-C50C-407E-A947-70E740481C1C}">
                <a14:useLocalDpi xmlns:a14="http://schemas.microsoft.com/office/drawing/2010/main" val="0"/>
              </a:ext>
            </a:extLst>
          </a:blip>
          <a:srcRect l="12719" r="42588"/>
          <a:stretch>
            <a:fillRect/>
          </a:stretch>
        </p:blipFill>
        <p:spPr>
          <a:xfrm>
            <a:off x="514256" y="2071705"/>
            <a:ext cx="4279789" cy="7189200"/>
          </a:xfrm>
          <a:prstGeom prst="roundRect">
            <a:avLst>
              <a:gd name="adj" fmla="val 6340"/>
            </a:avLst>
          </a:prstGeom>
        </p:spPr>
      </p:pic>
      <p:pic>
        <p:nvPicPr>
          <p:cNvPr id="34" name="Graphic 33" descr="Database with solid fill">
            <a:extLst>
              <a:ext uri="{FF2B5EF4-FFF2-40B4-BE49-F238E27FC236}">
                <a16:creationId xmlns:a16="http://schemas.microsoft.com/office/drawing/2014/main" id="{36242C3E-8502-5674-89FB-00FF1AABDD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1223" y="7916924"/>
            <a:ext cx="914400" cy="914400"/>
          </a:xfrm>
          <a:prstGeom prst="rect">
            <a:avLst/>
          </a:prstGeom>
        </p:spPr>
      </p:pic>
      <p:pic>
        <p:nvPicPr>
          <p:cNvPr id="36" name="Graphic 35" descr="Trophy with solid fill">
            <a:extLst>
              <a:ext uri="{FF2B5EF4-FFF2-40B4-BE49-F238E27FC236}">
                <a16:creationId xmlns:a16="http://schemas.microsoft.com/office/drawing/2014/main" id="{F0B95016-E6F8-3BB5-1F9D-45E4671B6A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61216" y="6080714"/>
            <a:ext cx="914400" cy="914400"/>
          </a:xfrm>
          <a:prstGeom prst="rect">
            <a:avLst/>
          </a:prstGeom>
        </p:spPr>
      </p:pic>
      <p:pic>
        <p:nvPicPr>
          <p:cNvPr id="38" name="Graphic 37" descr="Graduation cap with solid fill">
            <a:extLst>
              <a:ext uri="{FF2B5EF4-FFF2-40B4-BE49-F238E27FC236}">
                <a16:creationId xmlns:a16="http://schemas.microsoft.com/office/drawing/2014/main" id="{80D3A7D1-C719-B538-5AFB-01EB983B77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1223" y="4280109"/>
            <a:ext cx="914400" cy="914400"/>
          </a:xfrm>
          <a:prstGeom prst="rect">
            <a:avLst/>
          </a:prstGeom>
        </p:spPr>
      </p:pic>
      <p:pic>
        <p:nvPicPr>
          <p:cNvPr id="40" name="Graphic 39" descr="Bar graph with upward trend with solid fill">
            <a:extLst>
              <a:ext uri="{FF2B5EF4-FFF2-40B4-BE49-F238E27FC236}">
                <a16:creationId xmlns:a16="http://schemas.microsoft.com/office/drawing/2014/main" id="{871AED24-8FA9-8078-97E7-C0A15BFA56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61216" y="2539353"/>
            <a:ext cx="914400" cy="914400"/>
          </a:xfrm>
          <a:prstGeom prst="rect">
            <a:avLst/>
          </a:prstGeom>
        </p:spPr>
      </p:pic>
    </p:spTree>
    <p:extLst>
      <p:ext uri="{BB962C8B-B14F-4D97-AF65-F5344CB8AC3E}">
        <p14:creationId xmlns:p14="http://schemas.microsoft.com/office/powerpoint/2010/main" val="96425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 y="0"/>
            <a:ext cx="18287543" cy="1207008"/>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dirty="0">
              <a:solidFill>
                <a:prstClr val="white"/>
              </a:solidFill>
              <a:latin typeface="Calibri"/>
            </a:endParaRPr>
          </a:p>
        </p:txBody>
      </p:sp>
      <p:sp>
        <p:nvSpPr>
          <p:cNvPr id="3" name="Rectangle 2"/>
          <p:cNvSpPr/>
          <p:nvPr/>
        </p:nvSpPr>
        <p:spPr>
          <a:xfrm>
            <a:off x="1" y="9985248"/>
            <a:ext cx="18287543" cy="301752"/>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a:solidFill>
                <a:prstClr val="white"/>
              </a:solidFill>
              <a:latin typeface="Calibri"/>
            </a:endParaRPr>
          </a:p>
        </p:txBody>
      </p:sp>
      <p:sp>
        <p:nvSpPr>
          <p:cNvPr id="4" name="TextBox 3"/>
          <p:cNvSpPr txBox="1"/>
          <p:nvPr/>
        </p:nvSpPr>
        <p:spPr>
          <a:xfrm>
            <a:off x="1220724" y="245713"/>
            <a:ext cx="16309848" cy="801886"/>
          </a:xfrm>
          <a:prstGeom prst="rect">
            <a:avLst/>
          </a:prstGeom>
          <a:noFill/>
        </p:spPr>
        <p:txBody>
          <a:bodyPr wrap="square" lIns="0" tIns="0" rIns="0" bIns="0">
            <a:spAutoFit/>
          </a:bodyPr>
          <a:lstStyle/>
          <a:p>
            <a:pPr>
              <a:lnSpc>
                <a:spcPts val="6562"/>
              </a:lnSpc>
              <a:defRPr sz="3100" b="1">
                <a:solidFill>
                  <a:srgbClr val="FFFFFF"/>
                </a:solidFill>
                <a:latin typeface="Arial"/>
              </a:defRPr>
            </a:pPr>
            <a:r>
              <a:rPr sz="4687" dirty="0">
                <a:solidFill>
                  <a:schemeClr val="bg1"/>
                </a:solidFill>
                <a:latin typeface="Archivo Black"/>
              </a:rPr>
              <a:t>Data Selection &amp; Preparation</a:t>
            </a:r>
          </a:p>
        </p:txBody>
      </p:sp>
      <p:sp>
        <p:nvSpPr>
          <p:cNvPr id="5" name="Oval 4"/>
          <p:cNvSpPr/>
          <p:nvPr/>
        </p:nvSpPr>
        <p:spPr>
          <a:xfrm>
            <a:off x="918972" y="2086356"/>
            <a:ext cx="576072" cy="576072"/>
          </a:xfrm>
          <a:prstGeom prst="ellipse">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defTabSz="685800">
              <a:defRPr sz="1500" b="1">
                <a:solidFill>
                  <a:srgbClr val="FFFFFF"/>
                </a:solidFill>
                <a:latin typeface="Arial"/>
              </a:defRPr>
            </a:pPr>
            <a:r>
              <a:rPr sz="2250" b="1" dirty="0">
                <a:solidFill>
                  <a:srgbClr val="FFFFFF"/>
                </a:solidFill>
                <a:latin typeface="Arial"/>
              </a:rPr>
              <a:t>1</a:t>
            </a:r>
          </a:p>
        </p:txBody>
      </p:sp>
      <p:sp>
        <p:nvSpPr>
          <p:cNvPr id="6" name="TextBox 5"/>
          <p:cNvSpPr txBox="1"/>
          <p:nvPr/>
        </p:nvSpPr>
        <p:spPr>
          <a:xfrm>
            <a:off x="1892808" y="1855501"/>
            <a:ext cx="6720840" cy="1038746"/>
          </a:xfrm>
          <a:prstGeom prst="rect">
            <a:avLst/>
          </a:prstGeom>
          <a:noFill/>
        </p:spPr>
        <p:txBody>
          <a:bodyPr wrap="square" lIns="0" tIns="0" rIns="0" bIns="0">
            <a:spAutoFit/>
          </a:bodyPr>
          <a:lstStyle/>
          <a:p>
            <a:pPr defTabSz="685800">
              <a:defRPr sz="1500" b="0">
                <a:solidFill>
                  <a:srgbClr val="0C0C0C"/>
                </a:solidFill>
                <a:latin typeface="Arial"/>
              </a:defRPr>
            </a:pPr>
            <a:r>
              <a:rPr sz="2250" dirty="0">
                <a:solidFill>
                  <a:srgbClr val="0C0C0C"/>
                </a:solidFill>
                <a:latin typeface="Arial"/>
              </a:rPr>
              <a:t>Selected two CSV files containing player</a:t>
            </a:r>
            <a:br>
              <a:rPr sz="2250" dirty="0">
                <a:solidFill>
                  <a:srgbClr val="0C0C0C"/>
                </a:solidFill>
                <a:latin typeface="Arial"/>
              </a:rPr>
            </a:br>
            <a:r>
              <a:rPr sz="2250" dirty="0">
                <a:solidFill>
                  <a:srgbClr val="0C0C0C"/>
                </a:solidFill>
                <a:latin typeface="Arial"/>
              </a:rPr>
              <a:t>information and performance statistics</a:t>
            </a:r>
            <a:r>
              <a:rPr lang="en-US" sz="2250" dirty="0">
                <a:solidFill>
                  <a:srgbClr val="0C0C0C"/>
                </a:solidFill>
                <a:latin typeface="Arial"/>
              </a:rPr>
              <a:t> from 2024/2025 season</a:t>
            </a:r>
            <a:endParaRPr sz="2250" dirty="0">
              <a:solidFill>
                <a:srgbClr val="0C0C0C"/>
              </a:solidFill>
              <a:latin typeface="Arial"/>
            </a:endParaRPr>
          </a:p>
        </p:txBody>
      </p:sp>
      <p:sp>
        <p:nvSpPr>
          <p:cNvPr id="7" name="Oval 6"/>
          <p:cNvSpPr/>
          <p:nvPr/>
        </p:nvSpPr>
        <p:spPr>
          <a:xfrm>
            <a:off x="918972" y="3612172"/>
            <a:ext cx="576072" cy="576072"/>
          </a:xfrm>
          <a:prstGeom prst="ellipse">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defTabSz="685800">
              <a:defRPr sz="1500" b="1">
                <a:solidFill>
                  <a:srgbClr val="FFFFFF"/>
                </a:solidFill>
                <a:latin typeface="Arial"/>
              </a:defRPr>
            </a:pPr>
            <a:r>
              <a:rPr sz="2250" b="1">
                <a:solidFill>
                  <a:srgbClr val="FFFFFF"/>
                </a:solidFill>
                <a:latin typeface="Arial"/>
              </a:rPr>
              <a:t>2</a:t>
            </a:r>
          </a:p>
        </p:txBody>
      </p:sp>
      <p:sp>
        <p:nvSpPr>
          <p:cNvPr id="9" name="Oval 8"/>
          <p:cNvSpPr/>
          <p:nvPr/>
        </p:nvSpPr>
        <p:spPr>
          <a:xfrm>
            <a:off x="918972" y="5144097"/>
            <a:ext cx="576072" cy="576072"/>
          </a:xfrm>
          <a:prstGeom prst="ellipse">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defTabSz="685800">
              <a:defRPr sz="1500" b="1">
                <a:solidFill>
                  <a:srgbClr val="FFFFFF"/>
                </a:solidFill>
                <a:latin typeface="Arial"/>
              </a:defRPr>
            </a:pPr>
            <a:r>
              <a:rPr sz="2250" b="1">
                <a:solidFill>
                  <a:srgbClr val="FFFFFF"/>
                </a:solidFill>
                <a:latin typeface="Arial"/>
              </a:rPr>
              <a:t>3</a:t>
            </a:r>
          </a:p>
        </p:txBody>
      </p:sp>
      <p:sp>
        <p:nvSpPr>
          <p:cNvPr id="10" name="TextBox 9"/>
          <p:cNvSpPr txBox="1"/>
          <p:nvPr/>
        </p:nvSpPr>
        <p:spPr>
          <a:xfrm>
            <a:off x="1877568" y="3425952"/>
            <a:ext cx="6720840" cy="1038746"/>
          </a:xfrm>
          <a:prstGeom prst="rect">
            <a:avLst/>
          </a:prstGeom>
          <a:noFill/>
        </p:spPr>
        <p:txBody>
          <a:bodyPr wrap="square" lIns="0" tIns="0" rIns="0" bIns="0">
            <a:spAutoFit/>
          </a:bodyPr>
          <a:lstStyle/>
          <a:p>
            <a:pPr defTabSz="685800">
              <a:defRPr sz="1500" b="0">
                <a:solidFill>
                  <a:srgbClr val="0C0C0C"/>
                </a:solidFill>
                <a:latin typeface="Arial"/>
              </a:defRPr>
            </a:pPr>
            <a:r>
              <a:rPr lang="en-US" sz="2250" dirty="0">
                <a:solidFill>
                  <a:srgbClr val="0C0C0C"/>
                </a:solidFill>
                <a:latin typeface="Arial"/>
              </a:rPr>
              <a:t>Removed columns to focus on 10 relevant properties, following the course recommendation to select a manageable dataset for </a:t>
            </a:r>
            <a:r>
              <a:rPr lang="en-US" sz="2250" dirty="0" err="1">
                <a:solidFill>
                  <a:srgbClr val="0C0C0C"/>
                </a:solidFill>
                <a:latin typeface="Arial"/>
              </a:rPr>
              <a:t>FAIRification</a:t>
            </a:r>
            <a:r>
              <a:rPr lang="en-US" sz="2250" dirty="0">
                <a:solidFill>
                  <a:srgbClr val="0C0C0C"/>
                </a:solidFill>
                <a:latin typeface="Arial"/>
              </a:rPr>
              <a:t>.</a:t>
            </a:r>
            <a:endParaRPr sz="2250" dirty="0">
              <a:solidFill>
                <a:srgbClr val="0C0C0C"/>
              </a:solidFill>
              <a:latin typeface="Arial"/>
            </a:endParaRPr>
          </a:p>
        </p:txBody>
      </p:sp>
      <p:sp>
        <p:nvSpPr>
          <p:cNvPr id="11" name="Oval 10"/>
          <p:cNvSpPr/>
          <p:nvPr/>
        </p:nvSpPr>
        <p:spPr>
          <a:xfrm>
            <a:off x="918972" y="6676023"/>
            <a:ext cx="576072" cy="576072"/>
          </a:xfrm>
          <a:prstGeom prst="ellipse">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defTabSz="685800">
              <a:defRPr sz="1500" b="1">
                <a:solidFill>
                  <a:srgbClr val="FFFFFF"/>
                </a:solidFill>
                <a:latin typeface="Arial"/>
              </a:defRPr>
            </a:pPr>
            <a:r>
              <a:rPr sz="2250" b="1" dirty="0">
                <a:solidFill>
                  <a:srgbClr val="FFFFFF"/>
                </a:solidFill>
                <a:latin typeface="Arial"/>
              </a:rPr>
              <a:t>4</a:t>
            </a:r>
          </a:p>
        </p:txBody>
      </p:sp>
      <p:sp>
        <p:nvSpPr>
          <p:cNvPr id="12" name="TextBox 11"/>
          <p:cNvSpPr txBox="1"/>
          <p:nvPr/>
        </p:nvSpPr>
        <p:spPr>
          <a:xfrm>
            <a:off x="1892808" y="5258411"/>
            <a:ext cx="6720840" cy="346249"/>
          </a:xfrm>
          <a:prstGeom prst="rect">
            <a:avLst/>
          </a:prstGeom>
          <a:noFill/>
        </p:spPr>
        <p:txBody>
          <a:bodyPr wrap="square" lIns="0" tIns="0" rIns="0" bIns="0">
            <a:spAutoFit/>
          </a:bodyPr>
          <a:lstStyle/>
          <a:p>
            <a:pPr defTabSz="685800">
              <a:defRPr sz="1500" b="0">
                <a:solidFill>
                  <a:srgbClr val="0C0C0C"/>
                </a:solidFill>
                <a:latin typeface="Arial"/>
              </a:defRPr>
            </a:pPr>
            <a:r>
              <a:rPr sz="2250" dirty="0">
                <a:solidFill>
                  <a:srgbClr val="0C0C0C"/>
                </a:solidFill>
                <a:latin typeface="Arial"/>
              </a:rPr>
              <a:t>Merged the selected data into one CSV file.</a:t>
            </a:r>
          </a:p>
        </p:txBody>
      </p:sp>
      <p:sp>
        <p:nvSpPr>
          <p:cNvPr id="13" name="Oval 12"/>
          <p:cNvSpPr/>
          <p:nvPr/>
        </p:nvSpPr>
        <p:spPr>
          <a:xfrm>
            <a:off x="918972" y="8202168"/>
            <a:ext cx="576072" cy="576072"/>
          </a:xfrm>
          <a:prstGeom prst="ellipse">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defTabSz="685800">
              <a:defRPr sz="1500" b="1">
                <a:solidFill>
                  <a:srgbClr val="FFFFFF"/>
                </a:solidFill>
                <a:latin typeface="Arial"/>
              </a:defRPr>
            </a:pPr>
            <a:r>
              <a:rPr sz="2250" b="1" dirty="0">
                <a:solidFill>
                  <a:srgbClr val="FFFFFF"/>
                </a:solidFill>
                <a:latin typeface="Arial"/>
              </a:rPr>
              <a:t>5</a:t>
            </a:r>
          </a:p>
        </p:txBody>
      </p:sp>
      <p:sp>
        <p:nvSpPr>
          <p:cNvPr id="14" name="TextBox 13"/>
          <p:cNvSpPr txBox="1"/>
          <p:nvPr/>
        </p:nvSpPr>
        <p:spPr>
          <a:xfrm>
            <a:off x="1847088" y="6790934"/>
            <a:ext cx="6720840" cy="346249"/>
          </a:xfrm>
          <a:prstGeom prst="rect">
            <a:avLst/>
          </a:prstGeom>
          <a:noFill/>
        </p:spPr>
        <p:txBody>
          <a:bodyPr wrap="square" lIns="0" tIns="0" rIns="0" bIns="0">
            <a:spAutoFit/>
          </a:bodyPr>
          <a:lstStyle/>
          <a:p>
            <a:pPr defTabSz="685800">
              <a:defRPr sz="1500" b="0">
                <a:solidFill>
                  <a:srgbClr val="0C0C0C"/>
                </a:solidFill>
                <a:latin typeface="Arial"/>
              </a:defRPr>
            </a:pPr>
            <a:r>
              <a:rPr sz="2250" dirty="0">
                <a:solidFill>
                  <a:srgbClr val="0C0C0C"/>
                </a:solidFill>
                <a:latin typeface="Arial"/>
              </a:rPr>
              <a:t>Cleaned and prepared the resulting dataset.</a:t>
            </a:r>
          </a:p>
        </p:txBody>
      </p:sp>
      <p:sp>
        <p:nvSpPr>
          <p:cNvPr id="16" name="TextBox 15"/>
          <p:cNvSpPr txBox="1"/>
          <p:nvPr/>
        </p:nvSpPr>
        <p:spPr>
          <a:xfrm>
            <a:off x="1892808" y="8143955"/>
            <a:ext cx="6720840" cy="692497"/>
          </a:xfrm>
          <a:prstGeom prst="rect">
            <a:avLst/>
          </a:prstGeom>
          <a:noFill/>
        </p:spPr>
        <p:txBody>
          <a:bodyPr wrap="square" lIns="0" tIns="0" rIns="0" bIns="0">
            <a:spAutoFit/>
          </a:bodyPr>
          <a:lstStyle/>
          <a:p>
            <a:pPr defTabSz="685800">
              <a:defRPr sz="1500" b="0">
                <a:solidFill>
                  <a:srgbClr val="0C0C0C"/>
                </a:solidFill>
                <a:latin typeface="Arial"/>
              </a:defRPr>
            </a:pPr>
            <a:r>
              <a:rPr sz="2250" dirty="0">
                <a:solidFill>
                  <a:srgbClr val="0C0C0C"/>
                </a:solidFill>
                <a:latin typeface="Arial"/>
              </a:rPr>
              <a:t>Used </a:t>
            </a:r>
            <a:r>
              <a:rPr sz="2250" dirty="0" err="1">
                <a:solidFill>
                  <a:srgbClr val="0C0C0C"/>
                </a:solidFill>
                <a:latin typeface="Arial"/>
              </a:rPr>
              <a:t>OpenRefine</a:t>
            </a:r>
            <a:r>
              <a:rPr sz="2250" dirty="0">
                <a:solidFill>
                  <a:srgbClr val="0C0C0C"/>
                </a:solidFill>
                <a:latin typeface="Arial"/>
              </a:rPr>
              <a:t> to reconcile relevant</a:t>
            </a:r>
            <a:br>
              <a:rPr sz="2250" dirty="0">
                <a:solidFill>
                  <a:srgbClr val="0C0C0C"/>
                </a:solidFill>
                <a:latin typeface="Arial"/>
              </a:rPr>
            </a:br>
            <a:r>
              <a:rPr sz="2250" dirty="0">
                <a:solidFill>
                  <a:srgbClr val="0C0C0C"/>
                </a:solidFill>
                <a:latin typeface="Arial"/>
              </a:rPr>
              <a:t>entities with </a:t>
            </a:r>
            <a:r>
              <a:rPr sz="2250" dirty="0" err="1">
                <a:solidFill>
                  <a:srgbClr val="0C0C0C"/>
                </a:solidFill>
                <a:latin typeface="Arial"/>
              </a:rPr>
              <a:t>Wikidata</a:t>
            </a:r>
            <a:r>
              <a:rPr sz="2250" dirty="0">
                <a:solidFill>
                  <a:srgbClr val="0C0C0C"/>
                </a:solidFill>
                <a:latin typeface="Arial"/>
              </a:rPr>
              <a:t>.</a:t>
            </a:r>
          </a:p>
        </p:txBody>
      </p:sp>
      <p:sp>
        <p:nvSpPr>
          <p:cNvPr id="17" name="Rounded Rectangle 16"/>
          <p:cNvSpPr/>
          <p:nvPr/>
        </p:nvSpPr>
        <p:spPr>
          <a:xfrm>
            <a:off x="9360408" y="1803654"/>
            <a:ext cx="8023860" cy="1440180"/>
          </a:xfrm>
          <a:prstGeom prst="roundRect">
            <a:avLst/>
          </a:prstGeom>
          <a:solidFill>
            <a:srgbClr val="EE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a:solidFill>
                <a:prstClr val="white"/>
              </a:solidFill>
              <a:latin typeface="Calibri"/>
            </a:endParaRPr>
          </a:p>
        </p:txBody>
      </p:sp>
      <p:sp>
        <p:nvSpPr>
          <p:cNvPr id="19" name="TextBox 18"/>
          <p:cNvSpPr txBox="1"/>
          <p:nvPr/>
        </p:nvSpPr>
        <p:spPr>
          <a:xfrm>
            <a:off x="11225784" y="1968246"/>
            <a:ext cx="5760720" cy="369332"/>
          </a:xfrm>
          <a:prstGeom prst="rect">
            <a:avLst/>
          </a:prstGeom>
          <a:noFill/>
        </p:spPr>
        <p:txBody>
          <a:bodyPr wrap="square" lIns="0" tIns="0" rIns="0" bIns="0">
            <a:spAutoFit/>
          </a:bodyPr>
          <a:lstStyle/>
          <a:p>
            <a:pPr defTabSz="685800">
              <a:defRPr sz="1600" b="1">
                <a:solidFill>
                  <a:srgbClr val="0C0C0C"/>
                </a:solidFill>
                <a:latin typeface="Arial"/>
              </a:defRPr>
            </a:pPr>
            <a:r>
              <a:rPr sz="2400" b="1">
                <a:solidFill>
                  <a:srgbClr val="0C0C0C"/>
                </a:solidFill>
                <a:latin typeface="Arial"/>
              </a:rPr>
              <a:t>Two original CSV files</a:t>
            </a:r>
          </a:p>
        </p:txBody>
      </p:sp>
      <p:sp>
        <p:nvSpPr>
          <p:cNvPr id="20" name="TextBox 19"/>
          <p:cNvSpPr txBox="1"/>
          <p:nvPr/>
        </p:nvSpPr>
        <p:spPr>
          <a:xfrm>
            <a:off x="11225784" y="2434591"/>
            <a:ext cx="5829300" cy="507831"/>
          </a:xfrm>
          <a:prstGeom prst="rect">
            <a:avLst/>
          </a:prstGeom>
          <a:noFill/>
        </p:spPr>
        <p:txBody>
          <a:bodyPr wrap="square" lIns="0" tIns="0" rIns="0" bIns="0">
            <a:spAutoFit/>
          </a:bodyPr>
          <a:lstStyle/>
          <a:p>
            <a:pPr defTabSz="685800">
              <a:defRPr sz="1100" b="0">
                <a:solidFill>
                  <a:srgbClr val="0C0C0C"/>
                </a:solidFill>
                <a:latin typeface="Arial"/>
              </a:defRPr>
            </a:pPr>
            <a:r>
              <a:rPr sz="1650" dirty="0">
                <a:solidFill>
                  <a:srgbClr val="0C0C0C"/>
                </a:solidFill>
                <a:latin typeface="Arial"/>
              </a:rPr>
              <a:t>Player information + performance statistics</a:t>
            </a:r>
            <a:br>
              <a:rPr sz="1650" dirty="0">
                <a:solidFill>
                  <a:srgbClr val="0C0C0C"/>
                </a:solidFill>
                <a:latin typeface="Arial"/>
              </a:rPr>
            </a:br>
            <a:r>
              <a:rPr sz="1650" dirty="0">
                <a:solidFill>
                  <a:srgbClr val="0C0C0C"/>
                </a:solidFill>
                <a:latin typeface="Arial"/>
              </a:rPr>
              <a:t>(2024/2025 season)</a:t>
            </a:r>
          </a:p>
        </p:txBody>
      </p:sp>
      <p:sp>
        <p:nvSpPr>
          <p:cNvPr id="21" name="Rounded Rectangle 20"/>
          <p:cNvSpPr/>
          <p:nvPr/>
        </p:nvSpPr>
        <p:spPr>
          <a:xfrm>
            <a:off x="9360408" y="3847338"/>
            <a:ext cx="8023860" cy="1440180"/>
          </a:xfrm>
          <a:prstGeom prst="roundRect">
            <a:avLst/>
          </a:prstGeom>
          <a:solidFill>
            <a:srgbClr val="EE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a:solidFill>
                <a:prstClr val="white"/>
              </a:solidFill>
              <a:latin typeface="Calibri"/>
            </a:endParaRPr>
          </a:p>
        </p:txBody>
      </p:sp>
      <p:sp>
        <p:nvSpPr>
          <p:cNvPr id="23" name="TextBox 22"/>
          <p:cNvSpPr txBox="1"/>
          <p:nvPr/>
        </p:nvSpPr>
        <p:spPr>
          <a:xfrm>
            <a:off x="11225784" y="4011930"/>
            <a:ext cx="5760720" cy="369332"/>
          </a:xfrm>
          <a:prstGeom prst="rect">
            <a:avLst/>
          </a:prstGeom>
          <a:noFill/>
        </p:spPr>
        <p:txBody>
          <a:bodyPr wrap="square" lIns="0" tIns="0" rIns="0" bIns="0">
            <a:spAutoFit/>
          </a:bodyPr>
          <a:lstStyle/>
          <a:p>
            <a:pPr defTabSz="685800">
              <a:defRPr sz="1600" b="1">
                <a:solidFill>
                  <a:srgbClr val="0C0C0C"/>
                </a:solidFill>
                <a:latin typeface="Arial"/>
              </a:defRPr>
            </a:pPr>
            <a:r>
              <a:rPr sz="2400" b="1">
                <a:solidFill>
                  <a:srgbClr val="0C0C0C"/>
                </a:solidFill>
                <a:latin typeface="Arial"/>
              </a:rPr>
              <a:t>Select columns and merge</a:t>
            </a:r>
          </a:p>
        </p:txBody>
      </p:sp>
      <p:sp>
        <p:nvSpPr>
          <p:cNvPr id="24" name="TextBox 23"/>
          <p:cNvSpPr txBox="1"/>
          <p:nvPr/>
        </p:nvSpPr>
        <p:spPr>
          <a:xfrm>
            <a:off x="11225784" y="4478275"/>
            <a:ext cx="5829300" cy="507831"/>
          </a:xfrm>
          <a:prstGeom prst="rect">
            <a:avLst/>
          </a:prstGeom>
          <a:noFill/>
        </p:spPr>
        <p:txBody>
          <a:bodyPr wrap="square" lIns="0" tIns="0" rIns="0" bIns="0">
            <a:spAutoFit/>
          </a:bodyPr>
          <a:lstStyle/>
          <a:p>
            <a:pPr defTabSz="685800">
              <a:defRPr sz="1100" b="0">
                <a:solidFill>
                  <a:srgbClr val="0C0C0C"/>
                </a:solidFill>
                <a:latin typeface="Arial"/>
              </a:defRPr>
            </a:pPr>
            <a:r>
              <a:rPr sz="1650" dirty="0">
                <a:solidFill>
                  <a:srgbClr val="0C0C0C"/>
                </a:solidFill>
                <a:latin typeface="Arial"/>
              </a:rPr>
              <a:t>Remove </a:t>
            </a:r>
            <a:r>
              <a:rPr lang="en-US" sz="1650" dirty="0">
                <a:solidFill>
                  <a:srgbClr val="0C0C0C"/>
                </a:solidFill>
                <a:latin typeface="Arial"/>
              </a:rPr>
              <a:t>some</a:t>
            </a:r>
            <a:r>
              <a:rPr sz="1650" dirty="0">
                <a:solidFill>
                  <a:srgbClr val="0C0C0C"/>
                </a:solidFill>
                <a:latin typeface="Arial"/>
              </a:rPr>
              <a:t> columns</a:t>
            </a:r>
            <a:br>
              <a:rPr sz="1650" dirty="0">
                <a:solidFill>
                  <a:srgbClr val="0C0C0C"/>
                </a:solidFill>
                <a:latin typeface="Arial"/>
              </a:rPr>
            </a:br>
            <a:r>
              <a:rPr sz="1650" dirty="0">
                <a:solidFill>
                  <a:srgbClr val="0C0C0C"/>
                </a:solidFill>
                <a:latin typeface="Arial"/>
              </a:rPr>
              <a:t>Combine the selected data</a:t>
            </a:r>
          </a:p>
        </p:txBody>
      </p:sp>
      <p:sp>
        <p:nvSpPr>
          <p:cNvPr id="25" name="Rounded Rectangle 24"/>
          <p:cNvSpPr/>
          <p:nvPr/>
        </p:nvSpPr>
        <p:spPr>
          <a:xfrm>
            <a:off x="9360408" y="5891022"/>
            <a:ext cx="8023860" cy="1440180"/>
          </a:xfrm>
          <a:prstGeom prst="roundRect">
            <a:avLst/>
          </a:prstGeom>
          <a:solidFill>
            <a:srgbClr val="EE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dirty="0">
              <a:solidFill>
                <a:prstClr val="white"/>
              </a:solidFill>
              <a:latin typeface="Calibri"/>
            </a:endParaRPr>
          </a:p>
        </p:txBody>
      </p:sp>
      <p:sp>
        <p:nvSpPr>
          <p:cNvPr id="27" name="TextBox 26"/>
          <p:cNvSpPr txBox="1"/>
          <p:nvPr/>
        </p:nvSpPr>
        <p:spPr>
          <a:xfrm>
            <a:off x="11225784" y="6055614"/>
            <a:ext cx="5760720" cy="369332"/>
          </a:xfrm>
          <a:prstGeom prst="rect">
            <a:avLst/>
          </a:prstGeom>
          <a:noFill/>
        </p:spPr>
        <p:txBody>
          <a:bodyPr wrap="square" lIns="0" tIns="0" rIns="0" bIns="0">
            <a:spAutoFit/>
          </a:bodyPr>
          <a:lstStyle/>
          <a:p>
            <a:pPr defTabSz="685800">
              <a:defRPr sz="1600" b="1">
                <a:solidFill>
                  <a:srgbClr val="0C0C0C"/>
                </a:solidFill>
                <a:latin typeface="Arial"/>
              </a:defRPr>
            </a:pPr>
            <a:r>
              <a:rPr sz="2400" b="1">
                <a:solidFill>
                  <a:srgbClr val="0C0C0C"/>
                </a:solidFill>
                <a:latin typeface="Arial"/>
              </a:rPr>
              <a:t>Prepare and reconcile data</a:t>
            </a:r>
          </a:p>
        </p:txBody>
      </p:sp>
      <p:sp>
        <p:nvSpPr>
          <p:cNvPr id="28" name="TextBox 27"/>
          <p:cNvSpPr txBox="1"/>
          <p:nvPr/>
        </p:nvSpPr>
        <p:spPr>
          <a:xfrm>
            <a:off x="11225784" y="6521959"/>
            <a:ext cx="5829300" cy="507831"/>
          </a:xfrm>
          <a:prstGeom prst="rect">
            <a:avLst/>
          </a:prstGeom>
          <a:noFill/>
        </p:spPr>
        <p:txBody>
          <a:bodyPr wrap="square" lIns="0" tIns="0" rIns="0" bIns="0">
            <a:spAutoFit/>
          </a:bodyPr>
          <a:lstStyle/>
          <a:p>
            <a:pPr defTabSz="685800">
              <a:defRPr sz="1100" b="0">
                <a:solidFill>
                  <a:srgbClr val="0C0C0C"/>
                </a:solidFill>
                <a:latin typeface="Arial"/>
              </a:defRPr>
            </a:pPr>
            <a:r>
              <a:rPr sz="1650" dirty="0">
                <a:solidFill>
                  <a:srgbClr val="0C0C0C"/>
                </a:solidFill>
                <a:latin typeface="Arial"/>
              </a:rPr>
              <a:t>Clean and prepare the dataset</a:t>
            </a:r>
            <a:br>
              <a:rPr sz="1650" dirty="0">
                <a:solidFill>
                  <a:srgbClr val="0C0C0C"/>
                </a:solidFill>
                <a:latin typeface="Arial"/>
              </a:rPr>
            </a:br>
            <a:r>
              <a:rPr sz="1650" dirty="0">
                <a:solidFill>
                  <a:srgbClr val="0C0C0C"/>
                </a:solidFill>
                <a:latin typeface="Arial"/>
              </a:rPr>
              <a:t>Use </a:t>
            </a:r>
            <a:r>
              <a:rPr sz="1650" dirty="0" err="1">
                <a:solidFill>
                  <a:srgbClr val="0C0C0C"/>
                </a:solidFill>
                <a:latin typeface="Arial"/>
              </a:rPr>
              <a:t>OpenRefine</a:t>
            </a:r>
            <a:r>
              <a:rPr sz="1650" dirty="0">
                <a:solidFill>
                  <a:srgbClr val="0C0C0C"/>
                </a:solidFill>
                <a:latin typeface="Arial"/>
              </a:rPr>
              <a:t> to link entities with </a:t>
            </a:r>
            <a:r>
              <a:rPr sz="1650" dirty="0" err="1">
                <a:solidFill>
                  <a:srgbClr val="0C0C0C"/>
                </a:solidFill>
                <a:latin typeface="Arial"/>
              </a:rPr>
              <a:t>Wikidata</a:t>
            </a:r>
            <a:endParaRPr sz="1650" dirty="0">
              <a:solidFill>
                <a:srgbClr val="0C0C0C"/>
              </a:solidFill>
              <a:latin typeface="Arial"/>
            </a:endParaRPr>
          </a:p>
        </p:txBody>
      </p:sp>
      <p:cxnSp>
        <p:nvCxnSpPr>
          <p:cNvPr id="29" name="Connector 28"/>
          <p:cNvCxnSpPr/>
          <p:nvPr/>
        </p:nvCxnSpPr>
        <p:spPr>
          <a:xfrm>
            <a:off x="13379196" y="3243834"/>
            <a:ext cx="0" cy="562356"/>
          </a:xfrm>
          <a:prstGeom prst="line">
            <a:avLst/>
          </a:prstGeom>
          <a:ln w="25400">
            <a:solidFill>
              <a:srgbClr val="0C0C0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379196" y="5287518"/>
            <a:ext cx="0" cy="562356"/>
          </a:xfrm>
          <a:prstGeom prst="line">
            <a:avLst/>
          </a:prstGeom>
          <a:ln w="25400">
            <a:solidFill>
              <a:srgbClr val="0C0C0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360408" y="7948422"/>
            <a:ext cx="8023860" cy="1440180"/>
          </a:xfrm>
          <a:prstGeom prst="round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sz="2700">
              <a:solidFill>
                <a:prstClr val="white"/>
              </a:solidFill>
              <a:latin typeface="Calibri"/>
            </a:endParaRPr>
          </a:p>
        </p:txBody>
      </p:sp>
      <p:sp>
        <p:nvSpPr>
          <p:cNvPr id="33" name="TextBox 32"/>
          <p:cNvSpPr txBox="1"/>
          <p:nvPr/>
        </p:nvSpPr>
        <p:spPr>
          <a:xfrm>
            <a:off x="11225784" y="8167878"/>
            <a:ext cx="5760720" cy="369332"/>
          </a:xfrm>
          <a:prstGeom prst="rect">
            <a:avLst/>
          </a:prstGeom>
          <a:noFill/>
        </p:spPr>
        <p:txBody>
          <a:bodyPr wrap="square" lIns="0" tIns="0" rIns="0" bIns="0">
            <a:spAutoFit/>
          </a:bodyPr>
          <a:lstStyle/>
          <a:p>
            <a:pPr defTabSz="685800">
              <a:defRPr sz="1600" b="1">
                <a:solidFill>
                  <a:srgbClr val="FFFFFF"/>
                </a:solidFill>
                <a:latin typeface="Arial"/>
              </a:defRPr>
            </a:pPr>
            <a:r>
              <a:rPr sz="2400" b="1">
                <a:solidFill>
                  <a:srgbClr val="FFFFFF"/>
                </a:solidFill>
                <a:latin typeface="Arial"/>
              </a:rPr>
              <a:t>One prepared CSV file</a:t>
            </a:r>
          </a:p>
        </p:txBody>
      </p:sp>
      <p:sp>
        <p:nvSpPr>
          <p:cNvPr id="34" name="TextBox 33"/>
          <p:cNvSpPr txBox="1"/>
          <p:nvPr/>
        </p:nvSpPr>
        <p:spPr>
          <a:xfrm>
            <a:off x="11225784" y="8634222"/>
            <a:ext cx="5829300" cy="253916"/>
          </a:xfrm>
          <a:prstGeom prst="rect">
            <a:avLst/>
          </a:prstGeom>
          <a:noFill/>
        </p:spPr>
        <p:txBody>
          <a:bodyPr wrap="square" lIns="0" tIns="0" rIns="0" bIns="0">
            <a:spAutoFit/>
          </a:bodyPr>
          <a:lstStyle/>
          <a:p>
            <a:pPr defTabSz="685800">
              <a:defRPr sz="1100" b="0">
                <a:solidFill>
                  <a:srgbClr val="D2D2D2"/>
                </a:solidFill>
                <a:latin typeface="Arial"/>
              </a:defRPr>
            </a:pPr>
            <a:r>
              <a:rPr sz="1650" dirty="0">
                <a:solidFill>
                  <a:srgbClr val="D2D2D2"/>
                </a:solidFill>
                <a:latin typeface="Arial"/>
              </a:rPr>
              <a:t>10 relevant columns for the project</a:t>
            </a:r>
          </a:p>
        </p:txBody>
      </p:sp>
      <p:cxnSp>
        <p:nvCxnSpPr>
          <p:cNvPr id="35" name="Connector 34"/>
          <p:cNvCxnSpPr/>
          <p:nvPr/>
        </p:nvCxnSpPr>
        <p:spPr>
          <a:xfrm>
            <a:off x="13379196" y="7358634"/>
            <a:ext cx="0" cy="534924"/>
          </a:xfrm>
          <a:prstGeom prst="line">
            <a:avLst/>
          </a:prstGeom>
          <a:ln w="25400">
            <a:solidFill>
              <a:srgbClr val="0C0C0C"/>
            </a:solidFill>
          </a:ln>
        </p:spPr>
        <p:style>
          <a:lnRef idx="2">
            <a:schemeClr val="accent1"/>
          </a:lnRef>
          <a:fillRef idx="0">
            <a:schemeClr val="accent1"/>
          </a:fillRef>
          <a:effectRef idx="1">
            <a:schemeClr val="accent1"/>
          </a:effectRef>
          <a:fontRef idx="minor">
            <a:schemeClr val="tx1"/>
          </a:fontRef>
        </p:style>
      </p:cxnSp>
      <p:pic>
        <p:nvPicPr>
          <p:cNvPr id="37" name="Graphic 36" descr="Document with solid fill">
            <a:extLst>
              <a:ext uri="{FF2B5EF4-FFF2-40B4-BE49-F238E27FC236}">
                <a16:creationId xmlns:a16="http://schemas.microsoft.com/office/drawing/2014/main" id="{E65EC39B-4D6E-7E3B-8205-BCF86C63DC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89948" y="2063351"/>
            <a:ext cx="914400" cy="914400"/>
          </a:xfrm>
          <a:prstGeom prst="rect">
            <a:avLst/>
          </a:prstGeom>
        </p:spPr>
      </p:pic>
      <p:pic>
        <p:nvPicPr>
          <p:cNvPr id="39" name="Graphic 38" descr="Document with solid fill">
            <a:extLst>
              <a:ext uri="{FF2B5EF4-FFF2-40B4-BE49-F238E27FC236}">
                <a16:creationId xmlns:a16="http://schemas.microsoft.com/office/drawing/2014/main" id="{D8065AEA-1F4C-E331-078E-3180106C9B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80904" y="2063351"/>
            <a:ext cx="914400" cy="914400"/>
          </a:xfrm>
          <a:prstGeom prst="rect">
            <a:avLst/>
          </a:prstGeom>
        </p:spPr>
      </p:pic>
      <p:sp>
        <p:nvSpPr>
          <p:cNvPr id="41" name="Freeform 6">
            <a:extLst>
              <a:ext uri="{FF2B5EF4-FFF2-40B4-BE49-F238E27FC236}">
                <a16:creationId xmlns:a16="http://schemas.microsoft.com/office/drawing/2014/main" id="{FBC745BB-94DD-0555-059A-7B71670DCEEB}"/>
              </a:ext>
            </a:extLst>
          </p:cNvPr>
          <p:cNvSpPr/>
          <p:nvPr/>
        </p:nvSpPr>
        <p:spPr>
          <a:xfrm>
            <a:off x="9711151" y="4057975"/>
            <a:ext cx="1163890" cy="1107299"/>
          </a:xfrm>
          <a:custGeom>
            <a:avLst/>
            <a:gdLst/>
            <a:ahLst/>
            <a:cxnLst/>
            <a:rect l="l" t="t" r="r" b="b"/>
            <a:pathLst>
              <a:path w="1590167" h="1486806">
                <a:moveTo>
                  <a:pt x="0" y="0"/>
                </a:moveTo>
                <a:lnTo>
                  <a:pt x="1590167" y="0"/>
                </a:lnTo>
                <a:lnTo>
                  <a:pt x="1590167" y="1486806"/>
                </a:lnTo>
                <a:lnTo>
                  <a:pt x="0" y="14868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a:p>
        </p:txBody>
      </p:sp>
      <p:pic>
        <p:nvPicPr>
          <p:cNvPr id="43" name="Graphic 42" descr="Document with solid fill">
            <a:extLst>
              <a:ext uri="{FF2B5EF4-FFF2-40B4-BE49-F238E27FC236}">
                <a16:creationId xmlns:a16="http://schemas.microsoft.com/office/drawing/2014/main" id="{85E0C55B-A67E-E79A-288E-5FA3349B8F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35896" y="8178244"/>
            <a:ext cx="914400" cy="914400"/>
          </a:xfrm>
          <a:prstGeom prst="rect">
            <a:avLst/>
          </a:prstGeom>
        </p:spPr>
      </p:pic>
      <p:pic>
        <p:nvPicPr>
          <p:cNvPr id="51" name="Graphic 50" descr="Database with solid fill">
            <a:extLst>
              <a:ext uri="{FF2B5EF4-FFF2-40B4-BE49-F238E27FC236}">
                <a16:creationId xmlns:a16="http://schemas.microsoft.com/office/drawing/2014/main" id="{6DB488B6-EA6F-0E02-DB4F-0AC4A2419A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89948" y="6122345"/>
            <a:ext cx="914400" cy="914400"/>
          </a:xfrm>
          <a:prstGeom prst="rect">
            <a:avLst/>
          </a:prstGeom>
        </p:spPr>
      </p:pic>
      <p:pic>
        <p:nvPicPr>
          <p:cNvPr id="53" name="Graphic 52" descr="Single gear with solid fill">
            <a:extLst>
              <a:ext uri="{FF2B5EF4-FFF2-40B4-BE49-F238E27FC236}">
                <a16:creationId xmlns:a16="http://schemas.microsoft.com/office/drawing/2014/main" id="{670639E2-FF0B-FE7D-E1A4-D480DDC33D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46030" y="6147055"/>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FF1C363-BF5C-54EE-EE80-C41B237A1E93}"/>
              </a:ext>
            </a:extLst>
          </p:cNvPr>
          <p:cNvPicPr>
            <a:picLocks noChangeAspect="1"/>
          </p:cNvPicPr>
          <p:nvPr/>
        </p:nvPicPr>
        <p:blipFill>
          <a:blip>
            <a:extLst>
              <a:ext uri="{96DAC541-7B7A-43D3-8B79-37D633B846F1}">
                <asvg:svgBlip xmlns:asvg="http://schemas.microsoft.com/office/drawing/2016/SVG/main" r:embed="rId3"/>
              </a:ext>
            </a:extLst>
          </a:blip>
          <a:srcRect l="21354" t="6031" r="42187" b="12137"/>
          <a:stretch>
            <a:fillRect/>
          </a:stretch>
        </p:blipFill>
        <p:spPr>
          <a:xfrm>
            <a:off x="7465896" y="0"/>
            <a:ext cx="10822104" cy="10358303"/>
          </a:xfrm>
          <a:prstGeom prst="rect">
            <a:avLst/>
          </a:prstGeom>
        </p:spPr>
      </p:pic>
      <p:grpSp>
        <p:nvGrpSpPr>
          <p:cNvPr id="87" name="Group 15">
            <a:extLst>
              <a:ext uri="{FF2B5EF4-FFF2-40B4-BE49-F238E27FC236}">
                <a16:creationId xmlns:a16="http://schemas.microsoft.com/office/drawing/2014/main" id="{58F0309F-B9F0-C0EC-A005-C44EC9A33A2B}"/>
              </a:ext>
            </a:extLst>
          </p:cNvPr>
          <p:cNvGrpSpPr/>
          <p:nvPr/>
        </p:nvGrpSpPr>
        <p:grpSpPr>
          <a:xfrm>
            <a:off x="-1600200" y="1181100"/>
            <a:ext cx="10216612" cy="1066800"/>
            <a:chOff x="0" y="0"/>
            <a:chExt cx="2833685" cy="167471"/>
          </a:xfrm>
        </p:grpSpPr>
        <p:sp>
          <p:nvSpPr>
            <p:cNvPr id="88" name="Freeform 16">
              <a:extLst>
                <a:ext uri="{FF2B5EF4-FFF2-40B4-BE49-F238E27FC236}">
                  <a16:creationId xmlns:a16="http://schemas.microsoft.com/office/drawing/2014/main" id="{D41F6D77-FA83-59F1-B583-F75133813CA4}"/>
                </a:ext>
              </a:extLst>
            </p:cNvPr>
            <p:cNvSpPr/>
            <p:nvPr/>
          </p:nvSpPr>
          <p:spPr>
            <a:xfrm>
              <a:off x="0" y="0"/>
              <a:ext cx="2833685" cy="167471"/>
            </a:xfrm>
            <a:custGeom>
              <a:avLst/>
              <a:gdLst/>
              <a:ahLst/>
              <a:cxnLst/>
              <a:rect l="l" t="t" r="r" b="b"/>
              <a:pathLst>
                <a:path w="2833685" h="167471">
                  <a:moveTo>
                    <a:pt x="22733" y="0"/>
                  </a:moveTo>
                  <a:lnTo>
                    <a:pt x="2810951" y="0"/>
                  </a:lnTo>
                  <a:cubicBezTo>
                    <a:pt x="2816981" y="0"/>
                    <a:pt x="2822763" y="2395"/>
                    <a:pt x="2827026" y="6658"/>
                  </a:cubicBezTo>
                  <a:cubicBezTo>
                    <a:pt x="2831289" y="10922"/>
                    <a:pt x="2833685" y="16704"/>
                    <a:pt x="2833685" y="22733"/>
                  </a:cubicBezTo>
                  <a:lnTo>
                    <a:pt x="2833685" y="144738"/>
                  </a:lnTo>
                  <a:cubicBezTo>
                    <a:pt x="2833685" y="157293"/>
                    <a:pt x="2823507" y="167471"/>
                    <a:pt x="2810951" y="167471"/>
                  </a:cubicBezTo>
                  <a:lnTo>
                    <a:pt x="22733" y="167471"/>
                  </a:lnTo>
                  <a:cubicBezTo>
                    <a:pt x="16704" y="167471"/>
                    <a:pt x="10922" y="165076"/>
                    <a:pt x="6658" y="160813"/>
                  </a:cubicBezTo>
                  <a:cubicBezTo>
                    <a:pt x="2395" y="156549"/>
                    <a:pt x="0" y="150767"/>
                    <a:pt x="0" y="144738"/>
                  </a:cubicBezTo>
                  <a:lnTo>
                    <a:pt x="0" y="22733"/>
                  </a:lnTo>
                  <a:cubicBezTo>
                    <a:pt x="0" y="16704"/>
                    <a:pt x="2395" y="10922"/>
                    <a:pt x="6658" y="6658"/>
                  </a:cubicBezTo>
                  <a:cubicBezTo>
                    <a:pt x="10922" y="2395"/>
                    <a:pt x="16704" y="0"/>
                    <a:pt x="22733" y="0"/>
                  </a:cubicBezTo>
                  <a:close/>
                </a:path>
              </a:pathLst>
            </a:custGeom>
            <a:solidFill>
              <a:srgbClr val="000000"/>
            </a:solidFill>
          </p:spPr>
          <p:txBody>
            <a:bodyPr/>
            <a:lstStyle/>
            <a:p>
              <a:endParaRPr lang="el-GR" dirty="0"/>
            </a:p>
          </p:txBody>
        </p:sp>
        <p:sp>
          <p:nvSpPr>
            <p:cNvPr id="89" name="TextBox 17">
              <a:extLst>
                <a:ext uri="{FF2B5EF4-FFF2-40B4-BE49-F238E27FC236}">
                  <a16:creationId xmlns:a16="http://schemas.microsoft.com/office/drawing/2014/main" id="{FEC1FA8B-6B33-D026-F999-84EA5C8FE942}"/>
                </a:ext>
              </a:extLst>
            </p:cNvPr>
            <p:cNvSpPr txBox="1"/>
            <p:nvPr/>
          </p:nvSpPr>
          <p:spPr>
            <a:xfrm>
              <a:off x="0" y="-38100"/>
              <a:ext cx="2833685" cy="205571"/>
            </a:xfrm>
            <a:prstGeom prst="rect">
              <a:avLst/>
            </a:prstGeom>
          </p:spPr>
          <p:txBody>
            <a:bodyPr lIns="50800" tIns="50800" rIns="50800" bIns="50800" rtlCol="0" anchor="ctr"/>
            <a:lstStyle/>
            <a:p>
              <a:pPr algn="ctr">
                <a:lnSpc>
                  <a:spcPts val="2659"/>
                </a:lnSpc>
                <a:spcBef>
                  <a:spcPct val="0"/>
                </a:spcBef>
              </a:pPr>
              <a:endParaRPr/>
            </a:p>
          </p:txBody>
        </p:sp>
      </p:grpSp>
      <p:sp>
        <p:nvSpPr>
          <p:cNvPr id="91" name="TextBox 23">
            <a:extLst>
              <a:ext uri="{FF2B5EF4-FFF2-40B4-BE49-F238E27FC236}">
                <a16:creationId xmlns:a16="http://schemas.microsoft.com/office/drawing/2014/main" id="{08277FB4-DFD3-3554-F7CB-282932E0E208}"/>
              </a:ext>
            </a:extLst>
          </p:cNvPr>
          <p:cNvSpPr txBox="1"/>
          <p:nvPr/>
        </p:nvSpPr>
        <p:spPr>
          <a:xfrm>
            <a:off x="-563333" y="1312082"/>
            <a:ext cx="9707333" cy="804835"/>
          </a:xfrm>
          <a:prstGeom prst="rect">
            <a:avLst/>
          </a:prstGeom>
        </p:spPr>
        <p:txBody>
          <a:bodyPr lIns="0" tIns="0" rIns="0" bIns="0" rtlCol="0" anchor="t">
            <a:spAutoFit/>
          </a:bodyPr>
          <a:lstStyle/>
          <a:p>
            <a:pPr algn="ctr">
              <a:lnSpc>
                <a:spcPts val="6562"/>
              </a:lnSpc>
            </a:pPr>
            <a:r>
              <a:rPr lang="en-US" sz="4687" dirty="0">
                <a:solidFill>
                  <a:srgbClr val="FFFFFF"/>
                </a:solidFill>
                <a:latin typeface="Archivo Black"/>
                <a:ea typeface="Archivo Black"/>
                <a:cs typeface="Archivo Black"/>
                <a:sym typeface="Archivo Black"/>
              </a:rPr>
              <a:t>Semantic Data Model</a:t>
            </a:r>
          </a:p>
        </p:txBody>
      </p:sp>
      <p:sp>
        <p:nvSpPr>
          <p:cNvPr id="93" name="TextBox 92">
            <a:extLst>
              <a:ext uri="{FF2B5EF4-FFF2-40B4-BE49-F238E27FC236}">
                <a16:creationId xmlns:a16="http://schemas.microsoft.com/office/drawing/2014/main" id="{E9BBE7A8-9CA5-3307-2BB9-B44ACED7D2DA}"/>
              </a:ext>
            </a:extLst>
          </p:cNvPr>
          <p:cNvSpPr txBox="1"/>
          <p:nvPr/>
        </p:nvSpPr>
        <p:spPr>
          <a:xfrm>
            <a:off x="654333" y="2621581"/>
            <a:ext cx="7272000" cy="7097328"/>
          </a:xfrm>
          <a:prstGeom prst="rect">
            <a:avLst/>
          </a:prstGeom>
          <a:noFill/>
        </p:spPr>
        <p:txBody>
          <a:bodyPr wrap="square">
            <a:spAutoFit/>
          </a:bodyPr>
          <a:lstStyle/>
          <a:p>
            <a:pPr marL="457200" lvl="0" indent="-457200">
              <a:spcBef>
                <a:spcPts val="2400"/>
              </a:spcBef>
              <a:buFont typeface="Arial" panose="020B0604020202020204" pitchFamily="34" charset="0"/>
              <a:buChar char="•"/>
            </a:pPr>
            <a:r>
              <a:rPr lang="en-US" sz="2680" b="1" dirty="0">
                <a:latin typeface="Roboto" panose="02000000000000000000" pitchFamily="2" charset="0"/>
                <a:ea typeface="Roboto" panose="02000000000000000000" pitchFamily="2" charset="0"/>
                <a:cs typeface="Roboto" panose="02000000000000000000" pitchFamily="2" charset="0"/>
              </a:rPr>
              <a:t>Main Class: </a:t>
            </a:r>
            <a:r>
              <a:rPr lang="en-US" sz="2680" dirty="0">
                <a:latin typeface="Roboto" panose="02000000000000000000" pitchFamily="2" charset="0"/>
                <a:ea typeface="Roboto" panose="02000000000000000000" pitchFamily="2" charset="0"/>
                <a:cs typeface="Roboto" panose="02000000000000000000" pitchFamily="2" charset="0"/>
              </a:rPr>
              <a:t>Football Player, defined for the project.</a:t>
            </a:r>
          </a:p>
          <a:p>
            <a:pPr marL="457200" lvl="0" indent="-457200">
              <a:spcBef>
                <a:spcPts val="2400"/>
              </a:spcBef>
              <a:buFont typeface="Arial" panose="020B0604020202020204" pitchFamily="34" charset="0"/>
              <a:buChar char="•"/>
            </a:pPr>
            <a:r>
              <a:rPr lang="en-US" sz="2680" b="1" dirty="0">
                <a:latin typeface="Roboto" panose="02000000000000000000" pitchFamily="2" charset="0"/>
                <a:ea typeface="Roboto" panose="02000000000000000000" pitchFamily="2" charset="0"/>
                <a:cs typeface="Roboto" panose="02000000000000000000" pitchFamily="2" charset="0"/>
              </a:rPr>
              <a:t>External Classes: </a:t>
            </a:r>
            <a:r>
              <a:rPr lang="en-US" sz="2680" dirty="0">
                <a:latin typeface="Roboto" panose="02000000000000000000" pitchFamily="2" charset="0"/>
                <a:ea typeface="Roboto" panose="02000000000000000000" pitchFamily="2" charset="0"/>
                <a:cs typeface="Roboto" panose="02000000000000000000" pitchFamily="2" charset="0"/>
              </a:rPr>
              <a:t>Country, Sports Club, Football Position and Laterality, reused from external vocabularies.</a:t>
            </a:r>
          </a:p>
          <a:p>
            <a:pPr marL="457200" lvl="0" indent="-457200">
              <a:spcBef>
                <a:spcPts val="2400"/>
              </a:spcBef>
              <a:buFont typeface="Arial" panose="020B0604020202020204" pitchFamily="34" charset="0"/>
              <a:buChar char="•"/>
            </a:pPr>
            <a:r>
              <a:rPr lang="en-US" sz="2680" b="1" dirty="0">
                <a:latin typeface="Roboto" panose="02000000000000000000" pitchFamily="2" charset="0"/>
                <a:ea typeface="Roboto" panose="02000000000000000000" pitchFamily="2" charset="0"/>
                <a:cs typeface="Roboto" panose="02000000000000000000" pitchFamily="2" charset="0"/>
              </a:rPr>
              <a:t>Reused Properties: </a:t>
            </a:r>
            <a:r>
              <a:rPr lang="en-US" sz="2680" dirty="0">
                <a:latin typeface="Roboto" panose="02000000000000000000" pitchFamily="2" charset="0"/>
                <a:ea typeface="Roboto" panose="02000000000000000000" pitchFamily="2" charset="0"/>
                <a:cs typeface="Roboto" panose="02000000000000000000" pitchFamily="2" charset="0"/>
              </a:rPr>
              <a:t>Country for sport, Member of, Position played on team, Footedness, name and date of birth.</a:t>
            </a:r>
          </a:p>
          <a:p>
            <a:pPr marL="457200" lvl="0" indent="-457200">
              <a:spcBef>
                <a:spcPts val="2400"/>
              </a:spcBef>
              <a:buFont typeface="Arial" panose="020B0604020202020204" pitchFamily="34" charset="0"/>
              <a:buChar char="•"/>
            </a:pPr>
            <a:r>
              <a:rPr lang="en-US" sz="2680" b="1" dirty="0">
                <a:latin typeface="Roboto" panose="02000000000000000000" pitchFamily="2" charset="0"/>
                <a:ea typeface="Roboto" panose="02000000000000000000" pitchFamily="2" charset="0"/>
                <a:cs typeface="Roboto" panose="02000000000000000000" pitchFamily="2" charset="0"/>
              </a:rPr>
              <a:t>Project-Specific Properties: </a:t>
            </a:r>
            <a:r>
              <a:rPr lang="en-US" sz="2680" dirty="0">
                <a:latin typeface="Roboto" panose="02000000000000000000" pitchFamily="2" charset="0"/>
                <a:ea typeface="Roboto" panose="02000000000000000000" pitchFamily="2" charset="0"/>
                <a:cs typeface="Roboto" panose="02000000000000000000" pitchFamily="2" charset="0"/>
              </a:rPr>
              <a:t>goals, assists given, expected Goals (</a:t>
            </a:r>
            <a:r>
              <a:rPr lang="en-US" sz="2680" dirty="0" err="1">
                <a:latin typeface="Roboto" panose="02000000000000000000" pitchFamily="2" charset="0"/>
                <a:ea typeface="Roboto" panose="02000000000000000000" pitchFamily="2" charset="0"/>
                <a:cs typeface="Roboto" panose="02000000000000000000" pitchFamily="2" charset="0"/>
              </a:rPr>
              <a:t>xG</a:t>
            </a:r>
            <a:r>
              <a:rPr lang="en-US" sz="2680" dirty="0">
                <a:latin typeface="Roboto" panose="02000000000000000000" pitchFamily="2" charset="0"/>
                <a:ea typeface="Roboto" panose="02000000000000000000" pitchFamily="2" charset="0"/>
                <a:cs typeface="Roboto" panose="02000000000000000000" pitchFamily="2" charset="0"/>
              </a:rPr>
              <a:t>) and expected Assists (</a:t>
            </a:r>
            <a:r>
              <a:rPr lang="en-US" sz="2680" dirty="0" err="1">
                <a:latin typeface="Roboto" panose="02000000000000000000" pitchFamily="2" charset="0"/>
                <a:ea typeface="Roboto" panose="02000000000000000000" pitchFamily="2" charset="0"/>
                <a:cs typeface="Roboto" panose="02000000000000000000" pitchFamily="2" charset="0"/>
              </a:rPr>
              <a:t>xA</a:t>
            </a:r>
            <a:r>
              <a:rPr lang="en-US" sz="2680" dirty="0">
                <a:latin typeface="Roboto" panose="02000000000000000000" pitchFamily="2" charset="0"/>
                <a:ea typeface="Roboto" panose="02000000000000000000" pitchFamily="2" charset="0"/>
                <a:cs typeface="Roboto" panose="02000000000000000000" pitchFamily="2" charset="0"/>
              </a:rPr>
              <a:t>).</a:t>
            </a:r>
          </a:p>
          <a:p>
            <a:pPr marL="457200" lvl="0" indent="-457200">
              <a:spcBef>
                <a:spcPts val="2400"/>
              </a:spcBef>
              <a:buFont typeface="Arial" panose="020B0604020202020204" pitchFamily="34" charset="0"/>
              <a:buChar char="•"/>
            </a:pPr>
            <a:r>
              <a:rPr lang="en-US" sz="2680" b="1" dirty="0">
                <a:latin typeface="Roboto" panose="02000000000000000000" pitchFamily="2" charset="0"/>
                <a:ea typeface="Roboto" panose="02000000000000000000" pitchFamily="2" charset="0"/>
                <a:cs typeface="Roboto" panose="02000000000000000000" pitchFamily="2" charset="0"/>
              </a:rPr>
              <a:t>Implementation: </a:t>
            </a:r>
            <a:r>
              <a:rPr lang="en-US" sz="2680" dirty="0">
                <a:latin typeface="Roboto" panose="02000000000000000000" pitchFamily="2" charset="0"/>
                <a:ea typeface="Roboto" panose="02000000000000000000" pitchFamily="2" charset="0"/>
                <a:cs typeface="Roboto" panose="02000000000000000000" pitchFamily="2" charset="0"/>
              </a:rPr>
              <a:t>The ontology was developed in Protégé and </a:t>
            </a:r>
            <a:r>
              <a:rPr lang="en-US" sz="2680" dirty="0" err="1">
                <a:latin typeface="Roboto" panose="02000000000000000000" pitchFamily="2" charset="0"/>
                <a:ea typeface="Roboto" panose="02000000000000000000" pitchFamily="2" charset="0"/>
                <a:cs typeface="Roboto" panose="02000000000000000000" pitchFamily="2" charset="0"/>
              </a:rPr>
              <a:t>visualised</a:t>
            </a:r>
            <a:r>
              <a:rPr lang="en-US" sz="2680" dirty="0">
                <a:latin typeface="Roboto" panose="02000000000000000000" pitchFamily="2" charset="0"/>
                <a:ea typeface="Roboto" panose="02000000000000000000" pitchFamily="2" charset="0"/>
                <a:cs typeface="Roboto" panose="02000000000000000000" pitchFamily="2" charset="0"/>
              </a:rPr>
              <a:t> using </a:t>
            </a:r>
            <a:r>
              <a:rPr lang="en-US" sz="2680" dirty="0" err="1">
                <a:latin typeface="Roboto" panose="02000000000000000000" pitchFamily="2" charset="0"/>
                <a:ea typeface="Roboto" panose="02000000000000000000" pitchFamily="2" charset="0"/>
                <a:cs typeface="Roboto" panose="02000000000000000000" pitchFamily="2" charset="0"/>
              </a:rPr>
              <a:t>WebVOWL</a:t>
            </a:r>
            <a:r>
              <a:rPr lang="en-US" sz="2680" dirty="0">
                <a:latin typeface="Roboto" panose="02000000000000000000" pitchFamily="2" charset="0"/>
                <a:ea typeface="Roboto" panose="02000000000000000000" pitchFamily="2" charset="0"/>
                <a:cs typeface="Roboto" panose="02000000000000000000" pitchFamily="2" charset="0"/>
              </a:rPr>
              <a:t>.</a:t>
            </a:r>
          </a:p>
        </p:txBody>
      </p:sp>
      <p:sp>
        <p:nvSpPr>
          <p:cNvPr id="94" name="TextBox 93">
            <a:extLst>
              <a:ext uri="{FF2B5EF4-FFF2-40B4-BE49-F238E27FC236}">
                <a16:creationId xmlns:a16="http://schemas.microsoft.com/office/drawing/2014/main" id="{3B02B49F-CB31-28A2-28DF-3AD922D08A46}"/>
              </a:ext>
            </a:extLst>
          </p:cNvPr>
          <p:cNvSpPr txBox="1"/>
          <p:nvPr/>
        </p:nvSpPr>
        <p:spPr>
          <a:xfrm>
            <a:off x="4648200" y="5905500"/>
            <a:ext cx="184731" cy="369332"/>
          </a:xfrm>
          <a:prstGeom prst="rect">
            <a:avLst/>
          </a:prstGeom>
          <a:noFill/>
        </p:spPr>
        <p:txBody>
          <a:bodyPr wrap="none" rtlCol="0">
            <a:spAutoFit/>
          </a:bodyPr>
          <a:lstStyle/>
          <a:p>
            <a:endParaRPr lang="el-GR" dirty="0"/>
          </a:p>
        </p:txBody>
      </p:sp>
    </p:spTree>
    <p:extLst>
      <p:ext uri="{BB962C8B-B14F-4D97-AF65-F5344CB8AC3E}">
        <p14:creationId xmlns:p14="http://schemas.microsoft.com/office/powerpoint/2010/main" val="90361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C0FBACAA-16B0-98C5-1BC1-4C42EE20C8F6}"/>
              </a:ext>
            </a:extLst>
          </p:cNvPr>
          <p:cNvSpPr/>
          <p:nvPr/>
        </p:nvSpPr>
        <p:spPr>
          <a:xfrm>
            <a:off x="1600200" y="2019299"/>
            <a:ext cx="18090556" cy="3733801"/>
          </a:xfrm>
          <a:prstGeom prst="roundRect">
            <a:avLst>
              <a:gd name="adj" fmla="val 9973"/>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l-GR"/>
          </a:p>
        </p:txBody>
      </p:sp>
      <p:sp>
        <p:nvSpPr>
          <p:cNvPr id="10" name="TextBox 9">
            <a:extLst>
              <a:ext uri="{FF2B5EF4-FFF2-40B4-BE49-F238E27FC236}">
                <a16:creationId xmlns:a16="http://schemas.microsoft.com/office/drawing/2014/main" id="{141FEA1F-6529-3405-A6A6-58163108C9C5}"/>
              </a:ext>
            </a:extLst>
          </p:cNvPr>
          <p:cNvSpPr txBox="1"/>
          <p:nvPr/>
        </p:nvSpPr>
        <p:spPr>
          <a:xfrm>
            <a:off x="2133600" y="2254853"/>
            <a:ext cx="15849600" cy="3293209"/>
          </a:xfrm>
          <a:prstGeom prst="rect">
            <a:avLst/>
          </a:prstGeom>
          <a:noFill/>
        </p:spPr>
        <p:txBody>
          <a:bodyPr wrap="square">
            <a:spAutoFit/>
          </a:bodyPr>
          <a:lstStyle/>
          <a:p>
            <a:pPr marL="342900" lvl="0" indent="-342900">
              <a:spcBef>
                <a:spcPts val="1200"/>
              </a:spcBef>
              <a:buFont typeface="Arial" panose="020B0604020202020204" pitchFamily="34" charset="0"/>
              <a:buChar cha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RDF Transformation: </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Converted the prepared CSV dataset into RDF triples using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OpenRefine</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342900" lvl="0" indent="-342900">
              <a:spcBef>
                <a:spcPts val="1200"/>
              </a:spcBef>
              <a:buFont typeface="Arial" panose="020B0604020202020204" pitchFamily="34" charset="0"/>
              <a:buChar cha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Entity Linking: </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Reconciled relevant values with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Wikidata</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and linked them to corresponding external entities.</a:t>
            </a:r>
          </a:p>
          <a:p>
            <a:pPr marL="342900" lvl="0" indent="-342900">
              <a:spcBef>
                <a:spcPts val="1200"/>
              </a:spcBef>
              <a:buFont typeface="Arial" panose="020B0604020202020204" pitchFamily="34" charset="0"/>
              <a:buChar cha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Ontology Reuse: </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Used existing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Wikidata</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properties and identifiers where appropriate to represent player information.</a:t>
            </a:r>
          </a:p>
          <a:p>
            <a:pPr marL="342900" lvl="0" indent="-342900">
              <a:spcBef>
                <a:spcPts val="1200"/>
              </a:spcBef>
              <a:buFont typeface="Arial" panose="020B0604020202020204" pitchFamily="34" charset="0"/>
              <a:buChar cha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Custom Properties: </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Defined project-specific properties for player statistics, including goals, assists,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expectedGoals</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and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expectedAssists</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342900" lvl="0" indent="-342900">
              <a:spcBef>
                <a:spcPts val="1200"/>
              </a:spcBef>
              <a:buFont typeface="Arial" panose="020B0604020202020204" pitchFamily="34" charset="0"/>
              <a:buChar cha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RDF Output: </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Exported the resulting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FAIRified</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dataset in Turtle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ttl</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format.</a:t>
            </a:r>
          </a:p>
        </p:txBody>
      </p:sp>
      <p:sp>
        <p:nvSpPr>
          <p:cNvPr id="16" name="TextBox 23">
            <a:extLst>
              <a:ext uri="{FF2B5EF4-FFF2-40B4-BE49-F238E27FC236}">
                <a16:creationId xmlns:a16="http://schemas.microsoft.com/office/drawing/2014/main" id="{50CB49C8-9B60-593B-614A-5807EE5DDB5D}"/>
              </a:ext>
            </a:extLst>
          </p:cNvPr>
          <p:cNvSpPr txBox="1"/>
          <p:nvPr/>
        </p:nvSpPr>
        <p:spPr>
          <a:xfrm>
            <a:off x="4088267" y="578658"/>
            <a:ext cx="10111466" cy="801886"/>
          </a:xfrm>
          <a:prstGeom prst="rect">
            <a:avLst/>
          </a:prstGeom>
        </p:spPr>
        <p:txBody>
          <a:bodyPr wrap="square" lIns="0" tIns="0" rIns="0" bIns="0" rtlCol="0" anchor="t">
            <a:spAutoFit/>
          </a:bodyPr>
          <a:lstStyle/>
          <a:p>
            <a:pPr algn="ctr">
              <a:lnSpc>
                <a:spcPts val="6562"/>
              </a:lnSpc>
            </a:pPr>
            <a:r>
              <a:rPr lang="en-US" sz="4687" dirty="0">
                <a:latin typeface="Archivo Black"/>
                <a:ea typeface="Archivo Black"/>
                <a:cs typeface="Archivo Black"/>
                <a:sym typeface="Archivo Black"/>
              </a:rPr>
              <a:t>RDF Transformation &amp; Linking</a:t>
            </a:r>
          </a:p>
        </p:txBody>
      </p:sp>
      <p:pic>
        <p:nvPicPr>
          <p:cNvPr id="30" name="Picture 29">
            <a:extLst>
              <a:ext uri="{FF2B5EF4-FFF2-40B4-BE49-F238E27FC236}">
                <a16:creationId xmlns:a16="http://schemas.microsoft.com/office/drawing/2014/main" id="{5247C583-DD57-0A5E-4F6E-EDC35D454A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52601" y="6097270"/>
            <a:ext cx="12523902" cy="3548067"/>
          </a:xfrm>
          <a:prstGeom prst="rect">
            <a:avLst/>
          </a:prstGeom>
        </p:spPr>
      </p:pic>
    </p:spTree>
    <p:extLst>
      <p:ext uri="{BB962C8B-B14F-4D97-AF65-F5344CB8AC3E}">
        <p14:creationId xmlns:p14="http://schemas.microsoft.com/office/powerpoint/2010/main" val="1194360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15164A2-FFAB-2F19-60CA-6563DB34BB51}"/>
              </a:ext>
            </a:extLst>
          </p:cNvPr>
          <p:cNvSpPr/>
          <p:nvPr/>
        </p:nvSpPr>
        <p:spPr>
          <a:xfrm>
            <a:off x="533400" y="3238500"/>
            <a:ext cx="17145000" cy="5257799"/>
          </a:xfrm>
          <a:prstGeom prst="roundRect">
            <a:avLst>
              <a:gd name="adj" fmla="val 9973"/>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l-GR"/>
          </a:p>
        </p:txBody>
      </p:sp>
      <p:cxnSp>
        <p:nvCxnSpPr>
          <p:cNvPr id="9" name="Straight Connector 8">
            <a:extLst>
              <a:ext uri="{FF2B5EF4-FFF2-40B4-BE49-F238E27FC236}">
                <a16:creationId xmlns:a16="http://schemas.microsoft.com/office/drawing/2014/main" id="{1A1690ED-3EF2-4AD2-D54A-6F9CE981864B}"/>
              </a:ext>
            </a:extLst>
          </p:cNvPr>
          <p:cNvCxnSpPr>
            <a:cxnSpLocks/>
          </p:cNvCxnSpPr>
          <p:nvPr/>
        </p:nvCxnSpPr>
        <p:spPr>
          <a:xfrm>
            <a:off x="5069751" y="7413950"/>
            <a:ext cx="42460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3" name="Graphic 2">
            <a:extLst>
              <a:ext uri="{FF2B5EF4-FFF2-40B4-BE49-F238E27FC236}">
                <a16:creationId xmlns:a16="http://schemas.microsoft.com/office/drawing/2014/main" id="{EED9928A-52C1-1232-D301-30A3C2E19F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7735" y="7030032"/>
            <a:ext cx="3533805" cy="1177935"/>
          </a:xfrm>
          <a:prstGeom prst="rect">
            <a:avLst/>
          </a:prstGeom>
        </p:spPr>
      </p:pic>
      <p:pic>
        <p:nvPicPr>
          <p:cNvPr id="5" name="Graphic 4">
            <a:extLst>
              <a:ext uri="{FF2B5EF4-FFF2-40B4-BE49-F238E27FC236}">
                <a16:creationId xmlns:a16="http://schemas.microsoft.com/office/drawing/2014/main" id="{202B60FB-5D8B-82B1-BC6A-BBB060ECE2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600" y="3619500"/>
            <a:ext cx="4287135" cy="4588467"/>
          </a:xfrm>
          <a:prstGeom prst="rect">
            <a:avLst/>
          </a:prstGeom>
        </p:spPr>
      </p:pic>
      <p:pic>
        <p:nvPicPr>
          <p:cNvPr id="7" name="Graphic 6">
            <a:extLst>
              <a:ext uri="{FF2B5EF4-FFF2-40B4-BE49-F238E27FC236}">
                <a16:creationId xmlns:a16="http://schemas.microsoft.com/office/drawing/2014/main" id="{0D0DE17C-E4AA-7EFB-260B-180ACE6690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440851" y="3624943"/>
            <a:ext cx="3780349" cy="4588467"/>
          </a:xfrm>
          <a:prstGeom prst="rect">
            <a:avLst/>
          </a:prstGeom>
        </p:spPr>
      </p:pic>
      <p:sp>
        <p:nvSpPr>
          <p:cNvPr id="4" name="TextBox 3">
            <a:extLst>
              <a:ext uri="{FF2B5EF4-FFF2-40B4-BE49-F238E27FC236}">
                <a16:creationId xmlns:a16="http://schemas.microsoft.com/office/drawing/2014/main" id="{465C08E0-3B57-39B6-0FD2-2861D5C9813D}"/>
              </a:ext>
            </a:extLst>
          </p:cNvPr>
          <p:cNvSpPr txBox="1"/>
          <p:nvPr/>
        </p:nvSpPr>
        <p:spPr>
          <a:xfrm>
            <a:off x="5494355" y="3795516"/>
            <a:ext cx="7612045" cy="3370153"/>
          </a:xfrm>
          <a:prstGeom prst="rect">
            <a:avLst/>
          </a:prstGeom>
          <a:noFill/>
        </p:spPr>
        <p:txBody>
          <a:bodyPr wrap="square">
            <a:spAutoFit/>
          </a:bodyPr>
          <a:lstStyle/>
          <a:p>
            <a:pPr lvl="0" algn="ctr"/>
            <a:r>
              <a:rPr lang="el-GR" b="1" u="sng" dirty="0" err="1">
                <a:solidFill>
                  <a:schemeClr val="bg1"/>
                </a:solidFill>
              </a:rPr>
              <a:t>Custom</a:t>
            </a:r>
            <a:r>
              <a:rPr lang="el-GR" b="1" u="sng" dirty="0">
                <a:solidFill>
                  <a:schemeClr val="bg1"/>
                </a:solidFill>
              </a:rPr>
              <a:t> SHACL </a:t>
            </a:r>
            <a:r>
              <a:rPr lang="el-GR" b="1" u="sng" dirty="0" err="1">
                <a:solidFill>
                  <a:schemeClr val="bg1"/>
                </a:solidFill>
              </a:rPr>
              <a:t>Schemas</a:t>
            </a:r>
            <a:r>
              <a:rPr lang="el-GR" b="1" u="sng" dirty="0">
                <a:solidFill>
                  <a:schemeClr val="bg1"/>
                </a:solidFill>
              </a:rPr>
              <a:t>:</a:t>
            </a:r>
            <a:r>
              <a:rPr lang="el-GR" u="sng" dirty="0">
                <a:solidFill>
                  <a:schemeClr val="bg1"/>
                </a:solidFill>
              </a:rPr>
              <a:t> </a:t>
            </a:r>
            <a:endParaRPr lang="en-US" u="sng" dirty="0">
              <a:solidFill>
                <a:schemeClr val="bg1"/>
              </a:solidFill>
            </a:endParaRPr>
          </a:p>
          <a:p>
            <a:pPr lvl="0" algn="ctr"/>
            <a:r>
              <a:rPr lang="el-GR" dirty="0" err="1">
                <a:solidFill>
                  <a:schemeClr val="bg1"/>
                </a:solidFill>
              </a:rPr>
              <a:t>Defined</a:t>
            </a:r>
            <a:r>
              <a:rPr lang="el-GR" dirty="0">
                <a:solidFill>
                  <a:schemeClr val="bg1"/>
                </a:solidFill>
              </a:rPr>
              <a:t> </a:t>
            </a:r>
            <a:r>
              <a:rPr lang="el-GR" dirty="0" err="1">
                <a:solidFill>
                  <a:schemeClr val="bg1"/>
                </a:solidFill>
              </a:rPr>
              <a:t>separate</a:t>
            </a:r>
            <a:r>
              <a:rPr lang="el-GR" dirty="0">
                <a:solidFill>
                  <a:schemeClr val="bg1"/>
                </a:solidFill>
              </a:rPr>
              <a:t> </a:t>
            </a:r>
            <a:r>
              <a:rPr lang="el-GR" dirty="0" err="1">
                <a:solidFill>
                  <a:schemeClr val="bg1"/>
                </a:solidFill>
              </a:rPr>
              <a:t>schemas</a:t>
            </a:r>
            <a:r>
              <a:rPr lang="el-GR" dirty="0">
                <a:solidFill>
                  <a:schemeClr val="bg1"/>
                </a:solidFill>
              </a:rPr>
              <a:t> for </a:t>
            </a:r>
            <a:r>
              <a:rPr lang="el-GR" dirty="0" err="1">
                <a:solidFill>
                  <a:schemeClr val="bg1"/>
                </a:solidFill>
              </a:rPr>
              <a:t>dataset</a:t>
            </a:r>
            <a:r>
              <a:rPr lang="el-GR" dirty="0">
                <a:solidFill>
                  <a:schemeClr val="bg1"/>
                </a:solidFill>
              </a:rPr>
              <a:t> and </a:t>
            </a:r>
            <a:r>
              <a:rPr lang="el-GR" dirty="0" err="1">
                <a:solidFill>
                  <a:schemeClr val="bg1"/>
                </a:solidFill>
              </a:rPr>
              <a:t>distribution</a:t>
            </a:r>
            <a:r>
              <a:rPr lang="el-GR" dirty="0">
                <a:solidFill>
                  <a:schemeClr val="bg1"/>
                </a:solidFill>
              </a:rPr>
              <a:t> </a:t>
            </a:r>
            <a:r>
              <a:rPr lang="el-GR" dirty="0" err="1">
                <a:solidFill>
                  <a:schemeClr val="bg1"/>
                </a:solidFill>
              </a:rPr>
              <a:t>metadata</a:t>
            </a:r>
            <a:r>
              <a:rPr lang="el-GR" dirty="0">
                <a:solidFill>
                  <a:schemeClr val="bg1"/>
                </a:solidFill>
              </a:rPr>
              <a:t>.</a:t>
            </a:r>
          </a:p>
          <a:p>
            <a:pPr lvl="0" algn="ctr">
              <a:spcBef>
                <a:spcPts val="600"/>
              </a:spcBef>
            </a:pPr>
            <a:r>
              <a:rPr lang="el-GR" b="1" u="sng" dirty="0" err="1">
                <a:solidFill>
                  <a:schemeClr val="bg1"/>
                </a:solidFill>
              </a:rPr>
              <a:t>Dataset</a:t>
            </a:r>
            <a:r>
              <a:rPr lang="el-GR" b="1" u="sng" dirty="0">
                <a:solidFill>
                  <a:schemeClr val="bg1"/>
                </a:solidFill>
              </a:rPr>
              <a:t> </a:t>
            </a:r>
            <a:r>
              <a:rPr lang="el-GR" b="1" u="sng" dirty="0" err="1">
                <a:solidFill>
                  <a:schemeClr val="bg1"/>
                </a:solidFill>
              </a:rPr>
              <a:t>Schema</a:t>
            </a:r>
            <a:r>
              <a:rPr lang="el-GR" b="1" u="sng" dirty="0">
                <a:solidFill>
                  <a:schemeClr val="bg1"/>
                </a:solidFill>
              </a:rPr>
              <a:t>:</a:t>
            </a:r>
            <a:r>
              <a:rPr lang="el-GR" u="sng" dirty="0">
                <a:solidFill>
                  <a:schemeClr val="bg1"/>
                </a:solidFill>
              </a:rPr>
              <a:t> </a:t>
            </a:r>
            <a:endParaRPr lang="en-US" u="sng" dirty="0">
              <a:solidFill>
                <a:schemeClr val="bg1"/>
              </a:solidFill>
            </a:endParaRPr>
          </a:p>
          <a:p>
            <a:pPr lvl="0" algn="ctr"/>
            <a:r>
              <a:rPr lang="el-GR" dirty="0" err="1">
                <a:solidFill>
                  <a:schemeClr val="bg1"/>
                </a:solidFill>
              </a:rPr>
              <a:t>Specifies</a:t>
            </a:r>
            <a:r>
              <a:rPr lang="el-GR" dirty="0">
                <a:solidFill>
                  <a:schemeClr val="bg1"/>
                </a:solidFill>
              </a:rPr>
              <a:t> </a:t>
            </a:r>
            <a:r>
              <a:rPr lang="el-GR" dirty="0" err="1">
                <a:solidFill>
                  <a:schemeClr val="bg1"/>
                </a:solidFill>
              </a:rPr>
              <a:t>metadata</a:t>
            </a:r>
            <a:r>
              <a:rPr lang="el-GR" dirty="0">
                <a:solidFill>
                  <a:schemeClr val="bg1"/>
                </a:solidFill>
              </a:rPr>
              <a:t> </a:t>
            </a:r>
            <a:r>
              <a:rPr lang="el-GR" dirty="0" err="1">
                <a:solidFill>
                  <a:schemeClr val="bg1"/>
                </a:solidFill>
              </a:rPr>
              <a:t>fields</a:t>
            </a:r>
            <a:r>
              <a:rPr lang="el-GR" dirty="0">
                <a:solidFill>
                  <a:schemeClr val="bg1"/>
                </a:solidFill>
              </a:rPr>
              <a:t> </a:t>
            </a:r>
            <a:r>
              <a:rPr lang="el-GR" dirty="0" err="1">
                <a:solidFill>
                  <a:schemeClr val="bg1"/>
                </a:solidFill>
              </a:rPr>
              <a:t>such</a:t>
            </a:r>
            <a:r>
              <a:rPr lang="el-GR" dirty="0">
                <a:solidFill>
                  <a:schemeClr val="bg1"/>
                </a:solidFill>
              </a:rPr>
              <a:t> </a:t>
            </a:r>
            <a:r>
              <a:rPr lang="el-GR" dirty="0" err="1">
                <a:solidFill>
                  <a:schemeClr val="bg1"/>
                </a:solidFill>
              </a:rPr>
              <a:t>as</a:t>
            </a:r>
            <a:r>
              <a:rPr lang="el-GR" dirty="0">
                <a:solidFill>
                  <a:schemeClr val="bg1"/>
                </a:solidFill>
              </a:rPr>
              <a:t> </a:t>
            </a:r>
            <a:r>
              <a:rPr lang="el-GR" dirty="0" err="1">
                <a:solidFill>
                  <a:schemeClr val="bg1"/>
                </a:solidFill>
              </a:rPr>
              <a:t>title</a:t>
            </a:r>
            <a:r>
              <a:rPr lang="el-GR" dirty="0">
                <a:solidFill>
                  <a:schemeClr val="bg1"/>
                </a:solidFill>
              </a:rPr>
              <a:t>, </a:t>
            </a:r>
            <a:r>
              <a:rPr lang="el-GR" dirty="0" err="1">
                <a:solidFill>
                  <a:schemeClr val="bg1"/>
                </a:solidFill>
              </a:rPr>
              <a:t>description</a:t>
            </a:r>
            <a:r>
              <a:rPr lang="el-GR" dirty="0">
                <a:solidFill>
                  <a:schemeClr val="bg1"/>
                </a:solidFill>
              </a:rPr>
              <a:t>, </a:t>
            </a:r>
            <a:r>
              <a:rPr lang="el-GR" dirty="0" err="1">
                <a:solidFill>
                  <a:schemeClr val="bg1"/>
                </a:solidFill>
              </a:rPr>
              <a:t>creators</a:t>
            </a:r>
            <a:r>
              <a:rPr lang="el-GR" dirty="0">
                <a:solidFill>
                  <a:schemeClr val="bg1"/>
                </a:solidFill>
              </a:rPr>
              <a:t>, </a:t>
            </a:r>
            <a:r>
              <a:rPr lang="el-GR" dirty="0" err="1">
                <a:solidFill>
                  <a:schemeClr val="bg1"/>
                </a:solidFill>
              </a:rPr>
              <a:t>dates</a:t>
            </a:r>
            <a:r>
              <a:rPr lang="el-GR" dirty="0">
                <a:solidFill>
                  <a:schemeClr val="bg1"/>
                </a:solidFill>
              </a:rPr>
              <a:t>, </a:t>
            </a:r>
            <a:r>
              <a:rPr lang="el-GR" dirty="0" err="1">
                <a:solidFill>
                  <a:schemeClr val="bg1"/>
                </a:solidFill>
              </a:rPr>
              <a:t>license</a:t>
            </a:r>
            <a:r>
              <a:rPr lang="el-GR" dirty="0">
                <a:solidFill>
                  <a:schemeClr val="bg1"/>
                </a:solidFill>
              </a:rPr>
              <a:t> and </a:t>
            </a:r>
            <a:r>
              <a:rPr lang="el-GR" dirty="0" err="1">
                <a:solidFill>
                  <a:schemeClr val="bg1"/>
                </a:solidFill>
              </a:rPr>
              <a:t>coverage</a:t>
            </a:r>
            <a:r>
              <a:rPr lang="el-GR" dirty="0">
                <a:solidFill>
                  <a:schemeClr val="bg1"/>
                </a:solidFill>
              </a:rPr>
              <a:t>.</a:t>
            </a:r>
          </a:p>
          <a:p>
            <a:pPr lvl="0" algn="ctr">
              <a:spcBef>
                <a:spcPts val="600"/>
              </a:spcBef>
            </a:pPr>
            <a:r>
              <a:rPr lang="el-GR" b="1" u="sng" dirty="0">
                <a:solidFill>
                  <a:schemeClr val="bg1"/>
                </a:solidFill>
              </a:rPr>
              <a:t>Distribution </a:t>
            </a:r>
            <a:r>
              <a:rPr lang="el-GR" b="1" u="sng" dirty="0" err="1">
                <a:solidFill>
                  <a:schemeClr val="bg1"/>
                </a:solidFill>
              </a:rPr>
              <a:t>Schema</a:t>
            </a:r>
            <a:r>
              <a:rPr lang="el-GR" b="1" u="sng" dirty="0">
                <a:solidFill>
                  <a:schemeClr val="bg1"/>
                </a:solidFill>
              </a:rPr>
              <a:t>:</a:t>
            </a:r>
            <a:r>
              <a:rPr lang="el-GR" u="sng" dirty="0">
                <a:solidFill>
                  <a:schemeClr val="bg1"/>
                </a:solidFill>
              </a:rPr>
              <a:t> </a:t>
            </a:r>
            <a:endParaRPr lang="en-US" u="sng" dirty="0">
              <a:solidFill>
                <a:schemeClr val="bg1"/>
              </a:solidFill>
            </a:endParaRPr>
          </a:p>
          <a:p>
            <a:pPr lvl="0" algn="ctr"/>
            <a:r>
              <a:rPr lang="el-GR" dirty="0" err="1">
                <a:solidFill>
                  <a:schemeClr val="bg1"/>
                </a:solidFill>
              </a:rPr>
              <a:t>Defines</a:t>
            </a:r>
            <a:r>
              <a:rPr lang="el-GR" dirty="0">
                <a:solidFill>
                  <a:schemeClr val="bg1"/>
                </a:solidFill>
              </a:rPr>
              <a:t> </a:t>
            </a:r>
            <a:r>
              <a:rPr lang="el-GR" dirty="0" err="1">
                <a:solidFill>
                  <a:schemeClr val="bg1"/>
                </a:solidFill>
              </a:rPr>
              <a:t>fields</a:t>
            </a:r>
            <a:r>
              <a:rPr lang="el-GR" dirty="0">
                <a:solidFill>
                  <a:schemeClr val="bg1"/>
                </a:solidFill>
              </a:rPr>
              <a:t> for </a:t>
            </a:r>
            <a:r>
              <a:rPr lang="el-GR" dirty="0" err="1">
                <a:solidFill>
                  <a:schemeClr val="bg1"/>
                </a:solidFill>
              </a:rPr>
              <a:t>format</a:t>
            </a:r>
            <a:r>
              <a:rPr lang="el-GR" dirty="0">
                <a:solidFill>
                  <a:schemeClr val="bg1"/>
                </a:solidFill>
              </a:rPr>
              <a:t>, </a:t>
            </a:r>
            <a:r>
              <a:rPr lang="el-GR" dirty="0" err="1">
                <a:solidFill>
                  <a:schemeClr val="bg1"/>
                </a:solidFill>
              </a:rPr>
              <a:t>media</a:t>
            </a:r>
            <a:r>
              <a:rPr lang="el-GR" dirty="0">
                <a:solidFill>
                  <a:schemeClr val="bg1"/>
                </a:solidFill>
              </a:rPr>
              <a:t> </a:t>
            </a:r>
            <a:r>
              <a:rPr lang="el-GR" dirty="0" err="1">
                <a:solidFill>
                  <a:schemeClr val="bg1"/>
                </a:solidFill>
              </a:rPr>
              <a:t>type</a:t>
            </a:r>
            <a:r>
              <a:rPr lang="el-GR" dirty="0">
                <a:solidFill>
                  <a:schemeClr val="bg1"/>
                </a:solidFill>
              </a:rPr>
              <a:t>, </a:t>
            </a:r>
            <a:r>
              <a:rPr lang="el-GR" dirty="0" err="1">
                <a:solidFill>
                  <a:schemeClr val="bg1"/>
                </a:solidFill>
              </a:rPr>
              <a:t>access</a:t>
            </a:r>
            <a:r>
              <a:rPr lang="el-GR" dirty="0">
                <a:solidFill>
                  <a:schemeClr val="bg1"/>
                </a:solidFill>
              </a:rPr>
              <a:t> and </a:t>
            </a:r>
            <a:r>
              <a:rPr lang="el-GR" dirty="0" err="1">
                <a:solidFill>
                  <a:schemeClr val="bg1"/>
                </a:solidFill>
              </a:rPr>
              <a:t>download</a:t>
            </a:r>
            <a:r>
              <a:rPr lang="el-GR" dirty="0">
                <a:solidFill>
                  <a:schemeClr val="bg1"/>
                </a:solidFill>
              </a:rPr>
              <a:t> </a:t>
            </a:r>
            <a:r>
              <a:rPr lang="el-GR" dirty="0" err="1">
                <a:solidFill>
                  <a:schemeClr val="bg1"/>
                </a:solidFill>
              </a:rPr>
              <a:t>URLs</a:t>
            </a:r>
            <a:r>
              <a:rPr lang="el-GR" dirty="0">
                <a:solidFill>
                  <a:schemeClr val="bg1"/>
                </a:solidFill>
              </a:rPr>
              <a:t>, </a:t>
            </a:r>
            <a:r>
              <a:rPr lang="el-GR" dirty="0" err="1">
                <a:solidFill>
                  <a:schemeClr val="bg1"/>
                </a:solidFill>
              </a:rPr>
              <a:t>file</a:t>
            </a:r>
            <a:r>
              <a:rPr lang="el-GR" dirty="0">
                <a:solidFill>
                  <a:schemeClr val="bg1"/>
                </a:solidFill>
              </a:rPr>
              <a:t> </a:t>
            </a:r>
            <a:r>
              <a:rPr lang="el-GR" dirty="0" err="1">
                <a:solidFill>
                  <a:schemeClr val="bg1"/>
                </a:solidFill>
              </a:rPr>
              <a:t>size</a:t>
            </a:r>
            <a:r>
              <a:rPr lang="el-GR" dirty="0">
                <a:solidFill>
                  <a:schemeClr val="bg1"/>
                </a:solidFill>
              </a:rPr>
              <a:t> and </a:t>
            </a:r>
            <a:r>
              <a:rPr lang="el-GR" dirty="0" err="1">
                <a:solidFill>
                  <a:schemeClr val="bg1"/>
                </a:solidFill>
              </a:rPr>
              <a:t>conformance</a:t>
            </a:r>
            <a:r>
              <a:rPr lang="el-GR" dirty="0">
                <a:solidFill>
                  <a:schemeClr val="bg1"/>
                </a:solidFill>
              </a:rPr>
              <a:t>.</a:t>
            </a:r>
          </a:p>
          <a:p>
            <a:pPr lvl="0" algn="ctr">
              <a:spcBef>
                <a:spcPts val="600"/>
              </a:spcBef>
            </a:pPr>
            <a:r>
              <a:rPr lang="el-GR" b="1" u="sng" dirty="0" err="1">
                <a:solidFill>
                  <a:schemeClr val="bg1"/>
                </a:solidFill>
              </a:rPr>
              <a:t>Validation</a:t>
            </a:r>
            <a:r>
              <a:rPr lang="el-GR" b="1" u="sng" dirty="0">
                <a:solidFill>
                  <a:schemeClr val="bg1"/>
                </a:solidFill>
              </a:rPr>
              <a:t> </a:t>
            </a:r>
            <a:r>
              <a:rPr lang="el-GR" b="1" u="sng" dirty="0" err="1">
                <a:solidFill>
                  <a:schemeClr val="bg1"/>
                </a:solidFill>
              </a:rPr>
              <a:t>Constraints</a:t>
            </a:r>
            <a:r>
              <a:rPr lang="el-GR" b="1" u="sng" dirty="0">
                <a:solidFill>
                  <a:schemeClr val="bg1"/>
                </a:solidFill>
              </a:rPr>
              <a:t>:</a:t>
            </a:r>
            <a:r>
              <a:rPr lang="el-GR" u="sng" dirty="0">
                <a:solidFill>
                  <a:schemeClr val="bg1"/>
                </a:solidFill>
              </a:rPr>
              <a:t> </a:t>
            </a:r>
            <a:endParaRPr lang="en-US" u="sng" dirty="0">
              <a:solidFill>
                <a:schemeClr val="bg1"/>
              </a:solidFill>
            </a:endParaRPr>
          </a:p>
          <a:p>
            <a:pPr lvl="0" algn="ctr"/>
            <a:r>
              <a:rPr lang="el-GR" dirty="0" err="1">
                <a:solidFill>
                  <a:schemeClr val="bg1"/>
                </a:solidFill>
              </a:rPr>
              <a:t>Specifies</a:t>
            </a:r>
            <a:r>
              <a:rPr lang="el-GR" dirty="0">
                <a:solidFill>
                  <a:schemeClr val="bg1"/>
                </a:solidFill>
              </a:rPr>
              <a:t> </a:t>
            </a:r>
            <a:r>
              <a:rPr lang="el-GR" dirty="0" err="1">
                <a:solidFill>
                  <a:schemeClr val="bg1"/>
                </a:solidFill>
              </a:rPr>
              <a:t>required</a:t>
            </a:r>
            <a:r>
              <a:rPr lang="el-GR" dirty="0">
                <a:solidFill>
                  <a:schemeClr val="bg1"/>
                </a:solidFill>
              </a:rPr>
              <a:t> and </a:t>
            </a:r>
            <a:r>
              <a:rPr lang="el-GR" dirty="0" err="1">
                <a:solidFill>
                  <a:schemeClr val="bg1"/>
                </a:solidFill>
              </a:rPr>
              <a:t>optional</a:t>
            </a:r>
            <a:r>
              <a:rPr lang="el-GR" dirty="0">
                <a:solidFill>
                  <a:schemeClr val="bg1"/>
                </a:solidFill>
              </a:rPr>
              <a:t> </a:t>
            </a:r>
            <a:r>
              <a:rPr lang="el-GR" dirty="0" err="1">
                <a:solidFill>
                  <a:schemeClr val="bg1"/>
                </a:solidFill>
              </a:rPr>
              <a:t>fields</a:t>
            </a:r>
            <a:r>
              <a:rPr lang="el-GR" dirty="0">
                <a:solidFill>
                  <a:schemeClr val="bg1"/>
                </a:solidFill>
              </a:rPr>
              <a:t>, </a:t>
            </a:r>
            <a:r>
              <a:rPr lang="el-GR" dirty="0" err="1">
                <a:solidFill>
                  <a:schemeClr val="bg1"/>
                </a:solidFill>
              </a:rPr>
              <a:t>expected</a:t>
            </a:r>
            <a:r>
              <a:rPr lang="el-GR" dirty="0">
                <a:solidFill>
                  <a:schemeClr val="bg1"/>
                </a:solidFill>
              </a:rPr>
              <a:t> </a:t>
            </a:r>
            <a:r>
              <a:rPr lang="el-GR" dirty="0" err="1">
                <a:solidFill>
                  <a:schemeClr val="bg1"/>
                </a:solidFill>
              </a:rPr>
              <a:t>datatypes</a:t>
            </a:r>
            <a:r>
              <a:rPr lang="el-GR" dirty="0">
                <a:solidFill>
                  <a:schemeClr val="bg1"/>
                </a:solidFill>
              </a:rPr>
              <a:t> and </a:t>
            </a:r>
            <a:r>
              <a:rPr lang="el-GR" dirty="0" err="1">
                <a:solidFill>
                  <a:schemeClr val="bg1"/>
                </a:solidFill>
              </a:rPr>
              <a:t>cardinality</a:t>
            </a:r>
            <a:r>
              <a:rPr lang="el-GR" dirty="0">
                <a:solidFill>
                  <a:schemeClr val="bg1"/>
                </a:solidFill>
              </a:rPr>
              <a:t> </a:t>
            </a:r>
            <a:r>
              <a:rPr lang="el-GR" dirty="0" err="1">
                <a:solidFill>
                  <a:schemeClr val="bg1"/>
                </a:solidFill>
              </a:rPr>
              <a:t>constraints</a:t>
            </a:r>
            <a:r>
              <a:rPr lang="el-GR" dirty="0">
                <a:solidFill>
                  <a:schemeClr val="bg1"/>
                </a:solidFill>
              </a:rPr>
              <a:t>.</a:t>
            </a:r>
          </a:p>
        </p:txBody>
      </p:sp>
      <p:sp>
        <p:nvSpPr>
          <p:cNvPr id="19" name="TextBox 23">
            <a:extLst>
              <a:ext uri="{FF2B5EF4-FFF2-40B4-BE49-F238E27FC236}">
                <a16:creationId xmlns:a16="http://schemas.microsoft.com/office/drawing/2014/main" id="{89CFA699-04BF-BE19-36AB-887719ED5924}"/>
              </a:ext>
            </a:extLst>
          </p:cNvPr>
          <p:cNvSpPr txBox="1"/>
          <p:nvPr/>
        </p:nvSpPr>
        <p:spPr>
          <a:xfrm>
            <a:off x="4034073" y="626498"/>
            <a:ext cx="9707333" cy="804835"/>
          </a:xfrm>
          <a:prstGeom prst="rect">
            <a:avLst/>
          </a:prstGeom>
        </p:spPr>
        <p:txBody>
          <a:bodyPr lIns="0" tIns="0" rIns="0" bIns="0" rtlCol="0" anchor="t">
            <a:spAutoFit/>
          </a:bodyPr>
          <a:lstStyle/>
          <a:p>
            <a:pPr marL="0" marR="0" lvl="0" indent="0" algn="ctr" defTabSz="914400" rtl="0" eaLnBrk="1" fontAlgn="auto" latinLnBrk="0" hangingPunct="1">
              <a:lnSpc>
                <a:spcPts val="6562"/>
              </a:lnSpc>
              <a:spcBef>
                <a:spcPts val="0"/>
              </a:spcBef>
              <a:spcAft>
                <a:spcPts val="0"/>
              </a:spcAft>
              <a:buClrTx/>
              <a:buSzTx/>
              <a:buFontTx/>
              <a:buNone/>
              <a:tabLst/>
              <a:defRPr/>
            </a:pPr>
            <a:r>
              <a:rPr kumimoji="0" lang="en-US" sz="4687" b="0" i="0" u="none" strike="noStrike" kern="1200" cap="none" spc="0" normalizeH="0" baseline="0" noProof="0" dirty="0">
                <a:ln>
                  <a:noFill/>
                </a:ln>
                <a:effectLst/>
                <a:uLnTx/>
                <a:uFillTx/>
                <a:latin typeface="Archivo Black"/>
                <a:ea typeface="Archivo Black"/>
                <a:cs typeface="Archivo Black"/>
                <a:sym typeface="Archivo Black"/>
              </a:rPr>
              <a:t>Metadata Schemas</a:t>
            </a:r>
          </a:p>
        </p:txBody>
      </p:sp>
    </p:spTree>
    <p:extLst>
      <p:ext uri="{BB962C8B-B14F-4D97-AF65-F5344CB8AC3E}">
        <p14:creationId xmlns:p14="http://schemas.microsoft.com/office/powerpoint/2010/main" val="3508679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CAC9819-7D15-438F-A8C8-81F8A79F42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B56F29-9751-D754-52E1-E5C93FF6E454}"/>
              </a:ext>
            </a:extLst>
          </p:cNvPr>
          <p:cNvGrpSpPr/>
          <p:nvPr/>
        </p:nvGrpSpPr>
        <p:grpSpPr>
          <a:xfrm>
            <a:off x="439984" y="1793921"/>
            <a:ext cx="17408031" cy="7700282"/>
            <a:chOff x="0" y="0"/>
            <a:chExt cx="4584831" cy="2028058"/>
          </a:xfrm>
        </p:grpSpPr>
        <p:sp>
          <p:nvSpPr>
            <p:cNvPr id="3" name="Freeform 3">
              <a:extLst>
                <a:ext uri="{FF2B5EF4-FFF2-40B4-BE49-F238E27FC236}">
                  <a16:creationId xmlns:a16="http://schemas.microsoft.com/office/drawing/2014/main" id="{7966BF78-7108-FB22-26E4-E5ACD4FD791A}"/>
                </a:ext>
              </a:extLst>
            </p:cNvPr>
            <p:cNvSpPr/>
            <p:nvPr/>
          </p:nvSpPr>
          <p:spPr>
            <a:xfrm>
              <a:off x="0" y="0"/>
              <a:ext cx="4584831" cy="2028058"/>
            </a:xfrm>
            <a:custGeom>
              <a:avLst/>
              <a:gdLst/>
              <a:ahLst/>
              <a:cxnLst/>
              <a:rect l="l" t="t" r="r" b="b"/>
              <a:pathLst>
                <a:path w="4584831" h="2028058">
                  <a:moveTo>
                    <a:pt x="19124" y="0"/>
                  </a:moveTo>
                  <a:lnTo>
                    <a:pt x="4565708" y="0"/>
                  </a:lnTo>
                  <a:cubicBezTo>
                    <a:pt x="4576270" y="0"/>
                    <a:pt x="4584831" y="8562"/>
                    <a:pt x="4584831" y="19124"/>
                  </a:cubicBezTo>
                  <a:lnTo>
                    <a:pt x="4584831" y="2008934"/>
                  </a:lnTo>
                  <a:cubicBezTo>
                    <a:pt x="4584831" y="2019496"/>
                    <a:pt x="4576270" y="2028058"/>
                    <a:pt x="4565708" y="2028058"/>
                  </a:cubicBezTo>
                  <a:lnTo>
                    <a:pt x="19124" y="2028058"/>
                  </a:lnTo>
                  <a:cubicBezTo>
                    <a:pt x="8562" y="2028058"/>
                    <a:pt x="0" y="2019496"/>
                    <a:pt x="0" y="2008934"/>
                  </a:cubicBezTo>
                  <a:lnTo>
                    <a:pt x="0" y="19124"/>
                  </a:lnTo>
                  <a:cubicBezTo>
                    <a:pt x="0" y="8562"/>
                    <a:pt x="8562" y="0"/>
                    <a:pt x="19124" y="0"/>
                  </a:cubicBezTo>
                  <a:close/>
                </a:path>
              </a:pathLst>
            </a:custGeom>
            <a:ln w="38100" cap="rnd">
              <a:solidFill>
                <a:srgbClr val="FFFFFF"/>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53C06B51-715C-79F0-81EF-427EEE3102A3}"/>
                </a:ext>
              </a:extLst>
            </p:cNvPr>
            <p:cNvSpPr txBox="1"/>
            <p:nvPr/>
          </p:nvSpPr>
          <p:spPr>
            <a:xfrm>
              <a:off x="0" y="-38100"/>
              <a:ext cx="4584831" cy="2066158"/>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49D6F7E4-EB44-1251-DC49-5D06338D796F}"/>
              </a:ext>
            </a:extLst>
          </p:cNvPr>
          <p:cNvGrpSpPr/>
          <p:nvPr/>
        </p:nvGrpSpPr>
        <p:grpSpPr>
          <a:xfrm>
            <a:off x="770107" y="5783847"/>
            <a:ext cx="9359170" cy="3074520"/>
            <a:chOff x="0" y="0"/>
            <a:chExt cx="1879698" cy="846113"/>
          </a:xfrm>
        </p:grpSpPr>
        <p:sp>
          <p:nvSpPr>
            <p:cNvPr id="17" name="Freeform 17">
              <a:extLst>
                <a:ext uri="{FF2B5EF4-FFF2-40B4-BE49-F238E27FC236}">
                  <a16:creationId xmlns:a16="http://schemas.microsoft.com/office/drawing/2014/main" id="{2FAC998E-A918-461F-81FD-D430AB3D903A}"/>
                </a:ext>
              </a:extLst>
            </p:cNvPr>
            <p:cNvSpPr/>
            <p:nvPr/>
          </p:nvSpPr>
          <p:spPr>
            <a:xfrm>
              <a:off x="0" y="0"/>
              <a:ext cx="1879698" cy="846113"/>
            </a:xfrm>
            <a:custGeom>
              <a:avLst/>
              <a:gdLst/>
              <a:ahLst/>
              <a:cxnLst/>
              <a:rect l="l" t="t" r="r" b="b"/>
              <a:pathLst>
                <a:path w="1879698" h="846113">
                  <a:moveTo>
                    <a:pt x="46645" y="0"/>
                  </a:moveTo>
                  <a:lnTo>
                    <a:pt x="1833053" y="0"/>
                  </a:lnTo>
                  <a:cubicBezTo>
                    <a:pt x="1845424" y="0"/>
                    <a:pt x="1857289" y="4914"/>
                    <a:pt x="1866036" y="13662"/>
                  </a:cubicBezTo>
                  <a:cubicBezTo>
                    <a:pt x="1874784" y="22410"/>
                    <a:pt x="1879698" y="34274"/>
                    <a:pt x="1879698" y="46645"/>
                  </a:cubicBezTo>
                  <a:lnTo>
                    <a:pt x="1879698" y="799469"/>
                  </a:lnTo>
                  <a:cubicBezTo>
                    <a:pt x="1879698" y="825230"/>
                    <a:pt x="1858814" y="846113"/>
                    <a:pt x="1833053" y="846113"/>
                  </a:cubicBezTo>
                  <a:lnTo>
                    <a:pt x="46645" y="846113"/>
                  </a:lnTo>
                  <a:cubicBezTo>
                    <a:pt x="34274" y="846113"/>
                    <a:pt x="22410" y="841199"/>
                    <a:pt x="13662" y="832451"/>
                  </a:cubicBezTo>
                  <a:cubicBezTo>
                    <a:pt x="4914" y="823704"/>
                    <a:pt x="0" y="811839"/>
                    <a:pt x="0" y="799469"/>
                  </a:cubicBezTo>
                  <a:lnTo>
                    <a:pt x="0" y="46645"/>
                  </a:lnTo>
                  <a:cubicBezTo>
                    <a:pt x="0" y="20884"/>
                    <a:pt x="20884" y="0"/>
                    <a:pt x="46645"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2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8" name="TextBox 18">
              <a:extLst>
                <a:ext uri="{FF2B5EF4-FFF2-40B4-BE49-F238E27FC236}">
                  <a16:creationId xmlns:a16="http://schemas.microsoft.com/office/drawing/2014/main" id="{D33CE5A6-FA6F-9940-FD84-19F845440FFE}"/>
                </a:ext>
              </a:extLst>
            </p:cNvPr>
            <p:cNvSpPr txBox="1"/>
            <p:nvPr/>
          </p:nvSpPr>
          <p:spPr>
            <a:xfrm>
              <a:off x="0" y="-38100"/>
              <a:ext cx="1879698" cy="88421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2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pSp>
      <p:grpSp>
        <p:nvGrpSpPr>
          <p:cNvPr id="19" name="Group 19">
            <a:extLst>
              <a:ext uri="{FF2B5EF4-FFF2-40B4-BE49-F238E27FC236}">
                <a16:creationId xmlns:a16="http://schemas.microsoft.com/office/drawing/2014/main" id="{AB253663-B936-10EE-D731-35DEEE30A3CA}"/>
              </a:ext>
            </a:extLst>
          </p:cNvPr>
          <p:cNvGrpSpPr/>
          <p:nvPr/>
        </p:nvGrpSpPr>
        <p:grpSpPr>
          <a:xfrm>
            <a:off x="10470306" y="2280444"/>
            <a:ext cx="6980086" cy="6577924"/>
            <a:chOff x="0" y="0"/>
            <a:chExt cx="1838377" cy="846113"/>
          </a:xfrm>
        </p:grpSpPr>
        <p:sp>
          <p:nvSpPr>
            <p:cNvPr id="20" name="Freeform 20">
              <a:extLst>
                <a:ext uri="{FF2B5EF4-FFF2-40B4-BE49-F238E27FC236}">
                  <a16:creationId xmlns:a16="http://schemas.microsoft.com/office/drawing/2014/main" id="{1800061D-1B56-9B06-4621-98AF9FBDFABB}"/>
                </a:ext>
              </a:extLst>
            </p:cNvPr>
            <p:cNvSpPr/>
            <p:nvPr/>
          </p:nvSpPr>
          <p:spPr>
            <a:xfrm>
              <a:off x="0" y="0"/>
              <a:ext cx="1838377" cy="846113"/>
            </a:xfrm>
            <a:custGeom>
              <a:avLst/>
              <a:gdLst/>
              <a:ahLst/>
              <a:cxnLst/>
              <a:rect l="l" t="t" r="r" b="b"/>
              <a:pathLst>
                <a:path w="1838377" h="846113">
                  <a:moveTo>
                    <a:pt x="47693" y="0"/>
                  </a:moveTo>
                  <a:lnTo>
                    <a:pt x="1790683" y="0"/>
                  </a:lnTo>
                  <a:cubicBezTo>
                    <a:pt x="1803332" y="0"/>
                    <a:pt x="1815463" y="5025"/>
                    <a:pt x="1824408" y="13969"/>
                  </a:cubicBezTo>
                  <a:cubicBezTo>
                    <a:pt x="1833352" y="22913"/>
                    <a:pt x="1838377" y="35044"/>
                    <a:pt x="1838377" y="47693"/>
                  </a:cubicBezTo>
                  <a:lnTo>
                    <a:pt x="1838377" y="798420"/>
                  </a:lnTo>
                  <a:cubicBezTo>
                    <a:pt x="1838377" y="824760"/>
                    <a:pt x="1817024" y="846113"/>
                    <a:pt x="1790683" y="846113"/>
                  </a:cubicBezTo>
                  <a:lnTo>
                    <a:pt x="47693" y="846113"/>
                  </a:lnTo>
                  <a:cubicBezTo>
                    <a:pt x="35044" y="846113"/>
                    <a:pt x="22913" y="841088"/>
                    <a:pt x="13969" y="832144"/>
                  </a:cubicBezTo>
                  <a:cubicBezTo>
                    <a:pt x="5025" y="823200"/>
                    <a:pt x="0" y="811069"/>
                    <a:pt x="0" y="798420"/>
                  </a:cubicBezTo>
                  <a:lnTo>
                    <a:pt x="0" y="47693"/>
                  </a:lnTo>
                  <a:cubicBezTo>
                    <a:pt x="0" y="35044"/>
                    <a:pt x="5025" y="22913"/>
                    <a:pt x="13969" y="13969"/>
                  </a:cubicBezTo>
                  <a:cubicBezTo>
                    <a:pt x="22913" y="5025"/>
                    <a:pt x="35044" y="0"/>
                    <a:pt x="4769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21FABDF9-439A-C838-5839-32EA3D133BA2}"/>
                </a:ext>
              </a:extLst>
            </p:cNvPr>
            <p:cNvSpPr txBox="1"/>
            <p:nvPr/>
          </p:nvSpPr>
          <p:spPr>
            <a:xfrm>
              <a:off x="0" y="-38100"/>
              <a:ext cx="1838377" cy="88421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3" name="TextBox 23">
            <a:extLst>
              <a:ext uri="{FF2B5EF4-FFF2-40B4-BE49-F238E27FC236}">
                <a16:creationId xmlns:a16="http://schemas.microsoft.com/office/drawing/2014/main" id="{9FA02762-F862-DC23-AB5B-0B361677F534}"/>
              </a:ext>
            </a:extLst>
          </p:cNvPr>
          <p:cNvSpPr txBox="1"/>
          <p:nvPr/>
        </p:nvSpPr>
        <p:spPr>
          <a:xfrm>
            <a:off x="4290334" y="578658"/>
            <a:ext cx="9707333" cy="804835"/>
          </a:xfrm>
          <a:prstGeom prst="rect">
            <a:avLst/>
          </a:prstGeom>
        </p:spPr>
        <p:txBody>
          <a:bodyPr lIns="0" tIns="0" rIns="0" bIns="0" rtlCol="0" anchor="t">
            <a:spAutoFit/>
          </a:bodyPr>
          <a:lstStyle/>
          <a:p>
            <a:pPr marL="0" marR="0" lvl="0" indent="0" algn="ctr" defTabSz="914400" rtl="0" eaLnBrk="1" fontAlgn="auto" latinLnBrk="0" hangingPunct="1">
              <a:lnSpc>
                <a:spcPts val="6562"/>
              </a:lnSpc>
              <a:spcBef>
                <a:spcPts val="0"/>
              </a:spcBef>
              <a:spcAft>
                <a:spcPts val="0"/>
              </a:spcAft>
              <a:buClrTx/>
              <a:buSzTx/>
              <a:buFontTx/>
              <a:buNone/>
              <a:tabLst/>
              <a:defRPr/>
            </a:pPr>
            <a:r>
              <a:rPr kumimoji="0" lang="en-US" sz="4687" b="0" i="0" u="none" strike="noStrike" kern="1200" cap="none" spc="0" normalizeH="0" baseline="0" noProof="0" dirty="0">
                <a:ln>
                  <a:noFill/>
                </a:ln>
                <a:solidFill>
                  <a:srgbClr val="FFFFFF"/>
                </a:solidFill>
                <a:effectLst/>
                <a:uLnTx/>
                <a:uFillTx/>
                <a:latin typeface="Archivo Black"/>
                <a:ea typeface="Archivo Black"/>
                <a:cs typeface="Archivo Black"/>
                <a:sym typeface="Archivo Black"/>
              </a:rPr>
              <a:t>Metadata Records</a:t>
            </a:r>
          </a:p>
        </p:txBody>
      </p:sp>
      <p:sp>
        <p:nvSpPr>
          <p:cNvPr id="27" name="TextBox 27">
            <a:extLst>
              <a:ext uri="{FF2B5EF4-FFF2-40B4-BE49-F238E27FC236}">
                <a16:creationId xmlns:a16="http://schemas.microsoft.com/office/drawing/2014/main" id="{DB2F3CE6-0282-9656-1D9C-05B3D58C4A7E}"/>
              </a:ext>
            </a:extLst>
          </p:cNvPr>
          <p:cNvSpPr txBox="1"/>
          <p:nvPr/>
        </p:nvSpPr>
        <p:spPr>
          <a:xfrm>
            <a:off x="3251304" y="5951252"/>
            <a:ext cx="4251278" cy="430887"/>
          </a:xfrm>
          <a:prstGeom prst="rect">
            <a:avLst/>
          </a:prstGeom>
        </p:spPr>
        <p:txBody>
          <a:bodyPr lIns="0" tIns="0" rIns="0" bIns="0" rtlCol="0" anchor="t">
            <a:spAutoFit/>
          </a:bodyPr>
          <a:lstStyle/>
          <a:p>
            <a:pPr algn="ctr"/>
            <a:r>
              <a:rPr lang="el-GR" sz="2800" b="1" dirty="0">
                <a:latin typeface="Roboto" panose="02000000000000000000" pitchFamily="2" charset="0"/>
                <a:ea typeface="Roboto" panose="02000000000000000000" pitchFamily="2" charset="0"/>
                <a:cs typeface="Roboto" panose="02000000000000000000" pitchFamily="2" charset="0"/>
              </a:rPr>
              <a:t>Distribution</a:t>
            </a:r>
            <a:r>
              <a:rPr lang="en-US" sz="2800" b="1" dirty="0">
                <a:latin typeface="Roboto" panose="02000000000000000000" pitchFamily="2" charset="0"/>
                <a:ea typeface="Roboto" panose="02000000000000000000" pitchFamily="2" charset="0"/>
                <a:cs typeface="Roboto" panose="02000000000000000000" pitchFamily="2" charset="0"/>
              </a:rPr>
              <a:t> Records</a:t>
            </a:r>
            <a:endParaRPr lang="el-GR" sz="2800" dirty="0">
              <a:latin typeface="Roboto" panose="02000000000000000000" pitchFamily="2" charset="0"/>
              <a:ea typeface="Roboto" panose="02000000000000000000" pitchFamily="2" charset="0"/>
              <a:cs typeface="Roboto" panose="02000000000000000000" pitchFamily="2" charset="0"/>
            </a:endParaRPr>
          </a:p>
        </p:txBody>
      </p:sp>
      <p:sp>
        <p:nvSpPr>
          <p:cNvPr id="32" name="TextBox 32">
            <a:extLst>
              <a:ext uri="{FF2B5EF4-FFF2-40B4-BE49-F238E27FC236}">
                <a16:creationId xmlns:a16="http://schemas.microsoft.com/office/drawing/2014/main" id="{846C2B79-107D-0671-1A3C-EBAA2AE38F18}"/>
              </a:ext>
            </a:extLst>
          </p:cNvPr>
          <p:cNvSpPr txBox="1"/>
          <p:nvPr/>
        </p:nvSpPr>
        <p:spPr>
          <a:xfrm>
            <a:off x="1211162" y="6519534"/>
            <a:ext cx="3570332" cy="2154436"/>
          </a:xfrm>
          <a:prstGeom prst="rect">
            <a:avLst/>
          </a:prstGeom>
        </p:spPr>
        <p:txBody>
          <a:bodyPr wrap="square" lIns="0" tIns="0" rIns="0" bIns="0" rtlCol="0" anchor="t">
            <a:spAutoFit/>
          </a:bodyPr>
          <a:lstStyle/>
          <a:p>
            <a:pPr algn="ctr"/>
            <a:r>
              <a:rPr lang="en-US" sz="2800" b="1" u="sng" dirty="0">
                <a:latin typeface="Roboto" panose="02000000000000000000" pitchFamily="2" charset="0"/>
                <a:ea typeface="Roboto" panose="02000000000000000000" pitchFamily="2" charset="0"/>
                <a:cs typeface="Roboto" panose="02000000000000000000" pitchFamily="2" charset="0"/>
              </a:rPr>
              <a:t>Original</a:t>
            </a:r>
            <a:r>
              <a:rPr lang="en-US" sz="2800" u="sng" dirty="0">
                <a:latin typeface="Roboto" panose="02000000000000000000" pitchFamily="2" charset="0"/>
                <a:ea typeface="Roboto" panose="02000000000000000000" pitchFamily="2" charset="0"/>
                <a:cs typeface="Roboto" panose="02000000000000000000" pitchFamily="2" charset="0"/>
              </a:rPr>
              <a:t>:</a:t>
            </a:r>
          </a:p>
          <a:p>
            <a:pPr algn="ctr"/>
            <a:r>
              <a:rPr lang="en-US" sz="2800" dirty="0">
                <a:latin typeface="Roboto" panose="02000000000000000000" pitchFamily="2" charset="0"/>
                <a:ea typeface="Roboto" panose="02000000000000000000" pitchFamily="2" charset="0"/>
                <a:cs typeface="Roboto" panose="02000000000000000000" pitchFamily="2" charset="0"/>
              </a:rPr>
              <a:t>Describes the two original CSV files, packaged together in a single ZIP archive.</a:t>
            </a:r>
            <a:endParaRPr lang="el-GR" sz="2800" dirty="0">
              <a:latin typeface="Roboto" panose="02000000000000000000" pitchFamily="2" charset="0"/>
              <a:ea typeface="Roboto" panose="02000000000000000000" pitchFamily="2" charset="0"/>
              <a:cs typeface="Roboto" panose="02000000000000000000" pitchFamily="2" charset="0"/>
            </a:endParaRPr>
          </a:p>
        </p:txBody>
      </p:sp>
      <p:grpSp>
        <p:nvGrpSpPr>
          <p:cNvPr id="34" name="Group 16">
            <a:extLst>
              <a:ext uri="{FF2B5EF4-FFF2-40B4-BE49-F238E27FC236}">
                <a16:creationId xmlns:a16="http://schemas.microsoft.com/office/drawing/2014/main" id="{18A46320-EC2B-6861-8136-4680F95800D2}"/>
              </a:ext>
            </a:extLst>
          </p:cNvPr>
          <p:cNvGrpSpPr/>
          <p:nvPr/>
        </p:nvGrpSpPr>
        <p:grpSpPr>
          <a:xfrm>
            <a:off x="780993" y="2280444"/>
            <a:ext cx="4478400" cy="3074520"/>
            <a:chOff x="0" y="0"/>
            <a:chExt cx="1879698" cy="846113"/>
          </a:xfrm>
        </p:grpSpPr>
        <p:sp>
          <p:nvSpPr>
            <p:cNvPr id="35" name="Freeform 17">
              <a:extLst>
                <a:ext uri="{FF2B5EF4-FFF2-40B4-BE49-F238E27FC236}">
                  <a16:creationId xmlns:a16="http://schemas.microsoft.com/office/drawing/2014/main" id="{3D3F39EA-0DBA-64CB-9B81-11FC2AAAEAFD}"/>
                </a:ext>
              </a:extLst>
            </p:cNvPr>
            <p:cNvSpPr/>
            <p:nvPr/>
          </p:nvSpPr>
          <p:spPr>
            <a:xfrm>
              <a:off x="0" y="0"/>
              <a:ext cx="1879698" cy="846113"/>
            </a:xfrm>
            <a:custGeom>
              <a:avLst/>
              <a:gdLst/>
              <a:ahLst/>
              <a:cxnLst/>
              <a:rect l="l" t="t" r="r" b="b"/>
              <a:pathLst>
                <a:path w="1879698" h="846113">
                  <a:moveTo>
                    <a:pt x="46645" y="0"/>
                  </a:moveTo>
                  <a:lnTo>
                    <a:pt x="1833053" y="0"/>
                  </a:lnTo>
                  <a:cubicBezTo>
                    <a:pt x="1845424" y="0"/>
                    <a:pt x="1857289" y="4914"/>
                    <a:pt x="1866036" y="13662"/>
                  </a:cubicBezTo>
                  <a:cubicBezTo>
                    <a:pt x="1874784" y="22410"/>
                    <a:pt x="1879698" y="34274"/>
                    <a:pt x="1879698" y="46645"/>
                  </a:cubicBezTo>
                  <a:lnTo>
                    <a:pt x="1879698" y="799469"/>
                  </a:lnTo>
                  <a:cubicBezTo>
                    <a:pt x="1879698" y="825230"/>
                    <a:pt x="1858814" y="846113"/>
                    <a:pt x="1833053" y="846113"/>
                  </a:cubicBezTo>
                  <a:lnTo>
                    <a:pt x="46645" y="846113"/>
                  </a:lnTo>
                  <a:cubicBezTo>
                    <a:pt x="34274" y="846113"/>
                    <a:pt x="22410" y="841199"/>
                    <a:pt x="13662" y="832451"/>
                  </a:cubicBezTo>
                  <a:cubicBezTo>
                    <a:pt x="4914" y="823704"/>
                    <a:pt x="0" y="811839"/>
                    <a:pt x="0" y="799469"/>
                  </a:cubicBezTo>
                  <a:lnTo>
                    <a:pt x="0" y="46645"/>
                  </a:lnTo>
                  <a:cubicBezTo>
                    <a:pt x="0" y="20884"/>
                    <a:pt x="20884" y="0"/>
                    <a:pt x="46645"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28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36" name="TextBox 18">
              <a:extLst>
                <a:ext uri="{FF2B5EF4-FFF2-40B4-BE49-F238E27FC236}">
                  <a16:creationId xmlns:a16="http://schemas.microsoft.com/office/drawing/2014/main" id="{F9B2990B-7288-7100-12F0-1FF02FA64A87}"/>
                </a:ext>
              </a:extLst>
            </p:cNvPr>
            <p:cNvSpPr txBox="1"/>
            <p:nvPr/>
          </p:nvSpPr>
          <p:spPr>
            <a:xfrm>
              <a:off x="0" y="-38100"/>
              <a:ext cx="1879698" cy="88421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2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pSp>
      <p:pic>
        <p:nvPicPr>
          <p:cNvPr id="38" name="Picture 37">
            <a:extLst>
              <a:ext uri="{FF2B5EF4-FFF2-40B4-BE49-F238E27FC236}">
                <a16:creationId xmlns:a16="http://schemas.microsoft.com/office/drawing/2014/main" id="{FAEED11C-3975-4727-FE64-ABF56BC0D8D6}"/>
              </a:ext>
            </a:extLst>
          </p:cNvPr>
          <p:cNvPicPr>
            <a:picLocks noChangeAspect="1"/>
          </p:cNvPicPr>
          <p:nvPr/>
        </p:nvPicPr>
        <p:blipFill>
          <a:blip r:embed="rId3"/>
          <a:stretch>
            <a:fillRect/>
          </a:stretch>
        </p:blipFill>
        <p:spPr>
          <a:xfrm>
            <a:off x="9983779" y="2746706"/>
            <a:ext cx="8163991" cy="5449464"/>
          </a:xfrm>
          <a:prstGeom prst="rect">
            <a:avLst/>
          </a:prstGeom>
        </p:spPr>
      </p:pic>
      <p:grpSp>
        <p:nvGrpSpPr>
          <p:cNvPr id="39" name="Group 16">
            <a:extLst>
              <a:ext uri="{FF2B5EF4-FFF2-40B4-BE49-F238E27FC236}">
                <a16:creationId xmlns:a16="http://schemas.microsoft.com/office/drawing/2014/main" id="{E93301FD-186F-4A2E-1CBA-39F0AD549358}"/>
              </a:ext>
            </a:extLst>
          </p:cNvPr>
          <p:cNvGrpSpPr/>
          <p:nvPr/>
        </p:nvGrpSpPr>
        <p:grpSpPr>
          <a:xfrm>
            <a:off x="5626016" y="2302215"/>
            <a:ext cx="4477667" cy="3074520"/>
            <a:chOff x="0" y="0"/>
            <a:chExt cx="1879698" cy="846113"/>
          </a:xfrm>
        </p:grpSpPr>
        <p:sp>
          <p:nvSpPr>
            <p:cNvPr id="40" name="Freeform 17">
              <a:extLst>
                <a:ext uri="{FF2B5EF4-FFF2-40B4-BE49-F238E27FC236}">
                  <a16:creationId xmlns:a16="http://schemas.microsoft.com/office/drawing/2014/main" id="{514F6051-B144-DCBF-5F7C-9C4A042AD019}"/>
                </a:ext>
              </a:extLst>
            </p:cNvPr>
            <p:cNvSpPr/>
            <p:nvPr/>
          </p:nvSpPr>
          <p:spPr>
            <a:xfrm>
              <a:off x="0" y="0"/>
              <a:ext cx="1879698" cy="846113"/>
            </a:xfrm>
            <a:custGeom>
              <a:avLst/>
              <a:gdLst/>
              <a:ahLst/>
              <a:cxnLst/>
              <a:rect l="l" t="t" r="r" b="b"/>
              <a:pathLst>
                <a:path w="1879698" h="846113">
                  <a:moveTo>
                    <a:pt x="46645" y="0"/>
                  </a:moveTo>
                  <a:lnTo>
                    <a:pt x="1833053" y="0"/>
                  </a:lnTo>
                  <a:cubicBezTo>
                    <a:pt x="1845424" y="0"/>
                    <a:pt x="1857289" y="4914"/>
                    <a:pt x="1866036" y="13662"/>
                  </a:cubicBezTo>
                  <a:cubicBezTo>
                    <a:pt x="1874784" y="22410"/>
                    <a:pt x="1879698" y="34274"/>
                    <a:pt x="1879698" y="46645"/>
                  </a:cubicBezTo>
                  <a:lnTo>
                    <a:pt x="1879698" y="799469"/>
                  </a:lnTo>
                  <a:cubicBezTo>
                    <a:pt x="1879698" y="825230"/>
                    <a:pt x="1858814" y="846113"/>
                    <a:pt x="1833053" y="846113"/>
                  </a:cubicBezTo>
                  <a:lnTo>
                    <a:pt x="46645" y="846113"/>
                  </a:lnTo>
                  <a:cubicBezTo>
                    <a:pt x="34274" y="846113"/>
                    <a:pt x="22410" y="841199"/>
                    <a:pt x="13662" y="832451"/>
                  </a:cubicBezTo>
                  <a:cubicBezTo>
                    <a:pt x="4914" y="823704"/>
                    <a:pt x="0" y="811839"/>
                    <a:pt x="0" y="799469"/>
                  </a:cubicBezTo>
                  <a:lnTo>
                    <a:pt x="0" y="46645"/>
                  </a:lnTo>
                  <a:cubicBezTo>
                    <a:pt x="0" y="20884"/>
                    <a:pt x="20884" y="0"/>
                    <a:pt x="46645"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2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1" name="TextBox 18">
              <a:extLst>
                <a:ext uri="{FF2B5EF4-FFF2-40B4-BE49-F238E27FC236}">
                  <a16:creationId xmlns:a16="http://schemas.microsoft.com/office/drawing/2014/main" id="{1EC6D207-3C38-45F8-E233-BB7CD4791BD8}"/>
                </a:ext>
              </a:extLst>
            </p:cNvPr>
            <p:cNvSpPr txBox="1"/>
            <p:nvPr/>
          </p:nvSpPr>
          <p:spPr>
            <a:xfrm>
              <a:off x="0" y="-38100"/>
              <a:ext cx="1879698" cy="88421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2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pSp>
      <p:sp>
        <p:nvSpPr>
          <p:cNvPr id="43" name="TextBox 32">
            <a:extLst>
              <a:ext uri="{FF2B5EF4-FFF2-40B4-BE49-F238E27FC236}">
                <a16:creationId xmlns:a16="http://schemas.microsoft.com/office/drawing/2014/main" id="{A2311F86-638B-181D-9D12-3D3B2089F611}"/>
              </a:ext>
            </a:extLst>
          </p:cNvPr>
          <p:cNvSpPr txBox="1"/>
          <p:nvPr/>
        </p:nvSpPr>
        <p:spPr>
          <a:xfrm>
            <a:off x="6057913" y="6483304"/>
            <a:ext cx="3570332" cy="2154436"/>
          </a:xfrm>
          <a:prstGeom prst="rect">
            <a:avLst/>
          </a:prstGeom>
        </p:spPr>
        <p:txBody>
          <a:bodyPr wrap="square" lIns="0" tIns="0" rIns="0" bIns="0" rtlCol="0" anchor="t">
            <a:spAutoFit/>
          </a:bodyPr>
          <a:lstStyle/>
          <a:p>
            <a:pPr algn="ctr"/>
            <a:r>
              <a:rPr lang="el-GR" sz="2800" b="1" u="sng" dirty="0" err="1">
                <a:latin typeface="Roboto" panose="02000000000000000000" pitchFamily="2" charset="0"/>
                <a:ea typeface="Roboto" panose="02000000000000000000" pitchFamily="2" charset="0"/>
                <a:cs typeface="Roboto" panose="02000000000000000000" pitchFamily="2" charset="0"/>
              </a:rPr>
              <a:t>FAIRified</a:t>
            </a:r>
            <a:r>
              <a:rPr lang="en-US" sz="2800" u="sng" dirty="0">
                <a:latin typeface="Roboto" panose="02000000000000000000" pitchFamily="2" charset="0"/>
                <a:ea typeface="Roboto" panose="02000000000000000000" pitchFamily="2" charset="0"/>
                <a:cs typeface="Roboto" panose="02000000000000000000" pitchFamily="2" charset="0"/>
              </a:rPr>
              <a:t>:</a:t>
            </a:r>
          </a:p>
          <a:p>
            <a:pPr lvl="0" algn="ctr"/>
            <a:r>
              <a:rPr lang="el-GR" sz="2800" dirty="0" err="1">
                <a:latin typeface="Roboto" panose="02000000000000000000" pitchFamily="2" charset="0"/>
                <a:ea typeface="Roboto" panose="02000000000000000000" pitchFamily="2" charset="0"/>
                <a:cs typeface="Roboto" panose="02000000000000000000" pitchFamily="2" charset="0"/>
              </a:rPr>
              <a:t>Describes</a:t>
            </a:r>
            <a:r>
              <a:rPr lang="el-GR" sz="2800" dirty="0">
                <a:latin typeface="Roboto" panose="02000000000000000000" pitchFamily="2" charset="0"/>
                <a:ea typeface="Roboto" panose="02000000000000000000" pitchFamily="2" charset="0"/>
                <a:cs typeface="Roboto" panose="02000000000000000000" pitchFamily="2" charset="0"/>
              </a:rPr>
              <a:t> the </a:t>
            </a:r>
            <a:r>
              <a:rPr lang="el-GR" sz="2800" dirty="0" err="1">
                <a:latin typeface="Roboto" panose="02000000000000000000" pitchFamily="2" charset="0"/>
                <a:ea typeface="Roboto" panose="02000000000000000000" pitchFamily="2" charset="0"/>
                <a:cs typeface="Roboto" panose="02000000000000000000" pitchFamily="2" charset="0"/>
              </a:rPr>
              <a:t>transformed</a:t>
            </a:r>
            <a:r>
              <a:rPr lang="el-GR" sz="2800" dirty="0">
                <a:latin typeface="Roboto" panose="02000000000000000000" pitchFamily="2" charset="0"/>
                <a:ea typeface="Roboto" panose="02000000000000000000" pitchFamily="2" charset="0"/>
                <a:cs typeface="Roboto" panose="02000000000000000000" pitchFamily="2" charset="0"/>
              </a:rPr>
              <a:t> </a:t>
            </a:r>
            <a:r>
              <a:rPr lang="el-GR" sz="2800" dirty="0" err="1">
                <a:latin typeface="Roboto" panose="02000000000000000000" pitchFamily="2" charset="0"/>
                <a:ea typeface="Roboto" panose="02000000000000000000" pitchFamily="2" charset="0"/>
                <a:cs typeface="Roboto" panose="02000000000000000000" pitchFamily="2" charset="0"/>
              </a:rPr>
              <a:t>dataset</a:t>
            </a:r>
            <a:r>
              <a:rPr lang="el-GR" sz="2800" dirty="0">
                <a:latin typeface="Roboto" panose="02000000000000000000" pitchFamily="2" charset="0"/>
                <a:ea typeface="Roboto" panose="02000000000000000000" pitchFamily="2" charset="0"/>
                <a:cs typeface="Roboto" panose="02000000000000000000" pitchFamily="2" charset="0"/>
              </a:rPr>
              <a:t>, </a:t>
            </a:r>
            <a:r>
              <a:rPr lang="el-GR" sz="2800" dirty="0" err="1">
                <a:latin typeface="Roboto" panose="02000000000000000000" pitchFamily="2" charset="0"/>
                <a:ea typeface="Roboto" panose="02000000000000000000" pitchFamily="2" charset="0"/>
                <a:cs typeface="Roboto" panose="02000000000000000000" pitchFamily="2" charset="0"/>
              </a:rPr>
              <a:t>provided</a:t>
            </a:r>
            <a:r>
              <a:rPr lang="el-GR" sz="2800" dirty="0">
                <a:latin typeface="Roboto" panose="02000000000000000000" pitchFamily="2" charset="0"/>
                <a:ea typeface="Roboto" panose="02000000000000000000" pitchFamily="2" charset="0"/>
                <a:cs typeface="Roboto" panose="02000000000000000000" pitchFamily="2" charset="0"/>
              </a:rPr>
              <a:t> in RDF/</a:t>
            </a:r>
            <a:r>
              <a:rPr lang="el-GR" sz="2800" dirty="0" err="1">
                <a:latin typeface="Roboto" panose="02000000000000000000" pitchFamily="2" charset="0"/>
                <a:ea typeface="Roboto" panose="02000000000000000000" pitchFamily="2" charset="0"/>
                <a:cs typeface="Roboto" panose="02000000000000000000" pitchFamily="2" charset="0"/>
              </a:rPr>
              <a:t>Turtle</a:t>
            </a:r>
            <a:r>
              <a:rPr lang="el-GR" sz="2800" dirty="0">
                <a:latin typeface="Roboto" panose="02000000000000000000" pitchFamily="2" charset="0"/>
                <a:ea typeface="Roboto" panose="02000000000000000000" pitchFamily="2" charset="0"/>
                <a:cs typeface="Roboto" panose="02000000000000000000" pitchFamily="2" charset="0"/>
              </a:rPr>
              <a:t> (.</a:t>
            </a:r>
            <a:r>
              <a:rPr lang="el-GR" sz="2800" dirty="0" err="1">
                <a:latin typeface="Roboto" panose="02000000000000000000" pitchFamily="2" charset="0"/>
                <a:ea typeface="Roboto" panose="02000000000000000000" pitchFamily="2" charset="0"/>
                <a:cs typeface="Roboto" panose="02000000000000000000" pitchFamily="2" charset="0"/>
              </a:rPr>
              <a:t>ttl</a:t>
            </a:r>
            <a:r>
              <a:rPr lang="el-GR" sz="2800" dirty="0">
                <a:latin typeface="Roboto" panose="02000000000000000000" pitchFamily="2" charset="0"/>
                <a:ea typeface="Roboto" panose="02000000000000000000" pitchFamily="2" charset="0"/>
                <a:cs typeface="Roboto" panose="02000000000000000000" pitchFamily="2" charset="0"/>
              </a:rPr>
              <a:t>) </a:t>
            </a:r>
            <a:r>
              <a:rPr lang="el-GR" sz="2800" dirty="0" err="1">
                <a:latin typeface="Roboto" panose="02000000000000000000" pitchFamily="2" charset="0"/>
                <a:ea typeface="Roboto" panose="02000000000000000000" pitchFamily="2" charset="0"/>
                <a:cs typeface="Roboto" panose="02000000000000000000" pitchFamily="2" charset="0"/>
              </a:rPr>
              <a:t>format</a:t>
            </a:r>
            <a:r>
              <a:rPr lang="el-GR" sz="2800" dirty="0">
                <a:latin typeface="Roboto" panose="02000000000000000000" pitchFamily="2" charset="0"/>
                <a:ea typeface="Roboto" panose="02000000000000000000" pitchFamily="2" charset="0"/>
                <a:cs typeface="Roboto" panose="02000000000000000000" pitchFamily="2" charset="0"/>
              </a:rPr>
              <a:t>.</a:t>
            </a:r>
          </a:p>
        </p:txBody>
      </p:sp>
      <p:sp>
        <p:nvSpPr>
          <p:cNvPr id="45" name="TextBox 32">
            <a:extLst>
              <a:ext uri="{FF2B5EF4-FFF2-40B4-BE49-F238E27FC236}">
                <a16:creationId xmlns:a16="http://schemas.microsoft.com/office/drawing/2014/main" id="{4FEF1089-3D70-CCD4-7B05-E103E22634C0}"/>
              </a:ext>
            </a:extLst>
          </p:cNvPr>
          <p:cNvSpPr txBox="1"/>
          <p:nvPr/>
        </p:nvSpPr>
        <p:spPr>
          <a:xfrm>
            <a:off x="1211161" y="3561622"/>
            <a:ext cx="3570332" cy="1292662"/>
          </a:xfrm>
          <a:prstGeom prst="rect">
            <a:avLst/>
          </a:prstGeom>
        </p:spPr>
        <p:txBody>
          <a:bodyPr wrap="square" lIns="0" tIns="0" rIns="0" bIns="0" rtlCol="0" anchor="t">
            <a:spAutoFit/>
          </a:bodyPr>
          <a:lstStyle/>
          <a:p>
            <a:r>
              <a:rPr lang="en-US" sz="2800" dirty="0">
                <a:latin typeface="Roboto" panose="02000000000000000000" pitchFamily="2" charset="0"/>
                <a:ea typeface="Roboto" panose="02000000000000000000" pitchFamily="2" charset="0"/>
                <a:cs typeface="Roboto" panose="02000000000000000000" pitchFamily="2" charset="0"/>
              </a:rPr>
              <a:t>Describes the catalog containing the project dataset</a:t>
            </a:r>
            <a:endParaRPr lang="el-GR" sz="2800" dirty="0">
              <a:latin typeface="Roboto" panose="02000000000000000000" pitchFamily="2" charset="0"/>
              <a:ea typeface="Roboto" panose="02000000000000000000" pitchFamily="2" charset="0"/>
              <a:cs typeface="Roboto" panose="02000000000000000000" pitchFamily="2" charset="0"/>
            </a:endParaRPr>
          </a:p>
        </p:txBody>
      </p:sp>
      <p:sp>
        <p:nvSpPr>
          <p:cNvPr id="47" name="TextBox 32">
            <a:extLst>
              <a:ext uri="{FF2B5EF4-FFF2-40B4-BE49-F238E27FC236}">
                <a16:creationId xmlns:a16="http://schemas.microsoft.com/office/drawing/2014/main" id="{7FA91991-20EC-F88A-5AC1-406BE84B24EB}"/>
              </a:ext>
            </a:extLst>
          </p:cNvPr>
          <p:cNvSpPr txBox="1"/>
          <p:nvPr/>
        </p:nvSpPr>
        <p:spPr>
          <a:xfrm>
            <a:off x="6057913" y="3389287"/>
            <a:ext cx="3570332" cy="1723549"/>
          </a:xfrm>
          <a:prstGeom prst="rect">
            <a:avLst/>
          </a:prstGeom>
        </p:spPr>
        <p:txBody>
          <a:bodyPr wrap="square" lIns="0" tIns="0" rIns="0" bIns="0" rtlCol="0" anchor="t">
            <a:spAutoFit/>
          </a:bodyPr>
          <a:lstStyle/>
          <a:p>
            <a:r>
              <a:rPr lang="en-US" sz="2800" dirty="0">
                <a:latin typeface="Roboto" panose="02000000000000000000" pitchFamily="2" charset="0"/>
                <a:ea typeface="Roboto" panose="02000000000000000000" pitchFamily="2" charset="0"/>
                <a:cs typeface="Roboto" panose="02000000000000000000" pitchFamily="2" charset="0"/>
              </a:rPr>
              <a:t>Provides descriptive metadata about the Premier League player statistics dataset.</a:t>
            </a:r>
            <a:endParaRPr lang="el-GR" sz="2800" dirty="0">
              <a:latin typeface="Roboto" panose="02000000000000000000" pitchFamily="2" charset="0"/>
              <a:ea typeface="Roboto" panose="02000000000000000000" pitchFamily="2" charset="0"/>
              <a:cs typeface="Roboto" panose="02000000000000000000" pitchFamily="2" charset="0"/>
            </a:endParaRPr>
          </a:p>
        </p:txBody>
      </p:sp>
      <p:sp>
        <p:nvSpPr>
          <p:cNvPr id="49" name="TextBox 27">
            <a:extLst>
              <a:ext uri="{FF2B5EF4-FFF2-40B4-BE49-F238E27FC236}">
                <a16:creationId xmlns:a16="http://schemas.microsoft.com/office/drawing/2014/main" id="{526D3CBA-0ECE-DCA7-A918-8D55C4838F29}"/>
              </a:ext>
            </a:extLst>
          </p:cNvPr>
          <p:cNvSpPr txBox="1"/>
          <p:nvPr/>
        </p:nvSpPr>
        <p:spPr>
          <a:xfrm>
            <a:off x="5751107" y="2574560"/>
            <a:ext cx="4251278" cy="430887"/>
          </a:xfrm>
          <a:prstGeom prst="rect">
            <a:avLst/>
          </a:prstGeom>
        </p:spPr>
        <p:txBody>
          <a:bodyPr lIns="0" tIns="0" rIns="0" bIns="0" rtlCol="0" anchor="t">
            <a:spAutoFit/>
          </a:bodyPr>
          <a:lstStyle/>
          <a:p>
            <a:pPr algn="ctr"/>
            <a:r>
              <a:rPr lang="el-GR" sz="2800" b="1" dirty="0" err="1">
                <a:latin typeface="Roboto" panose="02000000000000000000" pitchFamily="2" charset="0"/>
                <a:ea typeface="Roboto" panose="02000000000000000000" pitchFamily="2" charset="0"/>
                <a:cs typeface="Roboto" panose="02000000000000000000" pitchFamily="2" charset="0"/>
              </a:rPr>
              <a:t>Dataset</a:t>
            </a:r>
            <a:r>
              <a:rPr lang="el-GR" sz="2800" b="1" dirty="0">
                <a:latin typeface="Roboto" panose="02000000000000000000" pitchFamily="2" charset="0"/>
                <a:ea typeface="Roboto" panose="02000000000000000000" pitchFamily="2" charset="0"/>
                <a:cs typeface="Roboto" panose="02000000000000000000" pitchFamily="2" charset="0"/>
              </a:rPr>
              <a:t> </a:t>
            </a:r>
            <a:r>
              <a:rPr lang="el-GR" sz="2800" b="1" dirty="0" err="1">
                <a:latin typeface="Roboto" panose="02000000000000000000" pitchFamily="2" charset="0"/>
                <a:ea typeface="Roboto" panose="02000000000000000000" pitchFamily="2" charset="0"/>
                <a:cs typeface="Roboto" panose="02000000000000000000" pitchFamily="2" charset="0"/>
              </a:rPr>
              <a:t>Record</a:t>
            </a:r>
            <a:endParaRPr lang="el-GR" sz="2800" dirty="0">
              <a:latin typeface="Roboto" panose="02000000000000000000" pitchFamily="2" charset="0"/>
              <a:ea typeface="Roboto" panose="02000000000000000000" pitchFamily="2" charset="0"/>
              <a:cs typeface="Roboto" panose="02000000000000000000" pitchFamily="2" charset="0"/>
            </a:endParaRPr>
          </a:p>
        </p:txBody>
      </p:sp>
      <p:sp>
        <p:nvSpPr>
          <p:cNvPr id="51" name="TextBox 27">
            <a:extLst>
              <a:ext uri="{FF2B5EF4-FFF2-40B4-BE49-F238E27FC236}">
                <a16:creationId xmlns:a16="http://schemas.microsoft.com/office/drawing/2014/main" id="{1C5C6FDF-FF6C-E954-2E57-D3E7AAC13C3E}"/>
              </a:ext>
            </a:extLst>
          </p:cNvPr>
          <p:cNvSpPr txBox="1"/>
          <p:nvPr/>
        </p:nvSpPr>
        <p:spPr>
          <a:xfrm>
            <a:off x="960604" y="2543167"/>
            <a:ext cx="4251278" cy="430887"/>
          </a:xfrm>
          <a:prstGeom prst="rect">
            <a:avLst/>
          </a:prstGeom>
        </p:spPr>
        <p:txBody>
          <a:bodyPr lIns="0" tIns="0" rIns="0" bIns="0" rtlCol="0" anchor="t">
            <a:spAutoFit/>
          </a:bodyPr>
          <a:lstStyle/>
          <a:p>
            <a:pPr algn="ctr"/>
            <a:r>
              <a:rPr lang="el-GR" sz="2800" b="1" dirty="0" err="1">
                <a:latin typeface="Roboto" panose="02000000000000000000" pitchFamily="2" charset="0"/>
                <a:ea typeface="Roboto" panose="02000000000000000000" pitchFamily="2" charset="0"/>
                <a:cs typeface="Roboto" panose="02000000000000000000" pitchFamily="2" charset="0"/>
              </a:rPr>
              <a:t>Catalog</a:t>
            </a:r>
            <a:r>
              <a:rPr lang="el-GR" sz="2800" b="1" dirty="0">
                <a:latin typeface="Roboto" panose="02000000000000000000" pitchFamily="2" charset="0"/>
                <a:ea typeface="Roboto" panose="02000000000000000000" pitchFamily="2" charset="0"/>
                <a:cs typeface="Roboto" panose="02000000000000000000" pitchFamily="2" charset="0"/>
              </a:rPr>
              <a:t> </a:t>
            </a:r>
            <a:r>
              <a:rPr lang="el-GR" sz="2800" b="1" dirty="0" err="1">
                <a:latin typeface="Roboto" panose="02000000000000000000" pitchFamily="2" charset="0"/>
                <a:ea typeface="Roboto" panose="02000000000000000000" pitchFamily="2" charset="0"/>
                <a:cs typeface="Roboto" panose="02000000000000000000" pitchFamily="2" charset="0"/>
              </a:rPr>
              <a:t>Record</a:t>
            </a:r>
            <a:endParaRPr lang="el-GR" sz="28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254213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70B79-C295-99AB-143F-FE54784A810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CA04F87-3FA6-C403-D70A-C3D93D4C2B9F}"/>
              </a:ext>
            </a:extLst>
          </p:cNvPr>
          <p:cNvSpPr/>
          <p:nvPr/>
        </p:nvSpPr>
        <p:spPr>
          <a:xfrm>
            <a:off x="-228600" y="1"/>
            <a:ext cx="19964399" cy="10286999"/>
          </a:xfrm>
          <a:custGeom>
            <a:avLst/>
            <a:gdLst/>
            <a:ahLst/>
            <a:cxnLst/>
            <a:rect l="l" t="t" r="r" b="b"/>
            <a:pathLst>
              <a:path w="4416690" h="2234140">
                <a:moveTo>
                  <a:pt x="23545" y="0"/>
                </a:moveTo>
                <a:lnTo>
                  <a:pt x="4393146" y="0"/>
                </a:lnTo>
                <a:cubicBezTo>
                  <a:pt x="4406149" y="0"/>
                  <a:pt x="4416690" y="10541"/>
                  <a:pt x="4416690" y="23545"/>
                </a:cubicBezTo>
                <a:lnTo>
                  <a:pt x="4416690" y="2210595"/>
                </a:lnTo>
                <a:cubicBezTo>
                  <a:pt x="4416690" y="2223599"/>
                  <a:pt x="4406149" y="2234140"/>
                  <a:pt x="4393146" y="2234140"/>
                </a:cubicBezTo>
                <a:lnTo>
                  <a:pt x="23545" y="2234140"/>
                </a:lnTo>
                <a:cubicBezTo>
                  <a:pt x="17300" y="2234140"/>
                  <a:pt x="11312" y="2231660"/>
                  <a:pt x="6896" y="2227244"/>
                </a:cubicBezTo>
                <a:cubicBezTo>
                  <a:pt x="2481" y="2222829"/>
                  <a:pt x="0" y="2216840"/>
                  <a:pt x="0" y="2210595"/>
                </a:cubicBezTo>
                <a:lnTo>
                  <a:pt x="0" y="23545"/>
                </a:lnTo>
                <a:cubicBezTo>
                  <a:pt x="0" y="17300"/>
                  <a:pt x="2481" y="11312"/>
                  <a:pt x="6896" y="6896"/>
                </a:cubicBezTo>
                <a:cubicBezTo>
                  <a:pt x="11312" y="2481"/>
                  <a:pt x="17300" y="0"/>
                  <a:pt x="23545" y="0"/>
                </a:cubicBezTo>
                <a:close/>
              </a:path>
            </a:pathLst>
          </a:custGeom>
          <a:solidFill>
            <a:schemeClr val="tx1"/>
          </a:solidFill>
        </p:spPr>
        <p:txBody>
          <a:bodyPr/>
          <a:lstStyle/>
          <a:p>
            <a:endParaRPr lang="el-GR" dirty="0"/>
          </a:p>
        </p:txBody>
      </p:sp>
      <p:grpSp>
        <p:nvGrpSpPr>
          <p:cNvPr id="5" name="Group 5">
            <a:extLst>
              <a:ext uri="{FF2B5EF4-FFF2-40B4-BE49-F238E27FC236}">
                <a16:creationId xmlns:a16="http://schemas.microsoft.com/office/drawing/2014/main" id="{431404A0-4E4F-BB4C-BA4E-A20FCFC8F7CF}"/>
              </a:ext>
            </a:extLst>
          </p:cNvPr>
          <p:cNvGrpSpPr/>
          <p:nvPr/>
        </p:nvGrpSpPr>
        <p:grpSpPr>
          <a:xfrm>
            <a:off x="4870291" y="6625639"/>
            <a:ext cx="11764001" cy="1692000"/>
            <a:chOff x="0" y="0"/>
            <a:chExt cx="3098338" cy="352460"/>
          </a:xfrm>
        </p:grpSpPr>
        <p:sp>
          <p:nvSpPr>
            <p:cNvPr id="6" name="Freeform 6">
              <a:extLst>
                <a:ext uri="{FF2B5EF4-FFF2-40B4-BE49-F238E27FC236}">
                  <a16:creationId xmlns:a16="http://schemas.microsoft.com/office/drawing/2014/main" id="{98E03B79-6E55-5B0C-EA9D-6C35AFCB279D}"/>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chemeClr val="bg1"/>
            </a:solidFill>
          </p:spPr>
          <p:txBody>
            <a:bodyPr/>
            <a:lstStyle/>
            <a:p>
              <a:endParaRPr lang="el-GR" dirty="0"/>
            </a:p>
          </p:txBody>
        </p:sp>
        <p:sp>
          <p:nvSpPr>
            <p:cNvPr id="7" name="TextBox 7">
              <a:extLst>
                <a:ext uri="{FF2B5EF4-FFF2-40B4-BE49-F238E27FC236}">
                  <a16:creationId xmlns:a16="http://schemas.microsoft.com/office/drawing/2014/main" id="{295F549C-4E45-7A2C-C8B3-873019020EC7}"/>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E587498-87A7-2EC5-611C-FEE45AA90F69}"/>
              </a:ext>
            </a:extLst>
          </p:cNvPr>
          <p:cNvGrpSpPr/>
          <p:nvPr/>
        </p:nvGrpSpPr>
        <p:grpSpPr>
          <a:xfrm>
            <a:off x="4870291" y="4762500"/>
            <a:ext cx="11764001" cy="1692000"/>
            <a:chOff x="0" y="0"/>
            <a:chExt cx="3098338" cy="352460"/>
          </a:xfrm>
        </p:grpSpPr>
        <p:sp>
          <p:nvSpPr>
            <p:cNvPr id="9" name="Freeform 9">
              <a:extLst>
                <a:ext uri="{FF2B5EF4-FFF2-40B4-BE49-F238E27FC236}">
                  <a16:creationId xmlns:a16="http://schemas.microsoft.com/office/drawing/2014/main" id="{76ECEFD9-5426-1FDB-F741-1FAC0AFA32E5}"/>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chemeClr val="bg1"/>
            </a:solidFill>
          </p:spPr>
          <p:txBody>
            <a:bodyPr/>
            <a:lstStyle/>
            <a:p>
              <a:endParaRPr lang="el-GR" dirty="0"/>
            </a:p>
          </p:txBody>
        </p:sp>
        <p:sp>
          <p:nvSpPr>
            <p:cNvPr id="10" name="TextBox 10">
              <a:extLst>
                <a:ext uri="{FF2B5EF4-FFF2-40B4-BE49-F238E27FC236}">
                  <a16:creationId xmlns:a16="http://schemas.microsoft.com/office/drawing/2014/main" id="{4276ECD7-E0B3-6D45-CAD8-092407C319E4}"/>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88CCECEE-7A33-8089-D464-60DF50AD2600}"/>
              </a:ext>
            </a:extLst>
          </p:cNvPr>
          <p:cNvGrpSpPr/>
          <p:nvPr/>
        </p:nvGrpSpPr>
        <p:grpSpPr>
          <a:xfrm>
            <a:off x="4870291" y="2871568"/>
            <a:ext cx="11764001" cy="1692000"/>
            <a:chOff x="0" y="0"/>
            <a:chExt cx="3098338" cy="352460"/>
          </a:xfrm>
        </p:grpSpPr>
        <p:sp>
          <p:nvSpPr>
            <p:cNvPr id="12" name="Freeform 12">
              <a:extLst>
                <a:ext uri="{FF2B5EF4-FFF2-40B4-BE49-F238E27FC236}">
                  <a16:creationId xmlns:a16="http://schemas.microsoft.com/office/drawing/2014/main" id="{B4AA303B-7F2D-9B56-0F0F-E4D7FABF2C4A}"/>
                </a:ext>
              </a:extLst>
            </p:cNvPr>
            <p:cNvSpPr/>
            <p:nvPr/>
          </p:nvSpPr>
          <p:spPr>
            <a:xfrm>
              <a:off x="0" y="0"/>
              <a:ext cx="3098338" cy="352460"/>
            </a:xfrm>
            <a:custGeom>
              <a:avLst/>
              <a:gdLst/>
              <a:ahLst/>
              <a:cxnLst/>
              <a:rect l="l" t="t" r="r" b="b"/>
              <a:pathLst>
                <a:path w="3098338" h="352460">
                  <a:moveTo>
                    <a:pt x="13820" y="0"/>
                  </a:moveTo>
                  <a:lnTo>
                    <a:pt x="3084518" y="0"/>
                  </a:lnTo>
                  <a:cubicBezTo>
                    <a:pt x="3092150" y="0"/>
                    <a:pt x="3098338" y="6187"/>
                    <a:pt x="3098338" y="13820"/>
                  </a:cubicBezTo>
                  <a:lnTo>
                    <a:pt x="3098338" y="338640"/>
                  </a:lnTo>
                  <a:cubicBezTo>
                    <a:pt x="3098338" y="346273"/>
                    <a:pt x="3092150" y="352460"/>
                    <a:pt x="3084518" y="352460"/>
                  </a:cubicBezTo>
                  <a:lnTo>
                    <a:pt x="13820" y="352460"/>
                  </a:lnTo>
                  <a:cubicBezTo>
                    <a:pt x="6187" y="352460"/>
                    <a:pt x="0" y="346273"/>
                    <a:pt x="0" y="338640"/>
                  </a:cubicBezTo>
                  <a:lnTo>
                    <a:pt x="0" y="13820"/>
                  </a:lnTo>
                  <a:cubicBezTo>
                    <a:pt x="0" y="6187"/>
                    <a:pt x="6187" y="0"/>
                    <a:pt x="13820" y="0"/>
                  </a:cubicBezTo>
                  <a:close/>
                </a:path>
              </a:pathLst>
            </a:custGeom>
            <a:solidFill>
              <a:schemeClr val="bg1"/>
            </a:solidFill>
          </p:spPr>
          <p:txBody>
            <a:bodyPr/>
            <a:lstStyle/>
            <a:p>
              <a:endParaRPr lang="el-GR" dirty="0"/>
            </a:p>
          </p:txBody>
        </p:sp>
        <p:sp>
          <p:nvSpPr>
            <p:cNvPr id="13" name="TextBox 13">
              <a:extLst>
                <a:ext uri="{FF2B5EF4-FFF2-40B4-BE49-F238E27FC236}">
                  <a16:creationId xmlns:a16="http://schemas.microsoft.com/office/drawing/2014/main" id="{8D0BAC35-1DE7-EFB0-4359-2085B50C53A0}"/>
                </a:ext>
              </a:extLst>
            </p:cNvPr>
            <p:cNvSpPr txBox="1"/>
            <p:nvPr/>
          </p:nvSpPr>
          <p:spPr>
            <a:xfrm>
              <a:off x="0" y="-38100"/>
              <a:ext cx="3098338" cy="390560"/>
            </a:xfrm>
            <a:prstGeom prst="rect">
              <a:avLst/>
            </a:prstGeom>
          </p:spPr>
          <p:txBody>
            <a:bodyPr lIns="50800" tIns="50800" rIns="50800" bIns="50800" rtlCol="0" anchor="ctr"/>
            <a:lstStyle/>
            <a:p>
              <a:pPr algn="ctr">
                <a:lnSpc>
                  <a:spcPts val="2659"/>
                </a:lnSpc>
              </a:pPr>
              <a:endParaRPr/>
            </a:p>
          </p:txBody>
        </p:sp>
      </p:grpSp>
      <p:sp>
        <p:nvSpPr>
          <p:cNvPr id="18" name="Freeform 18">
            <a:extLst>
              <a:ext uri="{FF2B5EF4-FFF2-40B4-BE49-F238E27FC236}">
                <a16:creationId xmlns:a16="http://schemas.microsoft.com/office/drawing/2014/main" id="{96660DC6-1C61-A808-B607-977059E2AB8B}"/>
              </a:ext>
            </a:extLst>
          </p:cNvPr>
          <p:cNvSpPr/>
          <p:nvPr/>
        </p:nvSpPr>
        <p:spPr>
          <a:xfrm>
            <a:off x="971946" y="8506533"/>
            <a:ext cx="1388865" cy="1319422"/>
          </a:xfrm>
          <a:custGeom>
            <a:avLst/>
            <a:gdLst/>
            <a:ahLst/>
            <a:cxnLst/>
            <a:rect l="l" t="t" r="r" b="b"/>
            <a:pathLst>
              <a:path w="1388865" h="1319422">
                <a:moveTo>
                  <a:pt x="0" y="0"/>
                </a:moveTo>
                <a:lnTo>
                  <a:pt x="1388865" y="0"/>
                </a:lnTo>
                <a:lnTo>
                  <a:pt x="1388865" y="1319422"/>
                </a:lnTo>
                <a:lnTo>
                  <a:pt x="0" y="13194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p>
        </p:txBody>
      </p:sp>
      <p:sp>
        <p:nvSpPr>
          <p:cNvPr id="21" name="TextBox 21">
            <a:extLst>
              <a:ext uri="{FF2B5EF4-FFF2-40B4-BE49-F238E27FC236}">
                <a16:creationId xmlns:a16="http://schemas.microsoft.com/office/drawing/2014/main" id="{1B1B733D-F022-EB49-3C5F-130F787E45F4}"/>
              </a:ext>
            </a:extLst>
          </p:cNvPr>
          <p:cNvSpPr txBox="1"/>
          <p:nvPr/>
        </p:nvSpPr>
        <p:spPr>
          <a:xfrm>
            <a:off x="4870291" y="6922624"/>
            <a:ext cx="11764001" cy="1482909"/>
          </a:xfrm>
          <a:prstGeom prst="rect">
            <a:avLst/>
          </a:prstGeom>
        </p:spPr>
        <p:txBody>
          <a:bodyPr lIns="50800" tIns="50800" rIns="50800" bIns="50800" rtlCol="0" anchor="ctr"/>
          <a:lstStyle/>
          <a:p>
            <a:pPr algn="ctr">
              <a:lnSpc>
                <a:spcPts val="2659"/>
              </a:lnSpc>
            </a:pPr>
            <a:endParaRPr/>
          </a:p>
        </p:txBody>
      </p:sp>
      <p:sp>
        <p:nvSpPr>
          <p:cNvPr id="22" name="TextBox 22">
            <a:extLst>
              <a:ext uri="{FF2B5EF4-FFF2-40B4-BE49-F238E27FC236}">
                <a16:creationId xmlns:a16="http://schemas.microsoft.com/office/drawing/2014/main" id="{62EF3747-4182-C38B-3DC9-5CD6CCD3F5DD}"/>
              </a:ext>
            </a:extLst>
          </p:cNvPr>
          <p:cNvSpPr txBox="1"/>
          <p:nvPr/>
        </p:nvSpPr>
        <p:spPr>
          <a:xfrm>
            <a:off x="3380676" y="1680141"/>
            <a:ext cx="11526647" cy="717947"/>
          </a:xfrm>
          <a:prstGeom prst="rect">
            <a:avLst/>
          </a:prstGeom>
        </p:spPr>
        <p:txBody>
          <a:bodyPr lIns="0" tIns="0" rIns="0" bIns="0" rtlCol="0" anchor="t">
            <a:spAutoFit/>
          </a:bodyPr>
          <a:lstStyle/>
          <a:p>
            <a:pPr algn="ctr">
              <a:lnSpc>
                <a:spcPts val="5671"/>
              </a:lnSpc>
            </a:pPr>
            <a:r>
              <a:rPr lang="en-US" sz="4687" dirty="0">
                <a:solidFill>
                  <a:schemeClr val="bg1"/>
                </a:solidFill>
                <a:latin typeface="Archivo Black"/>
                <a:ea typeface="Archivo Black"/>
                <a:cs typeface="Archivo Black"/>
                <a:sym typeface="Archivo Black"/>
              </a:rPr>
              <a:t>Publication &amp; Persistent Identifiers</a:t>
            </a:r>
          </a:p>
        </p:txBody>
      </p:sp>
      <p:sp>
        <p:nvSpPr>
          <p:cNvPr id="23" name="TextBox 23">
            <a:extLst>
              <a:ext uri="{FF2B5EF4-FFF2-40B4-BE49-F238E27FC236}">
                <a16:creationId xmlns:a16="http://schemas.microsoft.com/office/drawing/2014/main" id="{92E5E518-9CC7-72B0-56CC-485F4840AE60}"/>
              </a:ext>
            </a:extLst>
          </p:cNvPr>
          <p:cNvSpPr txBox="1"/>
          <p:nvPr/>
        </p:nvSpPr>
        <p:spPr>
          <a:xfrm>
            <a:off x="5179771" y="3032413"/>
            <a:ext cx="11660429" cy="1349087"/>
          </a:xfrm>
          <a:prstGeom prst="rect">
            <a:avLst/>
          </a:prstGeom>
        </p:spPr>
        <p:txBody>
          <a:bodyPr wrap="square" lIns="0" tIns="0" rIns="0" bIns="0" rtlCol="0" anchor="t">
            <a:spAutoFit/>
          </a:bodyPr>
          <a:lstStyle/>
          <a:p>
            <a:pPr algn="l">
              <a:lnSpc>
                <a:spcPts val="3757"/>
              </a:lnSpc>
            </a:pPr>
            <a:r>
              <a:rPr lang="en-US" sz="2680" b="1" dirty="0">
                <a:latin typeface="Roboto Bold"/>
                <a:ea typeface="Roboto Bold"/>
                <a:cs typeface="Roboto Bold"/>
                <a:sym typeface="Roboto Bold"/>
              </a:rPr>
              <a:t>Publication:</a:t>
            </a:r>
          </a:p>
          <a:p>
            <a:pPr lvl="0"/>
            <a:r>
              <a:rPr lang="el-GR" sz="2680" dirty="0" err="1">
                <a:latin typeface="Roboto" panose="02000000000000000000" pitchFamily="2" charset="0"/>
                <a:ea typeface="Roboto" panose="02000000000000000000" pitchFamily="2" charset="0"/>
                <a:cs typeface="Roboto" panose="02000000000000000000" pitchFamily="2" charset="0"/>
              </a:rPr>
              <a:t>Published</a:t>
            </a:r>
            <a:r>
              <a:rPr lang="el-GR" sz="2680" dirty="0">
                <a:latin typeface="Roboto" panose="02000000000000000000" pitchFamily="2" charset="0"/>
                <a:ea typeface="Roboto" panose="02000000000000000000" pitchFamily="2" charset="0"/>
                <a:cs typeface="Roboto" panose="02000000000000000000" pitchFamily="2" charset="0"/>
              </a:rPr>
              <a:t> the </a:t>
            </a:r>
            <a:r>
              <a:rPr lang="el-GR" sz="2680" dirty="0" err="1">
                <a:latin typeface="Roboto" panose="02000000000000000000" pitchFamily="2" charset="0"/>
                <a:ea typeface="Roboto" panose="02000000000000000000" pitchFamily="2" charset="0"/>
                <a:cs typeface="Roboto" panose="02000000000000000000" pitchFamily="2" charset="0"/>
              </a:rPr>
              <a:t>project</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resources</a:t>
            </a:r>
            <a:r>
              <a:rPr lang="el-GR" sz="2680" dirty="0">
                <a:latin typeface="Roboto" panose="02000000000000000000" pitchFamily="2" charset="0"/>
                <a:ea typeface="Roboto" panose="02000000000000000000" pitchFamily="2" charset="0"/>
                <a:cs typeface="Roboto" panose="02000000000000000000" pitchFamily="2" charset="0"/>
              </a:rPr>
              <a:t> in a </a:t>
            </a:r>
            <a:r>
              <a:rPr lang="el-GR" sz="2680" dirty="0" err="1">
                <a:latin typeface="Roboto" panose="02000000000000000000" pitchFamily="2" charset="0"/>
                <a:ea typeface="Roboto" panose="02000000000000000000" pitchFamily="2" charset="0"/>
                <a:cs typeface="Roboto" panose="02000000000000000000" pitchFamily="2" charset="0"/>
              </a:rPr>
              <a:t>GitHub</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repository</a:t>
            </a:r>
            <a:r>
              <a:rPr lang="el-GR" sz="2680" dirty="0">
                <a:latin typeface="Roboto" panose="02000000000000000000" pitchFamily="2" charset="0"/>
                <a:ea typeface="Roboto" panose="02000000000000000000" pitchFamily="2" charset="0"/>
                <a:cs typeface="Roboto" panose="02000000000000000000" pitchFamily="2" charset="0"/>
              </a:rPr>
              <a:t>.</a:t>
            </a:r>
          </a:p>
          <a:p>
            <a:pPr lvl="0"/>
            <a:r>
              <a:rPr lang="el-GR" sz="2680" dirty="0" err="1">
                <a:latin typeface="Roboto" panose="02000000000000000000" pitchFamily="2" charset="0"/>
                <a:ea typeface="Roboto" panose="02000000000000000000" pitchFamily="2" charset="0"/>
                <a:cs typeface="Roboto" panose="02000000000000000000" pitchFamily="2" charset="0"/>
              </a:rPr>
              <a:t>Included</a:t>
            </a:r>
            <a:r>
              <a:rPr lang="el-GR" sz="2680" dirty="0">
                <a:latin typeface="Roboto" panose="02000000000000000000" pitchFamily="2" charset="0"/>
                <a:ea typeface="Roboto" panose="02000000000000000000" pitchFamily="2" charset="0"/>
                <a:cs typeface="Roboto" panose="02000000000000000000" pitchFamily="2" charset="0"/>
              </a:rPr>
              <a:t> the </a:t>
            </a:r>
            <a:r>
              <a:rPr lang="el-GR" sz="2680" dirty="0" err="1">
                <a:latin typeface="Roboto" panose="02000000000000000000" pitchFamily="2" charset="0"/>
                <a:ea typeface="Roboto" panose="02000000000000000000" pitchFamily="2" charset="0"/>
                <a:cs typeface="Roboto" panose="02000000000000000000" pitchFamily="2" charset="0"/>
              </a:rPr>
              <a:t>original</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data</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FAIRified</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dataset</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ontology</a:t>
            </a:r>
            <a:r>
              <a:rPr lang="el-GR" sz="2680" dirty="0">
                <a:latin typeface="Roboto" panose="02000000000000000000" pitchFamily="2" charset="0"/>
                <a:ea typeface="Roboto" panose="02000000000000000000" pitchFamily="2" charset="0"/>
                <a:cs typeface="Roboto" panose="02000000000000000000" pitchFamily="2" charset="0"/>
              </a:rPr>
              <a:t> and </a:t>
            </a:r>
            <a:r>
              <a:rPr lang="el-GR" sz="2680" dirty="0" err="1">
                <a:latin typeface="Roboto" panose="02000000000000000000" pitchFamily="2" charset="0"/>
                <a:ea typeface="Roboto" panose="02000000000000000000" pitchFamily="2" charset="0"/>
                <a:cs typeface="Roboto" panose="02000000000000000000" pitchFamily="2" charset="0"/>
              </a:rPr>
              <a:t>metadata</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files</a:t>
            </a:r>
            <a:r>
              <a:rPr lang="el-GR" sz="2680" dirty="0"/>
              <a:t>.</a:t>
            </a:r>
          </a:p>
        </p:txBody>
      </p:sp>
      <p:sp>
        <p:nvSpPr>
          <p:cNvPr id="24" name="TextBox 24">
            <a:extLst>
              <a:ext uri="{FF2B5EF4-FFF2-40B4-BE49-F238E27FC236}">
                <a16:creationId xmlns:a16="http://schemas.microsoft.com/office/drawing/2014/main" id="{0706E3C7-D308-4696-8DB4-4A34ACBDC97C}"/>
              </a:ext>
            </a:extLst>
          </p:cNvPr>
          <p:cNvSpPr txBox="1"/>
          <p:nvPr/>
        </p:nvSpPr>
        <p:spPr>
          <a:xfrm>
            <a:off x="5206985" y="4943559"/>
            <a:ext cx="11633215" cy="1349087"/>
          </a:xfrm>
          <a:prstGeom prst="rect">
            <a:avLst/>
          </a:prstGeom>
        </p:spPr>
        <p:txBody>
          <a:bodyPr wrap="square" lIns="0" tIns="0" rIns="0" bIns="0" rtlCol="0" anchor="t">
            <a:spAutoFit/>
          </a:bodyPr>
          <a:lstStyle/>
          <a:p>
            <a:pPr algn="l">
              <a:lnSpc>
                <a:spcPts val="3757"/>
              </a:lnSpc>
            </a:pPr>
            <a:r>
              <a:rPr lang="en-US" sz="2680" b="1" dirty="0">
                <a:latin typeface="Roboto Bold"/>
                <a:ea typeface="Roboto Bold"/>
                <a:cs typeface="Roboto Bold"/>
                <a:sym typeface="Roboto Bold"/>
              </a:rPr>
              <a:t>Persistent Identifiers</a:t>
            </a:r>
          </a:p>
          <a:p>
            <a:pPr lvl="0"/>
            <a:r>
              <a:rPr lang="el-GR" sz="2680" dirty="0" err="1">
                <a:latin typeface="Roboto" panose="02000000000000000000" pitchFamily="2" charset="0"/>
                <a:ea typeface="Roboto" panose="02000000000000000000" pitchFamily="2" charset="0"/>
                <a:cs typeface="Roboto" panose="02000000000000000000" pitchFamily="2" charset="0"/>
              </a:rPr>
              <a:t>Assigned</a:t>
            </a:r>
            <a:r>
              <a:rPr lang="el-GR" sz="2680" dirty="0">
                <a:latin typeface="Roboto" panose="02000000000000000000" pitchFamily="2" charset="0"/>
                <a:ea typeface="Roboto" panose="02000000000000000000" pitchFamily="2" charset="0"/>
                <a:cs typeface="Roboto" panose="02000000000000000000" pitchFamily="2" charset="0"/>
              </a:rPr>
              <a:t> W3ID </a:t>
            </a:r>
            <a:r>
              <a:rPr lang="el-GR" sz="2680" dirty="0" err="1">
                <a:latin typeface="Roboto" panose="02000000000000000000" pitchFamily="2" charset="0"/>
                <a:ea typeface="Roboto" panose="02000000000000000000" pitchFamily="2" charset="0"/>
                <a:cs typeface="Roboto" panose="02000000000000000000" pitchFamily="2" charset="0"/>
              </a:rPr>
              <a:t>identifiers</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to</a:t>
            </a:r>
            <a:r>
              <a:rPr lang="el-GR" sz="2680" dirty="0">
                <a:latin typeface="Roboto" panose="02000000000000000000" pitchFamily="2" charset="0"/>
                <a:ea typeface="Roboto" panose="02000000000000000000" pitchFamily="2" charset="0"/>
                <a:cs typeface="Roboto" panose="02000000000000000000" pitchFamily="2" charset="0"/>
              </a:rPr>
              <a:t> the </a:t>
            </a:r>
            <a:r>
              <a:rPr lang="el-GR" sz="2680" dirty="0" err="1">
                <a:latin typeface="Roboto" panose="02000000000000000000" pitchFamily="2" charset="0"/>
                <a:ea typeface="Roboto" panose="02000000000000000000" pitchFamily="2" charset="0"/>
                <a:cs typeface="Roboto" panose="02000000000000000000" pitchFamily="2" charset="0"/>
              </a:rPr>
              <a:t>ontology</a:t>
            </a:r>
            <a:r>
              <a:rPr lang="el-GR" sz="2680" dirty="0">
                <a:latin typeface="Roboto" panose="02000000000000000000" pitchFamily="2" charset="0"/>
                <a:ea typeface="Roboto" panose="02000000000000000000" pitchFamily="2" charset="0"/>
                <a:cs typeface="Roboto" panose="02000000000000000000" pitchFamily="2" charset="0"/>
              </a:rPr>
              <a:t> and </a:t>
            </a:r>
            <a:r>
              <a:rPr lang="el-GR" sz="2680" dirty="0" err="1">
                <a:latin typeface="Roboto" panose="02000000000000000000" pitchFamily="2" charset="0"/>
                <a:ea typeface="Roboto" panose="02000000000000000000" pitchFamily="2" charset="0"/>
                <a:cs typeface="Roboto" panose="02000000000000000000" pitchFamily="2" charset="0"/>
              </a:rPr>
              <a:t>both</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data</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distributions</a:t>
            </a:r>
            <a:r>
              <a:rPr lang="el-GR" sz="2680" dirty="0">
                <a:latin typeface="Roboto" panose="02000000000000000000" pitchFamily="2" charset="0"/>
                <a:ea typeface="Roboto" panose="02000000000000000000" pitchFamily="2" charset="0"/>
                <a:cs typeface="Roboto" panose="02000000000000000000" pitchFamily="2" charset="0"/>
              </a:rPr>
              <a:t>.</a:t>
            </a:r>
          </a:p>
          <a:p>
            <a:pPr lvl="0"/>
            <a:r>
              <a:rPr lang="el-GR" sz="2680" dirty="0" err="1">
                <a:latin typeface="Roboto" panose="02000000000000000000" pitchFamily="2" charset="0"/>
                <a:ea typeface="Roboto" panose="02000000000000000000" pitchFamily="2" charset="0"/>
                <a:cs typeface="Roboto" panose="02000000000000000000" pitchFamily="2" charset="0"/>
              </a:rPr>
              <a:t>Linked</a:t>
            </a:r>
            <a:r>
              <a:rPr lang="el-GR" sz="2680" dirty="0">
                <a:latin typeface="Roboto" panose="02000000000000000000" pitchFamily="2" charset="0"/>
                <a:ea typeface="Roboto" panose="02000000000000000000" pitchFamily="2" charset="0"/>
                <a:cs typeface="Roboto" panose="02000000000000000000" pitchFamily="2" charset="0"/>
              </a:rPr>
              <a:t> the </a:t>
            </a:r>
            <a:r>
              <a:rPr lang="el-GR" sz="2680" dirty="0" err="1">
                <a:latin typeface="Roboto" panose="02000000000000000000" pitchFamily="2" charset="0"/>
                <a:ea typeface="Roboto" panose="02000000000000000000" pitchFamily="2" charset="0"/>
                <a:cs typeface="Roboto" panose="02000000000000000000" pitchFamily="2" charset="0"/>
              </a:rPr>
              <a:t>identifiers</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to</a:t>
            </a:r>
            <a:r>
              <a:rPr lang="el-GR" sz="2680" dirty="0">
                <a:latin typeface="Roboto" panose="02000000000000000000" pitchFamily="2" charset="0"/>
                <a:ea typeface="Roboto" panose="02000000000000000000" pitchFamily="2" charset="0"/>
                <a:cs typeface="Roboto" panose="02000000000000000000" pitchFamily="2" charset="0"/>
              </a:rPr>
              <a:t> the </a:t>
            </a:r>
            <a:r>
              <a:rPr lang="el-GR" sz="2680" dirty="0" err="1">
                <a:latin typeface="Roboto" panose="02000000000000000000" pitchFamily="2" charset="0"/>
                <a:ea typeface="Roboto" panose="02000000000000000000" pitchFamily="2" charset="0"/>
                <a:cs typeface="Roboto" panose="02000000000000000000" pitchFamily="2" charset="0"/>
              </a:rPr>
              <a:t>corresponding</a:t>
            </a:r>
            <a:r>
              <a:rPr lang="el-GR" sz="2680" dirty="0">
                <a:latin typeface="Roboto" panose="02000000000000000000" pitchFamily="2" charset="0"/>
                <a:ea typeface="Roboto" panose="02000000000000000000" pitchFamily="2" charset="0"/>
                <a:cs typeface="Roboto" panose="02000000000000000000" pitchFamily="2" charset="0"/>
              </a:rPr>
              <a:t> </a:t>
            </a:r>
            <a:r>
              <a:rPr lang="el-GR" sz="2680" dirty="0" err="1">
                <a:latin typeface="Roboto" panose="02000000000000000000" pitchFamily="2" charset="0"/>
                <a:ea typeface="Roboto" panose="02000000000000000000" pitchFamily="2" charset="0"/>
                <a:cs typeface="Roboto" panose="02000000000000000000" pitchFamily="2" charset="0"/>
              </a:rPr>
              <a:t>resources</a:t>
            </a:r>
            <a:r>
              <a:rPr lang="el-GR" sz="2680" dirty="0">
                <a:latin typeface="Roboto" panose="02000000000000000000" pitchFamily="2" charset="0"/>
                <a:ea typeface="Roboto" panose="02000000000000000000" pitchFamily="2" charset="0"/>
                <a:cs typeface="Roboto" panose="02000000000000000000" pitchFamily="2" charset="0"/>
              </a:rPr>
              <a:t>.</a:t>
            </a:r>
          </a:p>
        </p:txBody>
      </p:sp>
      <p:sp>
        <p:nvSpPr>
          <p:cNvPr id="25" name="TextBox 25">
            <a:extLst>
              <a:ext uri="{FF2B5EF4-FFF2-40B4-BE49-F238E27FC236}">
                <a16:creationId xmlns:a16="http://schemas.microsoft.com/office/drawing/2014/main" id="{BF42E182-664E-9E26-184B-7C61CD6E0926}"/>
              </a:ext>
            </a:extLst>
          </p:cNvPr>
          <p:cNvSpPr txBox="1"/>
          <p:nvPr/>
        </p:nvSpPr>
        <p:spPr>
          <a:xfrm>
            <a:off x="5177327" y="6819900"/>
            <a:ext cx="9728568" cy="1428083"/>
          </a:xfrm>
          <a:prstGeom prst="rect">
            <a:avLst/>
          </a:prstGeom>
        </p:spPr>
        <p:txBody>
          <a:bodyPr wrap="square" lIns="0" tIns="0" rIns="0" bIns="0" rtlCol="0" anchor="t">
            <a:spAutoFit/>
          </a:bodyPr>
          <a:lstStyle/>
          <a:p>
            <a:r>
              <a:rPr lang="el-GR" sz="2680" b="1" dirty="0">
                <a:latin typeface="Roboto" panose="02000000000000000000" pitchFamily="2" charset="0"/>
                <a:ea typeface="Roboto" panose="02000000000000000000" pitchFamily="2" charset="0"/>
                <a:cs typeface="Roboto" panose="02000000000000000000" pitchFamily="2" charset="0"/>
              </a:rPr>
              <a:t>Access</a:t>
            </a:r>
            <a:endParaRPr lang="el-GR" sz="2680" dirty="0">
              <a:latin typeface="Roboto" panose="02000000000000000000" pitchFamily="2" charset="0"/>
              <a:ea typeface="Roboto" panose="02000000000000000000" pitchFamily="2" charset="0"/>
              <a:cs typeface="Roboto" panose="02000000000000000000" pitchFamily="2" charset="0"/>
            </a:endParaRPr>
          </a:p>
          <a:p>
            <a:pPr lvl="0"/>
            <a:r>
              <a:rPr lang="el-GR" sz="2200" u="sng" dirty="0">
                <a:latin typeface="Roboto" panose="02000000000000000000" pitchFamily="2" charset="0"/>
                <a:ea typeface="Roboto" panose="02000000000000000000" pitchFamily="2" charset="0"/>
                <a:cs typeface="Roboto" panose="02000000000000000000" pitchFamily="2" charset="0"/>
                <a:hlinkClick r:id="rId4"/>
              </a:rPr>
              <a:t>https://w3id.org/FAIR-course-UT/2026/group09/ont</a:t>
            </a:r>
            <a:endParaRPr lang="en-US" sz="2200" u="sng" dirty="0">
              <a:latin typeface="Roboto" panose="02000000000000000000" pitchFamily="2" charset="0"/>
              <a:ea typeface="Roboto" panose="02000000000000000000" pitchFamily="2" charset="0"/>
              <a:cs typeface="Roboto" panose="02000000000000000000" pitchFamily="2" charset="0"/>
            </a:endParaRPr>
          </a:p>
          <a:p>
            <a:pPr lvl="0"/>
            <a:r>
              <a:rPr lang="el-GR" sz="2200" u="sng" dirty="0">
                <a:latin typeface="Roboto" panose="02000000000000000000" pitchFamily="2" charset="0"/>
                <a:ea typeface="Roboto" panose="02000000000000000000" pitchFamily="2" charset="0"/>
                <a:cs typeface="Roboto" panose="02000000000000000000" pitchFamily="2" charset="0"/>
                <a:hlinkClick r:id="rId5"/>
              </a:rPr>
              <a:t>https://w3id.org/FAIR-course-UT/2026/group09/data</a:t>
            </a:r>
            <a:endParaRPr lang="en-US" sz="2200" u="sng" dirty="0">
              <a:latin typeface="Roboto" panose="02000000000000000000" pitchFamily="2" charset="0"/>
              <a:ea typeface="Roboto" panose="02000000000000000000" pitchFamily="2" charset="0"/>
              <a:cs typeface="Roboto" panose="02000000000000000000" pitchFamily="2" charset="0"/>
            </a:endParaRPr>
          </a:p>
          <a:p>
            <a:pPr lvl="0"/>
            <a:r>
              <a:rPr lang="el-GR" sz="2200" u="sng" dirty="0">
                <a:latin typeface="Roboto" panose="02000000000000000000" pitchFamily="2" charset="0"/>
                <a:ea typeface="Roboto" panose="02000000000000000000" pitchFamily="2" charset="0"/>
                <a:cs typeface="Roboto" panose="02000000000000000000" pitchFamily="2" charset="0"/>
                <a:hlinkClick r:id="rId6"/>
              </a:rPr>
              <a:t>https://w3id.org/FAIR-course-UT/2026/group09/data-original</a:t>
            </a:r>
            <a:endParaRPr lang="el-GR" sz="2200" dirty="0">
              <a:solidFill>
                <a:srgbClr val="FF0000"/>
              </a:solidFill>
              <a:latin typeface="Roboto" panose="02000000000000000000" pitchFamily="2" charset="0"/>
              <a:ea typeface="Roboto" panose="02000000000000000000" pitchFamily="2" charset="0"/>
              <a:cs typeface="Roboto" panose="02000000000000000000" pitchFamily="2" charset="0"/>
            </a:endParaRPr>
          </a:p>
        </p:txBody>
      </p:sp>
      <p:pic>
        <p:nvPicPr>
          <p:cNvPr id="27" name="Picture 26" descr="Five children playing with electronics">
            <a:extLst>
              <a:ext uri="{FF2B5EF4-FFF2-40B4-BE49-F238E27FC236}">
                <a16:creationId xmlns:a16="http://schemas.microsoft.com/office/drawing/2014/main" id="{920F828F-06DF-4494-4647-DD489EF9EEA8}"/>
              </a:ext>
            </a:extLst>
          </p:cNvPr>
          <p:cNvPicPr>
            <a:picLocks noChangeAspect="1"/>
          </p:cNvPicPr>
          <p:nvPr/>
        </p:nvPicPr>
        <p:blipFill>
          <a:blip r:embed="rId7">
            <a:extLst>
              <a:ext uri="{28A0092B-C50C-407E-A947-70E740481C1C}">
                <a14:useLocalDpi xmlns:a14="http://schemas.microsoft.com/office/drawing/2010/main" val="0"/>
              </a:ext>
            </a:extLst>
          </a:blip>
          <a:srcRect l="46221" t="37370" r="20723" b="-1"/>
          <a:stretch>
            <a:fillRect/>
          </a:stretch>
        </p:blipFill>
        <p:spPr>
          <a:xfrm>
            <a:off x="320982" y="2886521"/>
            <a:ext cx="4343401" cy="5484171"/>
          </a:xfrm>
          <a:prstGeom prst="roundRect">
            <a:avLst>
              <a:gd name="adj" fmla="val 5751"/>
            </a:avLst>
          </a:prstGeom>
          <a:ln w="76200">
            <a:solidFill>
              <a:schemeClr val="bg1"/>
            </a:solidFill>
            <a:round/>
            <a:extLst>
              <a:ext uri="{C807C97D-BFC1-408E-A445-0C87EB9F89A2}">
                <ask:lineSketchStyleProps xmlns:ask="http://schemas.microsoft.com/office/drawing/2018/sketchyshapes" sd="1219033472">
                  <a:custGeom>
                    <a:avLst/>
                    <a:gdLst>
                      <a:gd name="csX0" fmla="*/ 0 w 4343401"/>
                      <a:gd name="csY0" fmla="*/ 0 h 5484171"/>
                      <a:gd name="csX1" fmla="*/ 4343401 w 4343401"/>
                      <a:gd name="csY1" fmla="*/ 0 h 5484171"/>
                      <a:gd name="csX2" fmla="*/ 4343401 w 4343401"/>
                      <a:gd name="csY2" fmla="*/ 5484171 h 5484171"/>
                      <a:gd name="csX3" fmla="*/ 0 w 4343401"/>
                      <a:gd name="csY3" fmla="*/ 5484171 h 5484171"/>
                      <a:gd name="csX4" fmla="*/ 0 w 4343401"/>
                      <a:gd name="csY4" fmla="*/ 0 h 5484171"/>
                    </a:gdLst>
                    <a:ahLst/>
                    <a:cxnLst>
                      <a:cxn ang="0">
                        <a:pos x="csX0" y="csY0"/>
                      </a:cxn>
                      <a:cxn ang="0">
                        <a:pos x="csX1" y="csY1"/>
                      </a:cxn>
                      <a:cxn ang="0">
                        <a:pos x="csX2" y="csY2"/>
                      </a:cxn>
                      <a:cxn ang="0">
                        <a:pos x="csX3" y="csY3"/>
                      </a:cxn>
                      <a:cxn ang="0">
                        <a:pos x="csX4" y="csY4"/>
                      </a:cxn>
                    </a:cxnLst>
                    <a:rect l="l" t="t" r="r" b="b"/>
                    <a:pathLst>
                      <a:path w="4343401" h="5484171" fill="none" extrusionOk="0">
                        <a:moveTo>
                          <a:pt x="0" y="0"/>
                        </a:moveTo>
                        <a:cubicBezTo>
                          <a:pt x="1175198" y="-49533"/>
                          <a:pt x="3338322" y="-14809"/>
                          <a:pt x="4343401" y="0"/>
                        </a:cubicBezTo>
                        <a:cubicBezTo>
                          <a:pt x="4431040" y="1788889"/>
                          <a:pt x="4270722" y="3296098"/>
                          <a:pt x="4343401" y="5484171"/>
                        </a:cubicBezTo>
                        <a:cubicBezTo>
                          <a:pt x="3169935" y="5435940"/>
                          <a:pt x="1884540" y="5568626"/>
                          <a:pt x="0" y="5484171"/>
                        </a:cubicBezTo>
                        <a:cubicBezTo>
                          <a:pt x="-38581" y="4243566"/>
                          <a:pt x="63341" y="1244240"/>
                          <a:pt x="0" y="0"/>
                        </a:cubicBezTo>
                        <a:close/>
                      </a:path>
                      <a:path w="4343401" h="5484171" stroke="0" extrusionOk="0">
                        <a:moveTo>
                          <a:pt x="0" y="0"/>
                        </a:moveTo>
                        <a:cubicBezTo>
                          <a:pt x="1767582" y="118645"/>
                          <a:pt x="2546336" y="116012"/>
                          <a:pt x="4343401" y="0"/>
                        </a:cubicBezTo>
                        <a:cubicBezTo>
                          <a:pt x="4210519" y="2113603"/>
                          <a:pt x="4428352" y="3041974"/>
                          <a:pt x="4343401" y="5484171"/>
                        </a:cubicBezTo>
                        <a:cubicBezTo>
                          <a:pt x="3382497" y="5618771"/>
                          <a:pt x="2015455" y="5326975"/>
                          <a:pt x="0" y="5484171"/>
                        </a:cubicBezTo>
                        <a:cubicBezTo>
                          <a:pt x="-20187" y="3912540"/>
                          <a:pt x="-152480" y="958608"/>
                          <a:pt x="0" y="0"/>
                        </a:cubicBezTo>
                        <a:close/>
                      </a:path>
                    </a:pathLst>
                  </a:custGeom>
                  <ask:type>
                    <ask:lineSketchNone/>
                  </ask:type>
                </ask:lineSketchStyleProps>
              </a:ext>
            </a:extLst>
          </a:ln>
          <a:effectLst>
            <a:softEdge rad="0"/>
          </a:effectLst>
        </p:spPr>
      </p:pic>
      <p:sp>
        <p:nvSpPr>
          <p:cNvPr id="17" name="Freeform 17">
            <a:extLst>
              <a:ext uri="{FF2B5EF4-FFF2-40B4-BE49-F238E27FC236}">
                <a16:creationId xmlns:a16="http://schemas.microsoft.com/office/drawing/2014/main" id="{19A450D7-B3EE-3574-5E94-DBBD82646836}"/>
              </a:ext>
            </a:extLst>
          </p:cNvPr>
          <p:cNvSpPr/>
          <p:nvPr/>
        </p:nvSpPr>
        <p:spPr>
          <a:xfrm>
            <a:off x="2059565" y="7599386"/>
            <a:ext cx="2002929" cy="2213181"/>
          </a:xfrm>
          <a:custGeom>
            <a:avLst/>
            <a:gdLst/>
            <a:ahLst/>
            <a:cxnLst/>
            <a:rect l="l" t="t" r="r" b="b"/>
            <a:pathLst>
              <a:path w="2002929" h="2213181">
                <a:moveTo>
                  <a:pt x="0" y="0"/>
                </a:moveTo>
                <a:lnTo>
                  <a:pt x="2002929" y="0"/>
                </a:lnTo>
                <a:lnTo>
                  <a:pt x="2002929" y="2213181"/>
                </a:lnTo>
                <a:lnTo>
                  <a:pt x="0" y="221318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l-GR" dirty="0"/>
          </a:p>
        </p:txBody>
      </p:sp>
    </p:spTree>
    <p:extLst>
      <p:ext uri="{BB962C8B-B14F-4D97-AF65-F5344CB8AC3E}">
        <p14:creationId xmlns:p14="http://schemas.microsoft.com/office/powerpoint/2010/main" val="268883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or 2"/>
          <p:cNvCxnSpPr/>
          <p:nvPr/>
        </p:nvCxnSpPr>
        <p:spPr>
          <a:xfrm>
            <a:off x="914400" y="1562100"/>
            <a:ext cx="164592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60120" y="2247900"/>
            <a:ext cx="7991855" cy="2971800"/>
          </a:xfrm>
          <a:prstGeom prst="roundRect">
            <a:avLst/>
          </a:prstGeom>
          <a:solidFill>
            <a:srgbClr val="000000"/>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Roboto" panose="02000000000000000000" pitchFamily="2" charset="0"/>
              <a:ea typeface="Roboto" panose="02000000000000000000" pitchFamily="2" charset="0"/>
              <a:cs typeface="Roboto" panose="02000000000000000000" pitchFamily="2" charset="0"/>
            </a:endParaRPr>
          </a:p>
        </p:txBody>
      </p:sp>
      <p:sp>
        <p:nvSpPr>
          <p:cNvPr id="5" name="TextBox 4"/>
          <p:cNvSpPr txBox="1"/>
          <p:nvPr/>
        </p:nvSpPr>
        <p:spPr>
          <a:xfrm>
            <a:off x="4154385" y="2449068"/>
            <a:ext cx="1603323" cy="461665"/>
          </a:xfrm>
          <a:prstGeom prst="rect">
            <a:avLst/>
          </a:prstGeom>
          <a:noFill/>
        </p:spPr>
        <p:txBody>
          <a:bodyPr wrap="none">
            <a:spAutoFit/>
          </a:bodyPr>
          <a:lstStyle/>
          <a:p>
            <a:pPr algn="ctr">
              <a:defRPr sz="2100" b="1">
                <a:solidFill>
                  <a:srgbClr val="FFFFFF"/>
                </a:solidFill>
                <a:latin typeface="Aptos Display"/>
              </a:defRPr>
            </a:pPr>
            <a:r>
              <a:rPr sz="2400">
                <a:latin typeface="Roboto" panose="02000000000000000000" pitchFamily="2" charset="0"/>
                <a:ea typeface="Roboto" panose="02000000000000000000" pitchFamily="2" charset="0"/>
                <a:cs typeface="Roboto" panose="02000000000000000000" pitchFamily="2" charset="0"/>
              </a:rPr>
              <a:t>FINDABLE</a:t>
            </a:r>
          </a:p>
        </p:txBody>
      </p:sp>
      <p:cxnSp>
        <p:nvCxnSpPr>
          <p:cNvPr id="6" name="Connector 5"/>
          <p:cNvCxnSpPr/>
          <p:nvPr/>
        </p:nvCxnSpPr>
        <p:spPr>
          <a:xfrm>
            <a:off x="1280160" y="3070860"/>
            <a:ext cx="7351776"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280160" y="3272028"/>
            <a:ext cx="7351775" cy="1800493"/>
          </a:xfrm>
          <a:prstGeom prst="rect">
            <a:avLst/>
          </a:prstGeom>
          <a:noFill/>
        </p:spPr>
        <p:txBody>
          <a:bodyPr wrap="square">
            <a:spAutoFit/>
          </a:bodyPr>
          <a:lstStyle/>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Assigned W3ID identifiers to the ontology and data distributions.</a:t>
            </a:r>
          </a:p>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Created descriptive metadata for the catalog, dataset and distributions.</a:t>
            </a:r>
          </a:p>
        </p:txBody>
      </p:sp>
      <p:sp>
        <p:nvSpPr>
          <p:cNvPr id="8" name="Rounded Rectangle 7"/>
          <p:cNvSpPr/>
          <p:nvPr/>
        </p:nvSpPr>
        <p:spPr>
          <a:xfrm>
            <a:off x="9336024" y="2247900"/>
            <a:ext cx="7991855" cy="2971800"/>
          </a:xfrm>
          <a:prstGeom prst="roundRect">
            <a:avLst/>
          </a:prstGeom>
          <a:solidFill>
            <a:srgbClr val="000000"/>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Roboto" panose="02000000000000000000" pitchFamily="2" charset="0"/>
              <a:ea typeface="Roboto" panose="02000000000000000000" pitchFamily="2" charset="0"/>
              <a:cs typeface="Roboto" panose="02000000000000000000" pitchFamily="2" charset="0"/>
            </a:endParaRPr>
          </a:p>
        </p:txBody>
      </p:sp>
      <p:sp>
        <p:nvSpPr>
          <p:cNvPr id="9" name="TextBox 8"/>
          <p:cNvSpPr txBox="1"/>
          <p:nvPr/>
        </p:nvSpPr>
        <p:spPr>
          <a:xfrm>
            <a:off x="12345143" y="2449068"/>
            <a:ext cx="1973617" cy="461665"/>
          </a:xfrm>
          <a:prstGeom prst="rect">
            <a:avLst/>
          </a:prstGeom>
          <a:noFill/>
        </p:spPr>
        <p:txBody>
          <a:bodyPr wrap="none">
            <a:spAutoFit/>
          </a:bodyPr>
          <a:lstStyle/>
          <a:p>
            <a:pPr algn="ctr">
              <a:defRPr sz="2100" b="1">
                <a:solidFill>
                  <a:srgbClr val="FFFFFF"/>
                </a:solidFill>
                <a:latin typeface="Aptos Display"/>
              </a:defRPr>
            </a:pPr>
            <a:r>
              <a:rPr sz="2400">
                <a:latin typeface="Roboto" panose="02000000000000000000" pitchFamily="2" charset="0"/>
                <a:ea typeface="Roboto" panose="02000000000000000000" pitchFamily="2" charset="0"/>
                <a:cs typeface="Roboto" panose="02000000000000000000" pitchFamily="2" charset="0"/>
              </a:rPr>
              <a:t>ACCESSIBLE</a:t>
            </a:r>
          </a:p>
        </p:txBody>
      </p:sp>
      <p:cxnSp>
        <p:nvCxnSpPr>
          <p:cNvPr id="10" name="Connector 9"/>
          <p:cNvCxnSpPr/>
          <p:nvPr/>
        </p:nvCxnSpPr>
        <p:spPr>
          <a:xfrm>
            <a:off x="9656063" y="3070860"/>
            <a:ext cx="7351776"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56063" y="3272028"/>
            <a:ext cx="7351775" cy="1431161"/>
          </a:xfrm>
          <a:prstGeom prst="rect">
            <a:avLst/>
          </a:prstGeom>
          <a:noFill/>
        </p:spPr>
        <p:txBody>
          <a:bodyPr wrap="square">
            <a:spAutoFit/>
          </a:bodyPr>
          <a:lstStyle/>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Published project resources in a GitHub repository.</a:t>
            </a:r>
          </a:p>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Provided original data as a ZIP archive and </a:t>
            </a:r>
            <a:r>
              <a:rPr sz="2400" dirty="0" err="1">
                <a:latin typeface="Roboto" panose="02000000000000000000" pitchFamily="2" charset="0"/>
                <a:ea typeface="Roboto" panose="02000000000000000000" pitchFamily="2" charset="0"/>
                <a:cs typeface="Roboto" panose="02000000000000000000" pitchFamily="2" charset="0"/>
              </a:rPr>
              <a:t>FAIRified</a:t>
            </a:r>
            <a:r>
              <a:rPr sz="2400" dirty="0">
                <a:latin typeface="Roboto" panose="02000000000000000000" pitchFamily="2" charset="0"/>
                <a:ea typeface="Roboto" panose="02000000000000000000" pitchFamily="2" charset="0"/>
                <a:cs typeface="Roboto" panose="02000000000000000000" pitchFamily="2" charset="0"/>
              </a:rPr>
              <a:t> data as RDF/Turtle.</a:t>
            </a:r>
          </a:p>
        </p:txBody>
      </p:sp>
      <p:sp>
        <p:nvSpPr>
          <p:cNvPr id="12" name="Rounded Rectangle 11"/>
          <p:cNvSpPr/>
          <p:nvPr/>
        </p:nvSpPr>
        <p:spPr>
          <a:xfrm>
            <a:off x="960120" y="5676900"/>
            <a:ext cx="7991855" cy="2971800"/>
          </a:xfrm>
          <a:prstGeom prst="roundRect">
            <a:avLst/>
          </a:prstGeom>
          <a:solidFill>
            <a:srgbClr val="000000"/>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Roboto" panose="02000000000000000000" pitchFamily="2" charset="0"/>
              <a:ea typeface="Roboto" panose="02000000000000000000" pitchFamily="2" charset="0"/>
              <a:cs typeface="Roboto" panose="02000000000000000000" pitchFamily="2" charset="0"/>
            </a:endParaRPr>
          </a:p>
        </p:txBody>
      </p:sp>
      <p:sp>
        <p:nvSpPr>
          <p:cNvPr id="13" name="TextBox 12"/>
          <p:cNvSpPr txBox="1"/>
          <p:nvPr/>
        </p:nvSpPr>
        <p:spPr>
          <a:xfrm>
            <a:off x="3667875" y="5878068"/>
            <a:ext cx="2576346" cy="461665"/>
          </a:xfrm>
          <a:prstGeom prst="rect">
            <a:avLst/>
          </a:prstGeom>
          <a:noFill/>
        </p:spPr>
        <p:txBody>
          <a:bodyPr wrap="none">
            <a:spAutoFit/>
          </a:bodyPr>
          <a:lstStyle/>
          <a:p>
            <a:pPr algn="ctr">
              <a:defRPr sz="2100" b="1">
                <a:solidFill>
                  <a:srgbClr val="FFFFFF"/>
                </a:solidFill>
                <a:latin typeface="Aptos Display"/>
              </a:defRPr>
            </a:pPr>
            <a:r>
              <a:rPr sz="2400">
                <a:latin typeface="Roboto" panose="02000000000000000000" pitchFamily="2" charset="0"/>
                <a:ea typeface="Roboto" panose="02000000000000000000" pitchFamily="2" charset="0"/>
                <a:cs typeface="Roboto" panose="02000000000000000000" pitchFamily="2" charset="0"/>
              </a:rPr>
              <a:t>INTEROPERABLE</a:t>
            </a:r>
          </a:p>
        </p:txBody>
      </p:sp>
      <p:cxnSp>
        <p:nvCxnSpPr>
          <p:cNvPr id="14" name="Connector 13"/>
          <p:cNvCxnSpPr/>
          <p:nvPr/>
        </p:nvCxnSpPr>
        <p:spPr>
          <a:xfrm>
            <a:off x="1280160" y="6499860"/>
            <a:ext cx="7351776"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80160" y="6701028"/>
            <a:ext cx="7351775" cy="1800493"/>
          </a:xfrm>
          <a:prstGeom prst="rect">
            <a:avLst/>
          </a:prstGeom>
          <a:noFill/>
        </p:spPr>
        <p:txBody>
          <a:bodyPr wrap="square">
            <a:spAutoFit/>
          </a:bodyPr>
          <a:lstStyle/>
          <a:p>
            <a:pPr>
              <a:spcAft>
                <a:spcPts val="1800"/>
              </a:spcAft>
              <a:defRPr sz="1600">
                <a:solidFill>
                  <a:srgbClr val="FFFFFF"/>
                </a:solidFill>
                <a:latin typeface="Aptos"/>
              </a:defRPr>
            </a:pPr>
            <a:r>
              <a:rPr sz="2400">
                <a:latin typeface="Roboto" panose="02000000000000000000" pitchFamily="2" charset="0"/>
                <a:ea typeface="Roboto" panose="02000000000000000000" pitchFamily="2" charset="0"/>
                <a:cs typeface="Roboto" panose="02000000000000000000" pitchFamily="2" charset="0"/>
              </a:rPr>
              <a:t>•  Represented the prepared data as RDF using a project-specific ontology.</a:t>
            </a:r>
          </a:p>
          <a:p>
            <a:pPr>
              <a:spcAft>
                <a:spcPts val="1800"/>
              </a:spcAft>
              <a:defRPr sz="1600">
                <a:solidFill>
                  <a:srgbClr val="FFFFFF"/>
                </a:solidFill>
                <a:latin typeface="Aptos"/>
              </a:defRPr>
            </a:pPr>
            <a:r>
              <a:rPr sz="2400">
                <a:latin typeface="Roboto" panose="02000000000000000000" pitchFamily="2" charset="0"/>
                <a:ea typeface="Roboto" panose="02000000000000000000" pitchFamily="2" charset="0"/>
                <a:cs typeface="Roboto" panose="02000000000000000000" pitchFamily="2" charset="0"/>
              </a:rPr>
              <a:t>•  Linked selected entities to external Wikidata identifiers.</a:t>
            </a:r>
          </a:p>
        </p:txBody>
      </p:sp>
      <p:sp>
        <p:nvSpPr>
          <p:cNvPr id="16" name="Rounded Rectangle 15"/>
          <p:cNvSpPr/>
          <p:nvPr/>
        </p:nvSpPr>
        <p:spPr>
          <a:xfrm>
            <a:off x="9336024" y="5676900"/>
            <a:ext cx="7991855" cy="2971800"/>
          </a:xfrm>
          <a:prstGeom prst="roundRect">
            <a:avLst/>
          </a:prstGeom>
          <a:solidFill>
            <a:srgbClr val="000000"/>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Roboto" panose="02000000000000000000" pitchFamily="2" charset="0"/>
              <a:ea typeface="Roboto" panose="02000000000000000000" pitchFamily="2" charset="0"/>
              <a:cs typeface="Roboto" panose="02000000000000000000" pitchFamily="2" charset="0"/>
            </a:endParaRPr>
          </a:p>
        </p:txBody>
      </p:sp>
      <p:sp>
        <p:nvSpPr>
          <p:cNvPr id="17" name="TextBox 16"/>
          <p:cNvSpPr txBox="1"/>
          <p:nvPr/>
        </p:nvSpPr>
        <p:spPr>
          <a:xfrm>
            <a:off x="12486207" y="5878068"/>
            <a:ext cx="1691489" cy="461665"/>
          </a:xfrm>
          <a:prstGeom prst="rect">
            <a:avLst/>
          </a:prstGeom>
          <a:noFill/>
        </p:spPr>
        <p:txBody>
          <a:bodyPr wrap="none">
            <a:spAutoFit/>
          </a:bodyPr>
          <a:lstStyle/>
          <a:p>
            <a:pPr algn="ctr">
              <a:defRPr sz="2100" b="1">
                <a:solidFill>
                  <a:srgbClr val="FFFFFF"/>
                </a:solidFill>
                <a:latin typeface="Aptos Display"/>
              </a:defRPr>
            </a:pPr>
            <a:r>
              <a:rPr sz="2400">
                <a:latin typeface="Roboto" panose="02000000000000000000" pitchFamily="2" charset="0"/>
                <a:ea typeface="Roboto" panose="02000000000000000000" pitchFamily="2" charset="0"/>
                <a:cs typeface="Roboto" panose="02000000000000000000" pitchFamily="2" charset="0"/>
              </a:rPr>
              <a:t>REUSABLE</a:t>
            </a:r>
          </a:p>
        </p:txBody>
      </p:sp>
      <p:cxnSp>
        <p:nvCxnSpPr>
          <p:cNvPr id="18" name="Connector 17"/>
          <p:cNvCxnSpPr/>
          <p:nvPr/>
        </p:nvCxnSpPr>
        <p:spPr>
          <a:xfrm>
            <a:off x="9656063" y="6499860"/>
            <a:ext cx="7351776"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56063" y="6701028"/>
            <a:ext cx="7351775" cy="1800493"/>
          </a:xfrm>
          <a:prstGeom prst="rect">
            <a:avLst/>
          </a:prstGeom>
          <a:noFill/>
        </p:spPr>
        <p:txBody>
          <a:bodyPr wrap="square">
            <a:spAutoFit/>
          </a:bodyPr>
          <a:lstStyle/>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Documented the data preparation and transformation process.</a:t>
            </a:r>
          </a:p>
          <a:p>
            <a:pPr>
              <a:spcAft>
                <a:spcPts val="1800"/>
              </a:spcAft>
              <a:defRPr sz="1600">
                <a:solidFill>
                  <a:srgbClr val="FFFFFF"/>
                </a:solidFill>
                <a:latin typeface="Aptos"/>
              </a:defRPr>
            </a:pPr>
            <a:r>
              <a:rPr sz="2400" dirty="0">
                <a:latin typeface="Roboto" panose="02000000000000000000" pitchFamily="2" charset="0"/>
                <a:ea typeface="Roboto" panose="02000000000000000000" pitchFamily="2" charset="0"/>
                <a:cs typeface="Roboto" panose="02000000000000000000" pitchFamily="2" charset="0"/>
              </a:rPr>
              <a:t>•  Included metadata about provenance and licensing, while preserving the original source files.</a:t>
            </a:r>
          </a:p>
        </p:txBody>
      </p:sp>
      <p:sp>
        <p:nvSpPr>
          <p:cNvPr id="20" name="TextBox 19"/>
          <p:cNvSpPr txBox="1"/>
          <p:nvPr/>
        </p:nvSpPr>
        <p:spPr>
          <a:xfrm>
            <a:off x="17282160" y="9875520"/>
            <a:ext cx="502920" cy="228600"/>
          </a:xfrm>
          <a:prstGeom prst="rect">
            <a:avLst/>
          </a:prstGeom>
          <a:noFill/>
        </p:spPr>
        <p:txBody>
          <a:bodyPr wrap="none">
            <a:spAutoFit/>
          </a:bodyPr>
          <a:lstStyle/>
          <a:p>
            <a:pPr algn="r">
              <a:defRPr sz="1000">
                <a:solidFill>
                  <a:srgbClr val="C8C8C8"/>
                </a:solidFill>
                <a:latin typeface="Aptos"/>
              </a:defRPr>
            </a:pPr>
            <a:r>
              <a:t>11</a:t>
            </a:r>
          </a:p>
        </p:txBody>
      </p:sp>
      <p:sp>
        <p:nvSpPr>
          <p:cNvPr id="22" name="TextBox 23">
            <a:extLst>
              <a:ext uri="{FF2B5EF4-FFF2-40B4-BE49-F238E27FC236}">
                <a16:creationId xmlns:a16="http://schemas.microsoft.com/office/drawing/2014/main" id="{EE9A5623-303F-F95F-882D-74FCEB998945}"/>
              </a:ext>
            </a:extLst>
          </p:cNvPr>
          <p:cNvSpPr txBox="1"/>
          <p:nvPr/>
        </p:nvSpPr>
        <p:spPr>
          <a:xfrm>
            <a:off x="4034073" y="626498"/>
            <a:ext cx="9707333" cy="804835"/>
          </a:xfrm>
          <a:prstGeom prst="rect">
            <a:avLst/>
          </a:prstGeom>
        </p:spPr>
        <p:txBody>
          <a:bodyPr lIns="0" tIns="0" rIns="0" bIns="0" rtlCol="0" anchor="t">
            <a:spAutoFit/>
          </a:bodyPr>
          <a:lstStyle/>
          <a:p>
            <a:pPr marL="0" marR="0" lvl="0" indent="0" algn="ctr" defTabSz="914400" rtl="0" eaLnBrk="1" fontAlgn="auto" latinLnBrk="0" hangingPunct="1">
              <a:lnSpc>
                <a:spcPts val="6562"/>
              </a:lnSpc>
              <a:spcBef>
                <a:spcPts val="0"/>
              </a:spcBef>
              <a:spcAft>
                <a:spcPts val="0"/>
              </a:spcAft>
              <a:buClrTx/>
              <a:buSzTx/>
              <a:buFontTx/>
              <a:buNone/>
              <a:tabLst/>
              <a:defRPr/>
            </a:pPr>
            <a:r>
              <a:rPr kumimoji="0" lang="en-US" sz="4687" b="0" i="0" u="none" strike="noStrike" kern="1200" cap="none" spc="0" normalizeH="0" baseline="0" noProof="0" dirty="0" err="1">
                <a:ln>
                  <a:noFill/>
                </a:ln>
                <a:effectLst/>
                <a:uLnTx/>
                <a:uFillTx/>
                <a:latin typeface="Archivo Black"/>
                <a:ea typeface="Archivo Black"/>
                <a:cs typeface="Archivo Black"/>
                <a:sym typeface="Archivo Black"/>
              </a:rPr>
              <a:t>FAIRness</a:t>
            </a:r>
            <a:r>
              <a:rPr kumimoji="0" lang="en-US" sz="4687" b="0" i="0" u="none" strike="noStrike" kern="1200" cap="none" spc="0" normalizeH="0" baseline="0" noProof="0" dirty="0">
                <a:ln>
                  <a:noFill/>
                </a:ln>
                <a:effectLst/>
                <a:uLnTx/>
                <a:uFillTx/>
                <a:latin typeface="Archivo Black"/>
                <a:ea typeface="Archivo Black"/>
                <a:cs typeface="Archivo Black"/>
                <a:sym typeface="Archivo Black"/>
              </a:rPr>
              <a:t> Improvements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15">
            <a:extLst>
              <a:ext uri="{FF2B5EF4-FFF2-40B4-BE49-F238E27FC236}">
                <a16:creationId xmlns:a16="http://schemas.microsoft.com/office/drawing/2014/main" id="{35AA6719-39E5-2CBE-0B22-F52DFB447404}"/>
              </a:ext>
            </a:extLst>
          </p:cNvPr>
          <p:cNvGrpSpPr/>
          <p:nvPr/>
        </p:nvGrpSpPr>
        <p:grpSpPr>
          <a:xfrm>
            <a:off x="3856252" y="4498642"/>
            <a:ext cx="14831965" cy="2702258"/>
            <a:chOff x="0" y="-38100"/>
            <a:chExt cx="2833685" cy="205571"/>
          </a:xfrm>
        </p:grpSpPr>
        <p:sp>
          <p:nvSpPr>
            <p:cNvPr id="49" name="Freeform 16">
              <a:extLst>
                <a:ext uri="{FF2B5EF4-FFF2-40B4-BE49-F238E27FC236}">
                  <a16:creationId xmlns:a16="http://schemas.microsoft.com/office/drawing/2014/main" id="{049E5554-B1DF-158D-263C-EE98276E8346}"/>
                </a:ext>
              </a:extLst>
            </p:cNvPr>
            <p:cNvSpPr/>
            <p:nvPr/>
          </p:nvSpPr>
          <p:spPr>
            <a:xfrm>
              <a:off x="0" y="0"/>
              <a:ext cx="2833685" cy="167471"/>
            </a:xfrm>
            <a:custGeom>
              <a:avLst/>
              <a:gdLst/>
              <a:ahLst/>
              <a:cxnLst/>
              <a:rect l="l" t="t" r="r" b="b"/>
              <a:pathLst>
                <a:path w="2833685" h="167471">
                  <a:moveTo>
                    <a:pt x="22733" y="0"/>
                  </a:moveTo>
                  <a:lnTo>
                    <a:pt x="2810951" y="0"/>
                  </a:lnTo>
                  <a:cubicBezTo>
                    <a:pt x="2816981" y="0"/>
                    <a:pt x="2822763" y="2395"/>
                    <a:pt x="2827026" y="6658"/>
                  </a:cubicBezTo>
                  <a:cubicBezTo>
                    <a:pt x="2831289" y="10922"/>
                    <a:pt x="2833685" y="16704"/>
                    <a:pt x="2833685" y="22733"/>
                  </a:cubicBezTo>
                  <a:lnTo>
                    <a:pt x="2833685" y="144738"/>
                  </a:lnTo>
                  <a:cubicBezTo>
                    <a:pt x="2833685" y="157293"/>
                    <a:pt x="2823507" y="167471"/>
                    <a:pt x="2810951" y="167471"/>
                  </a:cubicBezTo>
                  <a:lnTo>
                    <a:pt x="22733" y="167471"/>
                  </a:lnTo>
                  <a:cubicBezTo>
                    <a:pt x="16704" y="167471"/>
                    <a:pt x="10922" y="165076"/>
                    <a:pt x="6658" y="160813"/>
                  </a:cubicBezTo>
                  <a:cubicBezTo>
                    <a:pt x="2395" y="156549"/>
                    <a:pt x="0" y="150767"/>
                    <a:pt x="0" y="144738"/>
                  </a:cubicBezTo>
                  <a:lnTo>
                    <a:pt x="0" y="22733"/>
                  </a:lnTo>
                  <a:cubicBezTo>
                    <a:pt x="0" y="16704"/>
                    <a:pt x="2395" y="10922"/>
                    <a:pt x="6658" y="6658"/>
                  </a:cubicBezTo>
                  <a:cubicBezTo>
                    <a:pt x="10922" y="2395"/>
                    <a:pt x="16704" y="0"/>
                    <a:pt x="22733" y="0"/>
                  </a:cubicBezTo>
                  <a:close/>
                </a:path>
              </a:pathLst>
            </a:custGeom>
            <a:solidFill>
              <a:srgbClr val="000000"/>
            </a:solidFill>
          </p:spPr>
          <p:txBody>
            <a:bodyPr/>
            <a:lstStyle/>
            <a:p>
              <a:endParaRPr lang="el-GR" dirty="0">
                <a:solidFill>
                  <a:schemeClr val="bg1"/>
                </a:solidFill>
              </a:endParaRPr>
            </a:p>
          </p:txBody>
        </p:sp>
        <p:sp>
          <p:nvSpPr>
            <p:cNvPr id="50" name="TextBox 17">
              <a:extLst>
                <a:ext uri="{FF2B5EF4-FFF2-40B4-BE49-F238E27FC236}">
                  <a16:creationId xmlns:a16="http://schemas.microsoft.com/office/drawing/2014/main" id="{9FB8A2A1-47AF-19D2-81E1-28A8DE7D9599}"/>
                </a:ext>
              </a:extLst>
            </p:cNvPr>
            <p:cNvSpPr txBox="1"/>
            <p:nvPr/>
          </p:nvSpPr>
          <p:spPr>
            <a:xfrm>
              <a:off x="0" y="-38100"/>
              <a:ext cx="2833685" cy="205571"/>
            </a:xfrm>
            <a:prstGeom prst="rect">
              <a:avLst/>
            </a:prstGeom>
          </p:spPr>
          <p:txBody>
            <a:bodyPr lIns="50800" tIns="50800" rIns="50800" bIns="50800" rtlCol="0" anchor="ctr"/>
            <a:lstStyle/>
            <a:p>
              <a:pPr algn="ctr">
                <a:lnSpc>
                  <a:spcPts val="2659"/>
                </a:lnSpc>
                <a:spcBef>
                  <a:spcPct val="0"/>
                </a:spcBef>
              </a:pPr>
              <a:endParaRPr>
                <a:solidFill>
                  <a:schemeClr val="bg1"/>
                </a:solidFill>
              </a:endParaRPr>
            </a:p>
          </p:txBody>
        </p:sp>
      </p:grpSp>
      <p:grpSp>
        <p:nvGrpSpPr>
          <p:cNvPr id="51" name="Group 15">
            <a:extLst>
              <a:ext uri="{FF2B5EF4-FFF2-40B4-BE49-F238E27FC236}">
                <a16:creationId xmlns:a16="http://schemas.microsoft.com/office/drawing/2014/main" id="{67FE0C5C-D6DE-3BE7-E95A-C84B7B53499A}"/>
              </a:ext>
            </a:extLst>
          </p:cNvPr>
          <p:cNvGrpSpPr/>
          <p:nvPr/>
        </p:nvGrpSpPr>
        <p:grpSpPr>
          <a:xfrm>
            <a:off x="3826149" y="7145939"/>
            <a:ext cx="14831965" cy="2702258"/>
            <a:chOff x="0" y="-38100"/>
            <a:chExt cx="2833685" cy="205571"/>
          </a:xfrm>
        </p:grpSpPr>
        <p:sp>
          <p:nvSpPr>
            <p:cNvPr id="52" name="Freeform 16">
              <a:extLst>
                <a:ext uri="{FF2B5EF4-FFF2-40B4-BE49-F238E27FC236}">
                  <a16:creationId xmlns:a16="http://schemas.microsoft.com/office/drawing/2014/main" id="{61A00DEA-C0E8-84E8-FF8F-1810038B65EE}"/>
                </a:ext>
              </a:extLst>
            </p:cNvPr>
            <p:cNvSpPr/>
            <p:nvPr/>
          </p:nvSpPr>
          <p:spPr>
            <a:xfrm>
              <a:off x="0" y="0"/>
              <a:ext cx="2833685" cy="167471"/>
            </a:xfrm>
            <a:custGeom>
              <a:avLst/>
              <a:gdLst/>
              <a:ahLst/>
              <a:cxnLst/>
              <a:rect l="l" t="t" r="r" b="b"/>
              <a:pathLst>
                <a:path w="2833685" h="167471">
                  <a:moveTo>
                    <a:pt x="22733" y="0"/>
                  </a:moveTo>
                  <a:lnTo>
                    <a:pt x="2810951" y="0"/>
                  </a:lnTo>
                  <a:cubicBezTo>
                    <a:pt x="2816981" y="0"/>
                    <a:pt x="2822763" y="2395"/>
                    <a:pt x="2827026" y="6658"/>
                  </a:cubicBezTo>
                  <a:cubicBezTo>
                    <a:pt x="2831289" y="10922"/>
                    <a:pt x="2833685" y="16704"/>
                    <a:pt x="2833685" y="22733"/>
                  </a:cubicBezTo>
                  <a:lnTo>
                    <a:pt x="2833685" y="144738"/>
                  </a:lnTo>
                  <a:cubicBezTo>
                    <a:pt x="2833685" y="157293"/>
                    <a:pt x="2823507" y="167471"/>
                    <a:pt x="2810951" y="167471"/>
                  </a:cubicBezTo>
                  <a:lnTo>
                    <a:pt x="22733" y="167471"/>
                  </a:lnTo>
                  <a:cubicBezTo>
                    <a:pt x="16704" y="167471"/>
                    <a:pt x="10922" y="165076"/>
                    <a:pt x="6658" y="160813"/>
                  </a:cubicBezTo>
                  <a:cubicBezTo>
                    <a:pt x="2395" y="156549"/>
                    <a:pt x="0" y="150767"/>
                    <a:pt x="0" y="144738"/>
                  </a:cubicBezTo>
                  <a:lnTo>
                    <a:pt x="0" y="22733"/>
                  </a:lnTo>
                  <a:cubicBezTo>
                    <a:pt x="0" y="16704"/>
                    <a:pt x="2395" y="10922"/>
                    <a:pt x="6658" y="6658"/>
                  </a:cubicBezTo>
                  <a:cubicBezTo>
                    <a:pt x="10922" y="2395"/>
                    <a:pt x="16704" y="0"/>
                    <a:pt x="22733" y="0"/>
                  </a:cubicBezTo>
                  <a:close/>
                </a:path>
              </a:pathLst>
            </a:custGeom>
            <a:solidFill>
              <a:srgbClr val="000000"/>
            </a:solidFill>
          </p:spPr>
          <p:txBody>
            <a:bodyPr/>
            <a:lstStyle/>
            <a:p>
              <a:endParaRPr lang="el-GR" dirty="0">
                <a:solidFill>
                  <a:schemeClr val="bg1"/>
                </a:solidFill>
              </a:endParaRPr>
            </a:p>
          </p:txBody>
        </p:sp>
        <p:sp>
          <p:nvSpPr>
            <p:cNvPr id="53" name="TextBox 17">
              <a:extLst>
                <a:ext uri="{FF2B5EF4-FFF2-40B4-BE49-F238E27FC236}">
                  <a16:creationId xmlns:a16="http://schemas.microsoft.com/office/drawing/2014/main" id="{B6F51581-BBA7-B51D-232B-EE8B8F0A8CB3}"/>
                </a:ext>
              </a:extLst>
            </p:cNvPr>
            <p:cNvSpPr txBox="1"/>
            <p:nvPr/>
          </p:nvSpPr>
          <p:spPr>
            <a:xfrm>
              <a:off x="0" y="-38100"/>
              <a:ext cx="2833685" cy="205571"/>
            </a:xfrm>
            <a:prstGeom prst="rect">
              <a:avLst/>
            </a:prstGeom>
          </p:spPr>
          <p:txBody>
            <a:bodyPr lIns="50800" tIns="50800" rIns="50800" bIns="50800" rtlCol="0" anchor="ctr"/>
            <a:lstStyle/>
            <a:p>
              <a:pPr algn="ctr">
                <a:lnSpc>
                  <a:spcPts val="2659"/>
                </a:lnSpc>
                <a:spcBef>
                  <a:spcPct val="0"/>
                </a:spcBef>
              </a:pPr>
              <a:endParaRPr>
                <a:solidFill>
                  <a:schemeClr val="bg1"/>
                </a:solidFill>
              </a:endParaRPr>
            </a:p>
          </p:txBody>
        </p:sp>
      </p:grpSp>
      <p:grpSp>
        <p:nvGrpSpPr>
          <p:cNvPr id="54" name="Group 15">
            <a:extLst>
              <a:ext uri="{FF2B5EF4-FFF2-40B4-BE49-F238E27FC236}">
                <a16:creationId xmlns:a16="http://schemas.microsoft.com/office/drawing/2014/main" id="{611C2880-BD88-C275-205D-924B6CE50E9D}"/>
              </a:ext>
            </a:extLst>
          </p:cNvPr>
          <p:cNvGrpSpPr/>
          <p:nvPr/>
        </p:nvGrpSpPr>
        <p:grpSpPr>
          <a:xfrm>
            <a:off x="3790603" y="1815252"/>
            <a:ext cx="14831965" cy="2702258"/>
            <a:chOff x="0" y="-38100"/>
            <a:chExt cx="2833685" cy="205571"/>
          </a:xfrm>
        </p:grpSpPr>
        <p:sp>
          <p:nvSpPr>
            <p:cNvPr id="55" name="Freeform 16">
              <a:extLst>
                <a:ext uri="{FF2B5EF4-FFF2-40B4-BE49-F238E27FC236}">
                  <a16:creationId xmlns:a16="http://schemas.microsoft.com/office/drawing/2014/main" id="{DAAB0C15-49D5-2665-BAE2-969FD54A18D4}"/>
                </a:ext>
              </a:extLst>
            </p:cNvPr>
            <p:cNvSpPr/>
            <p:nvPr/>
          </p:nvSpPr>
          <p:spPr>
            <a:xfrm>
              <a:off x="0" y="0"/>
              <a:ext cx="2833685" cy="167471"/>
            </a:xfrm>
            <a:custGeom>
              <a:avLst/>
              <a:gdLst/>
              <a:ahLst/>
              <a:cxnLst/>
              <a:rect l="l" t="t" r="r" b="b"/>
              <a:pathLst>
                <a:path w="2833685" h="167471">
                  <a:moveTo>
                    <a:pt x="22733" y="0"/>
                  </a:moveTo>
                  <a:lnTo>
                    <a:pt x="2810951" y="0"/>
                  </a:lnTo>
                  <a:cubicBezTo>
                    <a:pt x="2816981" y="0"/>
                    <a:pt x="2822763" y="2395"/>
                    <a:pt x="2827026" y="6658"/>
                  </a:cubicBezTo>
                  <a:cubicBezTo>
                    <a:pt x="2831289" y="10922"/>
                    <a:pt x="2833685" y="16704"/>
                    <a:pt x="2833685" y="22733"/>
                  </a:cubicBezTo>
                  <a:lnTo>
                    <a:pt x="2833685" y="144738"/>
                  </a:lnTo>
                  <a:cubicBezTo>
                    <a:pt x="2833685" y="157293"/>
                    <a:pt x="2823507" y="167471"/>
                    <a:pt x="2810951" y="167471"/>
                  </a:cubicBezTo>
                  <a:lnTo>
                    <a:pt x="22733" y="167471"/>
                  </a:lnTo>
                  <a:cubicBezTo>
                    <a:pt x="16704" y="167471"/>
                    <a:pt x="10922" y="165076"/>
                    <a:pt x="6658" y="160813"/>
                  </a:cubicBezTo>
                  <a:cubicBezTo>
                    <a:pt x="2395" y="156549"/>
                    <a:pt x="0" y="150767"/>
                    <a:pt x="0" y="144738"/>
                  </a:cubicBezTo>
                  <a:lnTo>
                    <a:pt x="0" y="22733"/>
                  </a:lnTo>
                  <a:cubicBezTo>
                    <a:pt x="0" y="16704"/>
                    <a:pt x="2395" y="10922"/>
                    <a:pt x="6658" y="6658"/>
                  </a:cubicBezTo>
                  <a:cubicBezTo>
                    <a:pt x="10922" y="2395"/>
                    <a:pt x="16704" y="0"/>
                    <a:pt x="22733" y="0"/>
                  </a:cubicBezTo>
                  <a:close/>
                </a:path>
              </a:pathLst>
            </a:custGeom>
            <a:solidFill>
              <a:srgbClr val="000000"/>
            </a:solidFill>
          </p:spPr>
          <p:txBody>
            <a:bodyPr/>
            <a:lstStyle/>
            <a:p>
              <a:endParaRPr lang="el-GR" dirty="0"/>
            </a:p>
          </p:txBody>
        </p:sp>
        <p:sp>
          <p:nvSpPr>
            <p:cNvPr id="56" name="TextBox 17">
              <a:extLst>
                <a:ext uri="{FF2B5EF4-FFF2-40B4-BE49-F238E27FC236}">
                  <a16:creationId xmlns:a16="http://schemas.microsoft.com/office/drawing/2014/main" id="{B1303632-5A5B-C1AD-700C-2476E798060F}"/>
                </a:ext>
              </a:extLst>
            </p:cNvPr>
            <p:cNvSpPr txBox="1"/>
            <p:nvPr/>
          </p:nvSpPr>
          <p:spPr>
            <a:xfrm>
              <a:off x="0" y="-38100"/>
              <a:ext cx="2833685" cy="205571"/>
            </a:xfrm>
            <a:prstGeom prst="rect">
              <a:avLst/>
            </a:prstGeom>
          </p:spPr>
          <p:txBody>
            <a:bodyPr lIns="50800" tIns="50800" rIns="50800" bIns="50800" rtlCol="0" anchor="ctr"/>
            <a:lstStyle/>
            <a:p>
              <a:pPr algn="ctr">
                <a:lnSpc>
                  <a:spcPts val="2659"/>
                </a:lnSpc>
                <a:spcBef>
                  <a:spcPct val="0"/>
                </a:spcBef>
              </a:pPr>
              <a:endParaRPr/>
            </a:p>
          </p:txBody>
        </p:sp>
      </p:grpSp>
      <p:sp>
        <p:nvSpPr>
          <p:cNvPr id="3" name="TextBox 2">
            <a:extLst>
              <a:ext uri="{FF2B5EF4-FFF2-40B4-BE49-F238E27FC236}">
                <a16:creationId xmlns:a16="http://schemas.microsoft.com/office/drawing/2014/main" id="{D253BF9E-8421-0297-CC86-3640C140B0F0}"/>
              </a:ext>
            </a:extLst>
          </p:cNvPr>
          <p:cNvSpPr txBox="1"/>
          <p:nvPr/>
        </p:nvSpPr>
        <p:spPr>
          <a:xfrm>
            <a:off x="6255963" y="2599810"/>
            <a:ext cx="10431836" cy="7103483"/>
          </a:xfrm>
          <a:prstGeom prst="rect">
            <a:avLst/>
          </a:prstGeom>
          <a:noFill/>
        </p:spPr>
        <p:txBody>
          <a:bodyPr wrap="square">
            <a:spAutoFit/>
          </a:bodyPr>
          <a:lstStyle/>
          <a:p>
            <a:pPr>
              <a:buNone/>
            </a:pP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Further</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Data</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Linking</a:t>
            </a:r>
            <a:endParaRPr lang="el-GR"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Enrich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player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profiles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additional</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information</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from</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external</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sources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Connect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other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football-related</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endParaRPr lang="en-US"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lvl="0"/>
            <a:endParaRPr lang="en-US"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lvl="0"/>
            <a:endParaRPr lang="el-GR"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buNone/>
            </a:pPr>
            <a:r>
              <a:rPr lang="en-US" sz="2680" b="1" dirty="0">
                <a:solidFill>
                  <a:schemeClr val="bg1"/>
                </a:solidFill>
                <a:latin typeface="Roboto" panose="02000000000000000000" pitchFamily="2" charset="0"/>
                <a:ea typeface="Roboto" panose="02000000000000000000" pitchFamily="2" charset="0"/>
                <a:cs typeface="Roboto" panose="02000000000000000000" pitchFamily="2" charset="0"/>
              </a:rPr>
              <a:t>P</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layer</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Performance</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Analysis</a:t>
            </a:r>
            <a:endParaRPr lang="el-GR"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Compare</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players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using</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goals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assists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expected</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goals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xG</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and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expected</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assists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xA</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Support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statistical</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analysis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of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player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performance</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during</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2024/2025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season</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endParaRPr lang="en-US"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lvl="0"/>
            <a:endParaRPr lang="en-US"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lvl="0"/>
            <a:endParaRPr lang="el-GR"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buNone/>
            </a:pP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Data</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Reuse</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&amp;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Integration</a:t>
            </a:r>
            <a:endParaRPr lang="el-GR" sz="268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Reuse</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RDF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in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analysis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applications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457200" lvl="0" indent="-4572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Combine</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other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compatible</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for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broader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analysis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p:txBody>
      </p:sp>
      <p:sp>
        <p:nvSpPr>
          <p:cNvPr id="7" name="TextBox 23">
            <a:extLst>
              <a:ext uri="{FF2B5EF4-FFF2-40B4-BE49-F238E27FC236}">
                <a16:creationId xmlns:a16="http://schemas.microsoft.com/office/drawing/2014/main" id="{DA6D0E55-6530-6D5F-F4E7-79D55A7DBCF2}"/>
              </a:ext>
            </a:extLst>
          </p:cNvPr>
          <p:cNvSpPr txBox="1"/>
          <p:nvPr/>
        </p:nvSpPr>
        <p:spPr>
          <a:xfrm>
            <a:off x="-159292" y="725466"/>
            <a:ext cx="9707333" cy="804835"/>
          </a:xfrm>
          <a:prstGeom prst="rect">
            <a:avLst/>
          </a:prstGeom>
        </p:spPr>
        <p:txBody>
          <a:bodyPr lIns="0" tIns="0" rIns="0" bIns="0" rtlCol="0" anchor="t">
            <a:spAutoFit/>
          </a:bodyPr>
          <a:lstStyle/>
          <a:p>
            <a:pPr algn="ctr">
              <a:lnSpc>
                <a:spcPts val="6562"/>
              </a:lnSpc>
            </a:pPr>
            <a:r>
              <a:rPr lang="en-US" sz="4687" dirty="0">
                <a:latin typeface="Archivo Black"/>
                <a:ea typeface="Archivo Black"/>
                <a:cs typeface="Archivo Black"/>
                <a:sym typeface="Archivo Black"/>
              </a:rPr>
              <a:t>Integration Opportunities</a:t>
            </a:r>
          </a:p>
        </p:txBody>
      </p:sp>
      <p:sp>
        <p:nvSpPr>
          <p:cNvPr id="11" name="Freeform 10">
            <a:extLst>
              <a:ext uri="{FF2B5EF4-FFF2-40B4-BE49-F238E27FC236}">
                <a16:creationId xmlns:a16="http://schemas.microsoft.com/office/drawing/2014/main" id="{3E92B382-0B8B-BBEB-3473-08FE5F983687}"/>
              </a:ext>
            </a:extLst>
          </p:cNvPr>
          <p:cNvSpPr/>
          <p:nvPr/>
        </p:nvSpPr>
        <p:spPr>
          <a:xfrm>
            <a:off x="4026476" y="5193420"/>
            <a:ext cx="1800000" cy="1800000"/>
          </a:xfrm>
          <a:custGeom>
            <a:avLst/>
            <a:gdLst/>
            <a:ahLst/>
            <a:cxnLst/>
            <a:rect l="l" t="t" r="r" b="b"/>
            <a:pathLst>
              <a:path w="3290021" h="3207771">
                <a:moveTo>
                  <a:pt x="0" y="0"/>
                </a:moveTo>
                <a:lnTo>
                  <a:pt x="3290022" y="0"/>
                </a:lnTo>
                <a:lnTo>
                  <a:pt x="3290022" y="3207771"/>
                </a:lnTo>
                <a:lnTo>
                  <a:pt x="0" y="32077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solidFill>
                <a:schemeClr val="bg1"/>
              </a:solidFill>
            </a:endParaRPr>
          </a:p>
        </p:txBody>
      </p:sp>
      <p:sp>
        <p:nvSpPr>
          <p:cNvPr id="15" name="Freeform 11">
            <a:extLst>
              <a:ext uri="{FF2B5EF4-FFF2-40B4-BE49-F238E27FC236}">
                <a16:creationId xmlns:a16="http://schemas.microsoft.com/office/drawing/2014/main" id="{E09C9782-4D00-19A1-4557-76F68EAA00F2}"/>
              </a:ext>
            </a:extLst>
          </p:cNvPr>
          <p:cNvSpPr/>
          <p:nvPr/>
        </p:nvSpPr>
        <p:spPr>
          <a:xfrm>
            <a:off x="3925488" y="7774182"/>
            <a:ext cx="2138228" cy="2001563"/>
          </a:xfrm>
          <a:custGeom>
            <a:avLst/>
            <a:gdLst/>
            <a:ahLst/>
            <a:cxnLst/>
            <a:rect l="l" t="t" r="r" b="b"/>
            <a:pathLst>
              <a:path w="2054623" h="2044350">
                <a:moveTo>
                  <a:pt x="0" y="0"/>
                </a:moveTo>
                <a:lnTo>
                  <a:pt x="2054624" y="0"/>
                </a:lnTo>
                <a:lnTo>
                  <a:pt x="2054624" y="2044350"/>
                </a:lnTo>
                <a:lnTo>
                  <a:pt x="0" y="20443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a:solidFill>
                <a:schemeClr val="bg1"/>
              </a:solidFill>
            </a:endParaRPr>
          </a:p>
        </p:txBody>
      </p:sp>
      <p:pic>
        <p:nvPicPr>
          <p:cNvPr id="39" name="Graphic 38" descr="Link with solid fill">
            <a:extLst>
              <a:ext uri="{FF2B5EF4-FFF2-40B4-BE49-F238E27FC236}">
                <a16:creationId xmlns:a16="http://schemas.microsoft.com/office/drawing/2014/main" id="{4613733C-9647-C900-15DE-B7FA7A3D1F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7600" y="2118040"/>
            <a:ext cx="2568260" cy="2568260"/>
          </a:xfrm>
          <a:prstGeom prst="rect">
            <a:avLst/>
          </a:prstGeom>
        </p:spPr>
      </p:pic>
    </p:spTree>
    <p:extLst>
      <p:ext uri="{BB962C8B-B14F-4D97-AF65-F5344CB8AC3E}">
        <p14:creationId xmlns:p14="http://schemas.microsoft.com/office/powerpoint/2010/main" val="1631314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B52E-FE57-7646-CB25-042C4D9E1B2A}"/>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85E310E9-765D-4CDB-CBF7-04277D4DD3A4}"/>
              </a:ext>
            </a:extLst>
          </p:cNvPr>
          <p:cNvGrpSpPr/>
          <p:nvPr/>
        </p:nvGrpSpPr>
        <p:grpSpPr>
          <a:xfrm>
            <a:off x="4621784" y="2188035"/>
            <a:ext cx="12926313" cy="7317708"/>
            <a:chOff x="0" y="0"/>
            <a:chExt cx="3404461" cy="1927298"/>
          </a:xfrm>
        </p:grpSpPr>
        <p:sp>
          <p:nvSpPr>
            <p:cNvPr id="4" name="Freeform 4">
              <a:extLst>
                <a:ext uri="{FF2B5EF4-FFF2-40B4-BE49-F238E27FC236}">
                  <a16:creationId xmlns:a16="http://schemas.microsoft.com/office/drawing/2014/main" id="{060B9B90-6B19-307D-825F-3AA0A5CEDD2F}"/>
                </a:ext>
              </a:extLst>
            </p:cNvPr>
            <p:cNvSpPr/>
            <p:nvPr/>
          </p:nvSpPr>
          <p:spPr>
            <a:xfrm>
              <a:off x="0" y="0"/>
              <a:ext cx="3404461" cy="1927297"/>
            </a:xfrm>
            <a:custGeom>
              <a:avLst/>
              <a:gdLst/>
              <a:ahLst/>
              <a:cxnLst/>
              <a:rect l="l" t="t" r="r" b="b"/>
              <a:pathLst>
                <a:path w="3404461" h="1927297">
                  <a:moveTo>
                    <a:pt x="30545" y="0"/>
                  </a:moveTo>
                  <a:lnTo>
                    <a:pt x="3373916" y="0"/>
                  </a:lnTo>
                  <a:cubicBezTo>
                    <a:pt x="3390786" y="0"/>
                    <a:pt x="3404461" y="13676"/>
                    <a:pt x="3404461" y="30545"/>
                  </a:cubicBezTo>
                  <a:lnTo>
                    <a:pt x="3404461" y="1896752"/>
                  </a:lnTo>
                  <a:cubicBezTo>
                    <a:pt x="3404461" y="1913622"/>
                    <a:pt x="3390786" y="1927297"/>
                    <a:pt x="3373916" y="1927297"/>
                  </a:cubicBezTo>
                  <a:lnTo>
                    <a:pt x="30545" y="1927297"/>
                  </a:lnTo>
                  <a:cubicBezTo>
                    <a:pt x="13676" y="1927297"/>
                    <a:pt x="0" y="1913622"/>
                    <a:pt x="0" y="1896752"/>
                  </a:cubicBezTo>
                  <a:lnTo>
                    <a:pt x="0" y="30545"/>
                  </a:lnTo>
                  <a:cubicBezTo>
                    <a:pt x="0" y="13676"/>
                    <a:pt x="13676" y="0"/>
                    <a:pt x="30545" y="0"/>
                  </a:cubicBezTo>
                  <a:close/>
                </a:path>
              </a:pathLst>
            </a:custGeom>
            <a:solidFill>
              <a:srgbClr val="FFFFFF"/>
            </a:solidFill>
          </p:spPr>
          <p:txBody>
            <a:bodyPr/>
            <a:lstStyle/>
            <a:p>
              <a:endParaRPr lang="el-GR" dirty="0"/>
            </a:p>
          </p:txBody>
        </p:sp>
        <p:sp>
          <p:nvSpPr>
            <p:cNvPr id="5" name="TextBox 5">
              <a:extLst>
                <a:ext uri="{FF2B5EF4-FFF2-40B4-BE49-F238E27FC236}">
                  <a16:creationId xmlns:a16="http://schemas.microsoft.com/office/drawing/2014/main" id="{CAE4DC97-51EA-23FC-AD9F-8573730A5669}"/>
                </a:ext>
              </a:extLst>
            </p:cNvPr>
            <p:cNvSpPr txBox="1"/>
            <p:nvPr/>
          </p:nvSpPr>
          <p:spPr>
            <a:xfrm>
              <a:off x="0" y="-38100"/>
              <a:ext cx="3404461" cy="196539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E3ECCED5-9E6C-74C9-EFEF-ED552BFF078C}"/>
              </a:ext>
            </a:extLst>
          </p:cNvPr>
          <p:cNvGrpSpPr/>
          <p:nvPr/>
        </p:nvGrpSpPr>
        <p:grpSpPr>
          <a:xfrm>
            <a:off x="228598" y="7688218"/>
            <a:ext cx="16756311" cy="2067336"/>
            <a:chOff x="0" y="0"/>
            <a:chExt cx="4413185" cy="812800"/>
          </a:xfrm>
        </p:grpSpPr>
        <p:sp>
          <p:nvSpPr>
            <p:cNvPr id="7" name="Freeform 7">
              <a:extLst>
                <a:ext uri="{FF2B5EF4-FFF2-40B4-BE49-F238E27FC236}">
                  <a16:creationId xmlns:a16="http://schemas.microsoft.com/office/drawing/2014/main" id="{99E7E823-D397-FE39-3D1A-686895E2A96A}"/>
                </a:ext>
              </a:extLst>
            </p:cNvPr>
            <p:cNvSpPr/>
            <p:nvPr/>
          </p:nvSpPr>
          <p:spPr>
            <a:xfrm>
              <a:off x="0" y="0"/>
              <a:ext cx="4413185" cy="812800"/>
            </a:xfrm>
            <a:custGeom>
              <a:avLst/>
              <a:gdLst/>
              <a:ahLst/>
              <a:cxnLst/>
              <a:rect l="l" t="t" r="r" b="b"/>
              <a:pathLst>
                <a:path w="4413185" h="812800">
                  <a:moveTo>
                    <a:pt x="12475" y="0"/>
                  </a:moveTo>
                  <a:lnTo>
                    <a:pt x="4400710" y="0"/>
                  </a:lnTo>
                  <a:cubicBezTo>
                    <a:pt x="4404019" y="0"/>
                    <a:pt x="4407191" y="1314"/>
                    <a:pt x="4409531" y="3654"/>
                  </a:cubicBezTo>
                  <a:cubicBezTo>
                    <a:pt x="4411871" y="5993"/>
                    <a:pt x="4413185" y="9166"/>
                    <a:pt x="4413185" y="12475"/>
                  </a:cubicBezTo>
                  <a:lnTo>
                    <a:pt x="4413185" y="800325"/>
                  </a:lnTo>
                  <a:cubicBezTo>
                    <a:pt x="4413185" y="803634"/>
                    <a:pt x="4411871" y="806807"/>
                    <a:pt x="4409531" y="809146"/>
                  </a:cubicBezTo>
                  <a:cubicBezTo>
                    <a:pt x="4407191" y="811486"/>
                    <a:pt x="4404019" y="812800"/>
                    <a:pt x="4400710" y="812800"/>
                  </a:cubicBezTo>
                  <a:lnTo>
                    <a:pt x="12475" y="812800"/>
                  </a:lnTo>
                  <a:cubicBezTo>
                    <a:pt x="9166" y="812800"/>
                    <a:pt x="5993" y="811486"/>
                    <a:pt x="3654" y="809146"/>
                  </a:cubicBezTo>
                  <a:cubicBezTo>
                    <a:pt x="1314" y="806807"/>
                    <a:pt x="0" y="803634"/>
                    <a:pt x="0" y="800325"/>
                  </a:cubicBezTo>
                  <a:lnTo>
                    <a:pt x="0" y="12475"/>
                  </a:lnTo>
                  <a:cubicBezTo>
                    <a:pt x="0" y="9166"/>
                    <a:pt x="1314" y="5993"/>
                    <a:pt x="3654" y="3654"/>
                  </a:cubicBezTo>
                  <a:cubicBezTo>
                    <a:pt x="5993" y="1314"/>
                    <a:pt x="9166" y="0"/>
                    <a:pt x="12475" y="0"/>
                  </a:cubicBezTo>
                  <a:close/>
                </a:path>
              </a:pathLst>
            </a:custGeom>
            <a:solidFill>
              <a:srgbClr val="000000"/>
            </a:solidFill>
          </p:spPr>
          <p:txBody>
            <a:bodyPr/>
            <a:lstStyle/>
            <a:p>
              <a:endParaRPr lang="el-GR" dirty="0"/>
            </a:p>
          </p:txBody>
        </p:sp>
        <p:sp>
          <p:nvSpPr>
            <p:cNvPr id="8" name="TextBox 8">
              <a:extLst>
                <a:ext uri="{FF2B5EF4-FFF2-40B4-BE49-F238E27FC236}">
                  <a16:creationId xmlns:a16="http://schemas.microsoft.com/office/drawing/2014/main" id="{AA4207FD-4A4B-6102-1929-C3FD25820B60}"/>
                </a:ext>
              </a:extLst>
            </p:cNvPr>
            <p:cNvSpPr txBox="1"/>
            <p:nvPr/>
          </p:nvSpPr>
          <p:spPr>
            <a:xfrm>
              <a:off x="0" y="-38100"/>
              <a:ext cx="4413185" cy="85090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7D59470C-2F32-8E5F-1607-59AA11DBC401}"/>
              </a:ext>
            </a:extLst>
          </p:cNvPr>
          <p:cNvSpPr txBox="1"/>
          <p:nvPr/>
        </p:nvSpPr>
        <p:spPr>
          <a:xfrm>
            <a:off x="2876197" y="889112"/>
            <a:ext cx="12535607" cy="721288"/>
          </a:xfrm>
          <a:prstGeom prst="rect">
            <a:avLst/>
          </a:prstGeom>
        </p:spPr>
        <p:txBody>
          <a:bodyPr wrap="square" lIns="0" tIns="0" rIns="0" bIns="0" rtlCol="0" anchor="t">
            <a:spAutoFit/>
          </a:bodyPr>
          <a:lstStyle/>
          <a:p>
            <a:pPr algn="ctr">
              <a:lnSpc>
                <a:spcPct val="100000"/>
              </a:lnSpc>
            </a:pPr>
            <a:r>
              <a:rPr lang="en-US" sz="4687" dirty="0">
                <a:solidFill>
                  <a:srgbClr val="000000"/>
                </a:solidFill>
                <a:latin typeface="Archivo Black"/>
                <a:ea typeface="Archivo Black"/>
                <a:cs typeface="Archivo Black"/>
                <a:sym typeface="Archivo Black"/>
              </a:rPr>
              <a:t>Challenges, Conclusion &amp; Future Work</a:t>
            </a:r>
          </a:p>
        </p:txBody>
      </p:sp>
      <p:sp>
        <p:nvSpPr>
          <p:cNvPr id="13" name="TextBox 13">
            <a:extLst>
              <a:ext uri="{FF2B5EF4-FFF2-40B4-BE49-F238E27FC236}">
                <a16:creationId xmlns:a16="http://schemas.microsoft.com/office/drawing/2014/main" id="{902E0BE8-1639-1E05-B5E0-805DEF66D52F}"/>
              </a:ext>
            </a:extLst>
          </p:cNvPr>
          <p:cNvSpPr txBox="1"/>
          <p:nvPr/>
        </p:nvSpPr>
        <p:spPr>
          <a:xfrm>
            <a:off x="5483083" y="1952480"/>
            <a:ext cx="12347717" cy="5324535"/>
          </a:xfrm>
          <a:prstGeom prst="rect">
            <a:avLst/>
          </a:prstGeom>
        </p:spPr>
        <p:txBody>
          <a:bodyPr wrap="square" lIns="0" tIns="0" rIns="0" bIns="0" rtlCol="0" anchor="t">
            <a:spAutoFit/>
          </a:bodyPr>
          <a:lstStyle/>
          <a:p>
            <a:pPr algn="l">
              <a:lnSpc>
                <a:spcPts val="3757"/>
              </a:lnSpc>
            </a:pPr>
            <a:r>
              <a:rPr lang="en-US" sz="2680" b="1" dirty="0">
                <a:latin typeface="Roboto"/>
                <a:ea typeface="Roboto"/>
                <a:cs typeface="Roboto"/>
                <a:sym typeface="Roboto"/>
              </a:rPr>
              <a:t>Challenges</a:t>
            </a:r>
          </a:p>
          <a:p>
            <a:pPr marL="457200" indent="-457200" algn="l">
              <a:lnSpc>
                <a:spcPts val="3757"/>
              </a:lnSpc>
              <a:buFont typeface="Arial" panose="020B0604020202020204" pitchFamily="34" charset="0"/>
              <a:buChar char="•"/>
            </a:pPr>
            <a:r>
              <a:rPr lang="en-US" sz="2680" b="1" dirty="0">
                <a:latin typeface="Roboto"/>
                <a:ea typeface="Roboto"/>
                <a:cs typeface="Roboto"/>
                <a:sym typeface="Roboto"/>
              </a:rPr>
              <a:t>Entity Linking: </a:t>
            </a:r>
            <a:r>
              <a:rPr lang="en-US" sz="2680" dirty="0">
                <a:latin typeface="Roboto"/>
                <a:ea typeface="Roboto"/>
                <a:cs typeface="Roboto"/>
                <a:sym typeface="Roboto"/>
              </a:rPr>
              <a:t>Reconciling selected entities with </a:t>
            </a:r>
            <a:r>
              <a:rPr lang="en-US" sz="2680" dirty="0" err="1">
                <a:latin typeface="Roboto"/>
                <a:ea typeface="Roboto"/>
                <a:cs typeface="Roboto"/>
                <a:sym typeface="Roboto"/>
              </a:rPr>
              <a:t>Wikidata</a:t>
            </a:r>
            <a:r>
              <a:rPr lang="en-US" sz="2680" dirty="0">
                <a:latin typeface="Roboto"/>
                <a:ea typeface="Roboto"/>
                <a:cs typeface="Roboto"/>
                <a:sym typeface="Roboto"/>
              </a:rPr>
              <a:t> using </a:t>
            </a:r>
            <a:r>
              <a:rPr lang="en-US" sz="2680" dirty="0" err="1">
                <a:latin typeface="Roboto"/>
                <a:ea typeface="Roboto"/>
                <a:cs typeface="Roboto"/>
                <a:sym typeface="Roboto"/>
              </a:rPr>
              <a:t>OpenRefine</a:t>
            </a:r>
            <a:r>
              <a:rPr lang="en-US" sz="2680" dirty="0">
                <a:latin typeface="Roboto"/>
                <a:ea typeface="Roboto"/>
                <a:cs typeface="Roboto"/>
                <a:sym typeface="Roboto"/>
              </a:rPr>
              <a:t>.</a:t>
            </a:r>
          </a:p>
          <a:p>
            <a:pPr marL="457200" indent="-457200" algn="l">
              <a:lnSpc>
                <a:spcPts val="3757"/>
              </a:lnSpc>
              <a:buFont typeface="Arial" panose="020B0604020202020204" pitchFamily="34" charset="0"/>
              <a:buChar char="•"/>
            </a:pPr>
            <a:r>
              <a:rPr lang="en-US" sz="2680" b="1" dirty="0">
                <a:latin typeface="Roboto"/>
                <a:ea typeface="Roboto"/>
                <a:cs typeface="Roboto"/>
                <a:sym typeface="Roboto"/>
              </a:rPr>
              <a:t>Semantic Modelling: </a:t>
            </a:r>
            <a:r>
              <a:rPr lang="en-US" sz="2680" dirty="0">
                <a:latin typeface="Roboto"/>
                <a:ea typeface="Roboto"/>
                <a:cs typeface="Roboto"/>
                <a:sym typeface="Roboto"/>
              </a:rPr>
              <a:t>Defining a project-specific ontology and creating RDF data.</a:t>
            </a:r>
          </a:p>
          <a:p>
            <a:pPr marL="457200" indent="-457200" algn="l">
              <a:lnSpc>
                <a:spcPts val="3757"/>
              </a:lnSpc>
              <a:buFont typeface="Arial" panose="020B0604020202020204" pitchFamily="34" charset="0"/>
              <a:buChar char="•"/>
            </a:pPr>
            <a:endParaRPr lang="en-US" sz="2680" dirty="0">
              <a:latin typeface="Roboto"/>
              <a:ea typeface="Roboto"/>
              <a:cs typeface="Roboto"/>
              <a:sym typeface="Roboto"/>
            </a:endParaRPr>
          </a:p>
          <a:p>
            <a:pPr algn="l">
              <a:lnSpc>
                <a:spcPts val="3757"/>
              </a:lnSpc>
            </a:pPr>
            <a:r>
              <a:rPr lang="en-US" sz="2680" b="1" dirty="0">
                <a:latin typeface="Roboto"/>
                <a:ea typeface="Roboto"/>
                <a:cs typeface="Roboto"/>
                <a:sym typeface="Roboto"/>
              </a:rPr>
              <a:t>Conclusion</a:t>
            </a:r>
          </a:p>
          <a:p>
            <a:pPr marL="457200" indent="-457200" algn="l">
              <a:lnSpc>
                <a:spcPts val="3757"/>
              </a:lnSpc>
              <a:buFont typeface="Arial" panose="020B0604020202020204" pitchFamily="34" charset="0"/>
              <a:buChar char="•"/>
            </a:pPr>
            <a:r>
              <a:rPr lang="en-US" sz="2680" dirty="0">
                <a:latin typeface="Roboto"/>
                <a:ea typeface="Roboto"/>
                <a:cs typeface="Roboto"/>
                <a:sym typeface="Roboto"/>
              </a:rPr>
              <a:t>Transformed Premier League player statistics for the 2024/2025 season into RDF/Turtle.</a:t>
            </a:r>
          </a:p>
          <a:p>
            <a:pPr marL="457200" indent="-457200" algn="l">
              <a:lnSpc>
                <a:spcPts val="3757"/>
              </a:lnSpc>
              <a:buFont typeface="Arial" panose="020B0604020202020204" pitchFamily="34" charset="0"/>
              <a:buChar char="•"/>
            </a:pPr>
            <a:r>
              <a:rPr lang="en-US" sz="2680" dirty="0">
                <a:latin typeface="Roboto"/>
                <a:ea typeface="Roboto"/>
                <a:cs typeface="Roboto"/>
                <a:sym typeface="Roboto"/>
              </a:rPr>
              <a:t>Linked selected entities to external </a:t>
            </a:r>
            <a:r>
              <a:rPr lang="en-US" sz="2680" dirty="0" err="1">
                <a:latin typeface="Roboto"/>
                <a:ea typeface="Roboto"/>
                <a:cs typeface="Roboto"/>
                <a:sym typeface="Roboto"/>
              </a:rPr>
              <a:t>Wikidata</a:t>
            </a:r>
            <a:r>
              <a:rPr lang="en-US" sz="2680" dirty="0">
                <a:latin typeface="Roboto"/>
                <a:ea typeface="Roboto"/>
                <a:cs typeface="Roboto"/>
                <a:sym typeface="Roboto"/>
              </a:rPr>
              <a:t> resources.</a:t>
            </a:r>
          </a:p>
          <a:p>
            <a:pPr marL="457200" indent="-457200" algn="l">
              <a:lnSpc>
                <a:spcPts val="3757"/>
              </a:lnSpc>
              <a:buFont typeface="Arial" panose="020B0604020202020204" pitchFamily="34" charset="0"/>
              <a:buChar char="•"/>
            </a:pPr>
            <a:r>
              <a:rPr lang="en-US" sz="2680" dirty="0">
                <a:latin typeface="Roboto"/>
                <a:ea typeface="Roboto"/>
                <a:cs typeface="Roboto"/>
                <a:sym typeface="Roboto"/>
              </a:rPr>
              <a:t>Created structured metadata for the catalog, dataset and distributions.</a:t>
            </a:r>
          </a:p>
          <a:p>
            <a:pPr marL="457200" indent="-457200" algn="l">
              <a:lnSpc>
                <a:spcPts val="3757"/>
              </a:lnSpc>
              <a:buFont typeface="Arial" panose="020B0604020202020204" pitchFamily="34" charset="0"/>
              <a:buChar char="•"/>
            </a:pPr>
            <a:r>
              <a:rPr lang="en-US" sz="2680" dirty="0">
                <a:latin typeface="Roboto"/>
                <a:ea typeface="Roboto"/>
                <a:cs typeface="Roboto"/>
                <a:sym typeface="Roboto"/>
              </a:rPr>
              <a:t>Improved the dataset’s potential for findability, interoperability and reuse.</a:t>
            </a:r>
          </a:p>
        </p:txBody>
      </p:sp>
      <p:pic>
        <p:nvPicPr>
          <p:cNvPr id="16" name="Graphic 15" descr="Database with solid fill">
            <a:extLst>
              <a:ext uri="{FF2B5EF4-FFF2-40B4-BE49-F238E27FC236}">
                <a16:creationId xmlns:a16="http://schemas.microsoft.com/office/drawing/2014/main" id="{15C6EEB1-9E4F-C3C1-40F7-75AB4CE976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36697" y="3795966"/>
            <a:ext cx="2663683" cy="2663683"/>
          </a:xfrm>
          <a:prstGeom prst="rect">
            <a:avLst/>
          </a:prstGeom>
        </p:spPr>
      </p:pic>
      <p:pic>
        <p:nvPicPr>
          <p:cNvPr id="11" name="Graphic 10" descr="Hurdle with solid fill">
            <a:extLst>
              <a:ext uri="{FF2B5EF4-FFF2-40B4-BE49-F238E27FC236}">
                <a16:creationId xmlns:a16="http://schemas.microsoft.com/office/drawing/2014/main" id="{39934AF9-2484-AD26-9249-D70D643965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1952480"/>
            <a:ext cx="2484312" cy="2484312"/>
          </a:xfrm>
          <a:prstGeom prst="rect">
            <a:avLst/>
          </a:prstGeom>
        </p:spPr>
      </p:pic>
      <p:sp>
        <p:nvSpPr>
          <p:cNvPr id="17" name="TextBox 16">
            <a:extLst>
              <a:ext uri="{FF2B5EF4-FFF2-40B4-BE49-F238E27FC236}">
                <a16:creationId xmlns:a16="http://schemas.microsoft.com/office/drawing/2014/main" id="{2EDE737D-0C0D-AB1D-73D0-D43901FA76B6}"/>
              </a:ext>
            </a:extLst>
          </p:cNvPr>
          <p:cNvSpPr txBox="1"/>
          <p:nvPr/>
        </p:nvSpPr>
        <p:spPr>
          <a:xfrm>
            <a:off x="942914" y="7980417"/>
            <a:ext cx="15327681" cy="1329595"/>
          </a:xfrm>
          <a:prstGeom prst="rect">
            <a:avLst/>
          </a:prstGeom>
          <a:noFill/>
        </p:spPr>
        <p:txBody>
          <a:bodyPr wrap="square">
            <a:spAutoFit/>
          </a:bodyPr>
          <a:lstStyle/>
          <a:p>
            <a:pPr>
              <a:buNone/>
            </a:pP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Future</a:t>
            </a:r>
            <a:r>
              <a:rPr lang="el-GR" sz="2680" b="1"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b="1" dirty="0" err="1">
                <a:solidFill>
                  <a:schemeClr val="bg1"/>
                </a:solidFill>
                <a:latin typeface="Roboto" panose="02000000000000000000" pitchFamily="2" charset="0"/>
                <a:ea typeface="Roboto" panose="02000000000000000000" pitchFamily="2" charset="0"/>
                <a:cs typeface="Roboto" panose="02000000000000000000" pitchFamily="2" charset="0"/>
              </a:rPr>
              <a:t>Work</a:t>
            </a:r>
            <a:endParaRPr lang="el-GR" sz="2680" b="1"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342900" lvl="0" indent="-3429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Link</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additional</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football-related</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a:p>
            <a:pPr marL="342900" lvl="0" indent="-342900">
              <a:buFont typeface="Arial" panose="020B0604020202020204" pitchFamily="34" charset="0"/>
              <a:buChar char="•"/>
            </a:pP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Extend</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the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dataset</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additional</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seasons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and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player</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el-GR" sz="2680" dirty="0" err="1">
                <a:solidFill>
                  <a:schemeClr val="bg1"/>
                </a:solidFill>
                <a:latin typeface="Roboto" panose="02000000000000000000" pitchFamily="2" charset="0"/>
                <a:ea typeface="Roboto" panose="02000000000000000000" pitchFamily="2" charset="0"/>
                <a:cs typeface="Roboto" panose="02000000000000000000" pitchFamily="2" charset="0"/>
              </a:rPr>
              <a:t>statistics</a:t>
            </a:r>
            <a:r>
              <a:rPr lang="el-GR" sz="2680" dirty="0">
                <a:solidFill>
                  <a:schemeClr val="bg1"/>
                </a:solidFill>
                <a:latin typeface="Roboto" panose="02000000000000000000" pitchFamily="2" charset="0"/>
                <a:ea typeface="Roboto" panose="02000000000000000000" pitchFamily="2" charset="0"/>
                <a:cs typeface="Roboto" panose="02000000000000000000" pitchFamily="2" charset="0"/>
              </a:rPr>
              <a:t>.</a:t>
            </a:r>
          </a:p>
        </p:txBody>
      </p:sp>
    </p:spTree>
    <p:extLst>
      <p:ext uri="{BB962C8B-B14F-4D97-AF65-F5344CB8AC3E}">
        <p14:creationId xmlns:p14="http://schemas.microsoft.com/office/powerpoint/2010/main" val="628755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BF9427B-19DA-6B3A-B69B-4678B6F0B973}"/>
              </a:ext>
            </a:extLst>
          </p:cNvPr>
          <p:cNvCxnSpPr>
            <a:cxnSpLocks/>
          </p:cNvCxnSpPr>
          <p:nvPr/>
        </p:nvCxnSpPr>
        <p:spPr>
          <a:xfrm>
            <a:off x="1295400" y="3271569"/>
            <a:ext cx="1569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CD5D5-D979-2FBB-3952-88AA8B5FA225}"/>
              </a:ext>
            </a:extLst>
          </p:cNvPr>
          <p:cNvSpPr txBox="1"/>
          <p:nvPr/>
        </p:nvSpPr>
        <p:spPr>
          <a:xfrm>
            <a:off x="5334000" y="1409700"/>
            <a:ext cx="7620000" cy="1323439"/>
          </a:xfrm>
          <a:prstGeom prst="rect">
            <a:avLst/>
          </a:prstGeom>
          <a:noFill/>
        </p:spPr>
        <p:txBody>
          <a:bodyPr wrap="square" rtlCol="0">
            <a:spAutoFit/>
          </a:bodyPr>
          <a:lstStyle/>
          <a:p>
            <a:r>
              <a:rPr lang="en-US" sz="8000" dirty="0">
                <a:latin typeface="Archivo Black" panose="020B0604020202020204" charset="0"/>
              </a:rPr>
              <a:t>THANK YOU!</a:t>
            </a:r>
            <a:endParaRPr lang="el-GR" sz="8000" dirty="0"/>
          </a:p>
        </p:txBody>
      </p:sp>
      <p:sp>
        <p:nvSpPr>
          <p:cNvPr id="11" name="TextBox 10">
            <a:extLst>
              <a:ext uri="{FF2B5EF4-FFF2-40B4-BE49-F238E27FC236}">
                <a16:creationId xmlns:a16="http://schemas.microsoft.com/office/drawing/2014/main" id="{D3A4C637-52A7-413D-913E-44E476678D96}"/>
              </a:ext>
            </a:extLst>
          </p:cNvPr>
          <p:cNvSpPr txBox="1"/>
          <p:nvPr/>
        </p:nvSpPr>
        <p:spPr>
          <a:xfrm>
            <a:off x="4571999" y="7886700"/>
            <a:ext cx="9144000" cy="584775"/>
          </a:xfrm>
          <a:prstGeom prst="rect">
            <a:avLst/>
          </a:prstGeom>
          <a:noFill/>
        </p:spPr>
        <p:txBody>
          <a:bodyPr wrap="square">
            <a:spAutoFit/>
          </a:bodyPr>
          <a:lstStyle/>
          <a:p>
            <a:pPr algn="ctr">
              <a:buNone/>
            </a:pPr>
            <a:r>
              <a:rPr lang="el-GR" sz="3200" dirty="0" err="1">
                <a:latin typeface="Roboto" panose="02000000000000000000" pitchFamily="2" charset="0"/>
                <a:ea typeface="Roboto" panose="02000000000000000000" pitchFamily="2" charset="0"/>
                <a:cs typeface="Roboto" panose="02000000000000000000" pitchFamily="2" charset="0"/>
              </a:rPr>
              <a:t>Questions</a:t>
            </a:r>
            <a:r>
              <a:rPr lang="el-GR" sz="3200" dirty="0">
                <a:latin typeface="Roboto" panose="02000000000000000000" pitchFamily="2" charset="0"/>
                <a:ea typeface="Roboto" panose="02000000000000000000" pitchFamily="2" charset="0"/>
                <a:cs typeface="Roboto" panose="02000000000000000000" pitchFamily="2" charset="0"/>
              </a:rPr>
              <a:t>?</a:t>
            </a:r>
          </a:p>
        </p:txBody>
      </p:sp>
      <p:sp>
        <p:nvSpPr>
          <p:cNvPr id="13" name="TextBox 12">
            <a:extLst>
              <a:ext uri="{FF2B5EF4-FFF2-40B4-BE49-F238E27FC236}">
                <a16:creationId xmlns:a16="http://schemas.microsoft.com/office/drawing/2014/main" id="{60BAD1E3-7CB8-D1D1-7ABA-6FB66A4CB673}"/>
              </a:ext>
            </a:extLst>
          </p:cNvPr>
          <p:cNvSpPr txBox="1"/>
          <p:nvPr/>
        </p:nvSpPr>
        <p:spPr>
          <a:xfrm>
            <a:off x="4441371" y="4009475"/>
            <a:ext cx="9405256" cy="1569660"/>
          </a:xfrm>
          <a:prstGeom prst="rect">
            <a:avLst/>
          </a:prstGeom>
          <a:noFill/>
        </p:spPr>
        <p:txBody>
          <a:bodyPr wrap="square">
            <a:spAutoFit/>
          </a:bodyPr>
          <a:lstStyle/>
          <a:p>
            <a:pPr algn="ctr">
              <a:buNone/>
            </a:pPr>
            <a:r>
              <a:rPr lang="el-GR" sz="3200" b="1" dirty="0" err="1">
                <a:latin typeface="Roboto" panose="02000000000000000000" pitchFamily="2" charset="0"/>
                <a:ea typeface="Roboto" panose="02000000000000000000" pitchFamily="2" charset="0"/>
                <a:cs typeface="Roboto" panose="02000000000000000000" pitchFamily="2" charset="0"/>
              </a:rPr>
              <a:t>FAIRification</a:t>
            </a:r>
            <a:r>
              <a:rPr lang="el-GR" sz="3200" b="1" dirty="0">
                <a:latin typeface="Roboto" panose="02000000000000000000" pitchFamily="2" charset="0"/>
                <a:ea typeface="Roboto" panose="02000000000000000000" pitchFamily="2" charset="0"/>
                <a:cs typeface="Roboto" panose="02000000000000000000" pitchFamily="2" charset="0"/>
              </a:rPr>
              <a:t> of </a:t>
            </a:r>
            <a:r>
              <a:rPr lang="el-GR" sz="3200" b="1" dirty="0" err="1">
                <a:latin typeface="Roboto" panose="02000000000000000000" pitchFamily="2" charset="0"/>
                <a:ea typeface="Roboto" panose="02000000000000000000" pitchFamily="2" charset="0"/>
                <a:cs typeface="Roboto" panose="02000000000000000000" pitchFamily="2" charset="0"/>
              </a:rPr>
              <a:t>Premier</a:t>
            </a:r>
            <a:r>
              <a:rPr lang="el-GR" sz="3200" b="1" dirty="0">
                <a:latin typeface="Roboto" panose="02000000000000000000" pitchFamily="2" charset="0"/>
                <a:ea typeface="Roboto" panose="02000000000000000000" pitchFamily="2" charset="0"/>
                <a:cs typeface="Roboto" panose="02000000000000000000" pitchFamily="2" charset="0"/>
              </a:rPr>
              <a:t> </a:t>
            </a:r>
            <a:r>
              <a:rPr lang="el-GR" sz="3200" b="1" dirty="0" err="1">
                <a:latin typeface="Roboto" panose="02000000000000000000" pitchFamily="2" charset="0"/>
                <a:ea typeface="Roboto" panose="02000000000000000000" pitchFamily="2" charset="0"/>
                <a:cs typeface="Roboto" panose="02000000000000000000" pitchFamily="2" charset="0"/>
              </a:rPr>
              <a:t>League</a:t>
            </a:r>
            <a:r>
              <a:rPr lang="el-GR" sz="3200" b="1" dirty="0">
                <a:latin typeface="Roboto" panose="02000000000000000000" pitchFamily="2" charset="0"/>
                <a:ea typeface="Roboto" panose="02000000000000000000" pitchFamily="2" charset="0"/>
                <a:cs typeface="Roboto" panose="02000000000000000000" pitchFamily="2" charset="0"/>
              </a:rPr>
              <a:t> Player </a:t>
            </a:r>
            <a:r>
              <a:rPr lang="el-GR" sz="3200" b="1" dirty="0" err="1">
                <a:latin typeface="Roboto" panose="02000000000000000000" pitchFamily="2" charset="0"/>
                <a:ea typeface="Roboto" panose="02000000000000000000" pitchFamily="2" charset="0"/>
                <a:cs typeface="Roboto" panose="02000000000000000000" pitchFamily="2" charset="0"/>
              </a:rPr>
              <a:t>Statistics</a:t>
            </a:r>
            <a:endParaRPr lang="en-US" sz="3200" b="1" dirty="0">
              <a:latin typeface="Roboto" panose="02000000000000000000" pitchFamily="2" charset="0"/>
              <a:ea typeface="Roboto" panose="02000000000000000000" pitchFamily="2" charset="0"/>
              <a:cs typeface="Roboto" panose="02000000000000000000" pitchFamily="2" charset="0"/>
            </a:endParaRPr>
          </a:p>
          <a:p>
            <a:pPr algn="ctr">
              <a:buNone/>
            </a:pPr>
            <a:endParaRPr lang="el-GR" sz="3200" b="1" dirty="0">
              <a:latin typeface="Roboto" panose="02000000000000000000" pitchFamily="2" charset="0"/>
              <a:ea typeface="Roboto" panose="02000000000000000000" pitchFamily="2" charset="0"/>
              <a:cs typeface="Roboto" panose="02000000000000000000" pitchFamily="2" charset="0"/>
            </a:endParaRPr>
          </a:p>
          <a:p>
            <a:pPr algn="ctr">
              <a:buNone/>
            </a:pPr>
            <a:r>
              <a:rPr lang="el-GR" sz="3200"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Group</a:t>
            </a:r>
            <a:r>
              <a:rPr lang="el-GR" sz="3200"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 9 · Giorgos Oratis &amp; </a:t>
            </a:r>
            <a:r>
              <a:rPr lang="el-GR" sz="3200"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Nefeli</a:t>
            </a:r>
            <a:r>
              <a:rPr lang="el-GR" sz="3200"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 </a:t>
            </a:r>
            <a:r>
              <a:rPr lang="el-GR" sz="3200"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Kantouna</a:t>
            </a:r>
            <a:endParaRPr lang="el-GR" sz="3200"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21645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2302</TotalTime>
  <Words>2251</Words>
  <Application>Microsoft Office PowerPoint</Application>
  <PresentationFormat>Custom</PresentationFormat>
  <Paragraphs>212</Paragraphs>
  <Slides>14</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Archivo Black</vt:lpstr>
      <vt:lpstr>Calibri</vt:lpstr>
      <vt:lpstr>Roboto Bold</vt:lpstr>
      <vt:lpstr>Arial</vt:lpstr>
      <vt:lpstr>Aptos</vt:lpstr>
      <vt:lpstr>Roboto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White Modern Minimalist Research Project Presentation</dc:title>
  <dc:creator>Giorgos oratis</dc:creator>
  <cp:lastModifiedBy>Oratis, G. (Giorgos, Student M-CS)</cp:lastModifiedBy>
  <cp:revision>26</cp:revision>
  <dcterms:created xsi:type="dcterms:W3CDTF">2006-08-16T00:00:00Z</dcterms:created>
  <dcterms:modified xsi:type="dcterms:W3CDTF">2026-10-25T13:51:14Z</dcterms:modified>
  <dc:identifier>DAHX4jCIG5Q</dc:identifier>
</cp:coreProperties>
</file>