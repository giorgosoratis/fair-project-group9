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notesMasterIdLst>
    <p:notesMasterId r:id="rId17"/>
  </p:notesMasterIdLst>
  <p:sldIdLst>
    <p:sldId id="256" r:id="rId3"/>
    <p:sldId id="257" r:id="rId4"/>
    <p:sldId id="258" r:id="rId5"/>
    <p:sldId id="267" r:id="rId6"/>
    <p:sldId id="266" r:id="rId7"/>
    <p:sldId id="268" r:id="rId8"/>
    <p:sldId id="269" r:id="rId9"/>
    <p:sldId id="270" r:id="rId10"/>
    <p:sldId id="273" r:id="rId11"/>
    <p:sldId id="274" r:id="rId12"/>
    <p:sldId id="275" r:id="rId13"/>
    <p:sldId id="276" r:id="rId14"/>
    <p:sldId id="277" r:id="rId15"/>
    <p:sldId id="278" r:id="rId16"/>
  </p:sldIdLst>
  <p:sldSz cx="18288000" cy="10287000"/>
  <p:notesSz cx="6858000" cy="9144000"/>
  <p:embeddedFontLst>
    <p:embeddedFont>
      <p:font typeface="Archivo Black" panose="020B0604020202020204" charset="0"/>
      <p:regular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  <p:embeddedFont>
      <p:font typeface="Roboto Bold" panose="02000000000000000000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5098" autoAdjust="0"/>
  </p:normalViewPr>
  <p:slideViewPr>
    <p:cSldViewPr>
      <p:cViewPr varScale="1">
        <p:scale>
          <a:sx n="45" d="100"/>
          <a:sy n="45" d="100"/>
        </p:scale>
        <p:origin x="1162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6139C4-A8C9-4D53-83DC-10B91B618373}" type="datetimeFigureOut">
              <a:rPr lang="el-GR" smtClean="0"/>
              <a:t>28/10/2026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BFD0E7-A571-4D38-B239-BD25B118AD61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476018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1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969878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2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14127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3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31439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524314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01703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603332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37844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155379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9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136134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10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732689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11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122956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12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06552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696C-6BFD-93BE-D12B-F719CBED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7B2A3A-0347-0B79-E04C-38887A904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0C3F2-A87E-7D4B-11CF-F928826732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85510-02A6-000F-EF0B-FAFF8DF97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13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5441075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FD0E7-A571-4D38-B239-BD25B118AD61}" type="slidenum">
              <a:rPr lang="el-GR" smtClean="0"/>
              <a:t>14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98822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3195638"/>
            <a:ext cx="11658600" cy="22050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5829300"/>
            <a:ext cx="9601200" cy="26289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267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53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469" y="6610351"/>
            <a:ext cx="11658600" cy="2043113"/>
          </a:xfrm>
        </p:spPr>
        <p:txBody>
          <a:bodyPr anchor="t"/>
          <a:lstStyle>
            <a:lvl1pPr algn="l">
              <a:defRPr sz="6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3469" y="4360070"/>
            <a:ext cx="11658600" cy="2250281"/>
          </a:xfrm>
        </p:spPr>
        <p:txBody>
          <a:bodyPr anchor="b"/>
          <a:lstStyle>
            <a:lvl1pPr marL="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3574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400301"/>
            <a:ext cx="6057900" cy="6788945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72300" y="2400301"/>
            <a:ext cx="6057900" cy="6788945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793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302670"/>
            <a:ext cx="6060282" cy="959643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262313"/>
            <a:ext cx="6060282" cy="5926932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67538" y="2302670"/>
            <a:ext cx="6062663" cy="959643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67538" y="3262313"/>
            <a:ext cx="6062663" cy="5926932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9333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3635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545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409575"/>
            <a:ext cx="4512470" cy="1743075"/>
          </a:xfrm>
        </p:spPr>
        <p:txBody>
          <a:bodyPr anchor="b"/>
          <a:lstStyle>
            <a:lvl1pPr algn="l">
              <a:defRPr sz="3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62575" y="409576"/>
            <a:ext cx="7667625" cy="8779670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152651"/>
            <a:ext cx="4512470" cy="7036595"/>
          </a:xfrm>
        </p:spPr>
        <p:txBody>
          <a:bodyPr/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4140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8432" y="7200900"/>
            <a:ext cx="8229600" cy="850107"/>
          </a:xfrm>
        </p:spPr>
        <p:txBody>
          <a:bodyPr anchor="b"/>
          <a:lstStyle>
            <a:lvl1pPr algn="l">
              <a:defRPr sz="3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688432" y="919163"/>
            <a:ext cx="8229600" cy="6172200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8432" y="8051007"/>
            <a:ext cx="8229600" cy="1207293"/>
          </a:xfrm>
        </p:spPr>
        <p:txBody>
          <a:bodyPr/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073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2947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944100" y="411958"/>
            <a:ext cx="3086100" cy="87772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11958"/>
            <a:ext cx="9029700" cy="87772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07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11957"/>
            <a:ext cx="12344400" cy="1714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400301"/>
            <a:ext cx="12344400" cy="6788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9534526"/>
            <a:ext cx="32004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86300" y="9534526"/>
            <a:ext cx="43434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9534526"/>
            <a:ext cx="32004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1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14350" indent="-514350" algn="l" defTabSz="685800" rtl="0" eaLnBrk="1" latinLnBrk="0" hangingPunct="1">
        <a:spcBef>
          <a:spcPct val="20000"/>
        </a:spcBef>
        <a:buFont typeface="Arial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1114425" indent="-428625" algn="l" defTabSz="685800" rtl="0" eaLnBrk="1" latinLnBrk="0" hangingPunct="1">
        <a:spcBef>
          <a:spcPct val="20000"/>
        </a:spcBef>
        <a:buFont typeface="Arial"/>
        <a:buChar char="–"/>
        <a:defRPr sz="4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685800" rtl="0" eaLnBrk="1" latinLnBrk="0" hangingPunct="1">
        <a:spcBef>
          <a:spcPct val="20000"/>
        </a:spcBef>
        <a:buFont typeface="Arial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685800" rtl="0" eaLnBrk="1" latinLnBrk="0" hangingPunct="1">
        <a:spcBef>
          <a:spcPct val="20000"/>
        </a:spcBef>
        <a:buFont typeface="Arial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685800" rtl="0" eaLnBrk="1" latinLnBrk="0" hangingPunct="1">
        <a:spcBef>
          <a:spcPct val="20000"/>
        </a:spcBef>
        <a:buFont typeface="Arial"/>
        <a:buChar char="»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685800" rtl="0" eaLnBrk="1" latinLnBrk="0" hangingPunct="1">
        <a:spcBef>
          <a:spcPct val="20000"/>
        </a:spcBef>
        <a:buFont typeface="Arial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685800" rtl="0" eaLnBrk="1" latinLnBrk="0" hangingPunct="1">
        <a:spcBef>
          <a:spcPct val="20000"/>
        </a:spcBef>
        <a:buFont typeface="Arial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685800" rtl="0" eaLnBrk="1" latinLnBrk="0" hangingPunct="1">
        <a:spcBef>
          <a:spcPct val="20000"/>
        </a:spcBef>
        <a:buFont typeface="Arial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685800" rtl="0" eaLnBrk="1" latinLnBrk="0" hangingPunct="1">
        <a:spcBef>
          <a:spcPct val="20000"/>
        </a:spcBef>
        <a:buFont typeface="Arial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5.svg"/><Relationship Id="rId7" Type="http://schemas.openxmlformats.org/officeDocument/2006/relationships/image" Target="../media/image2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3id.org/FAIR-course-UT/2026/group09/data-original" TargetMode="External"/><Relationship Id="rId5" Type="http://schemas.openxmlformats.org/officeDocument/2006/relationships/hyperlink" Target="https://w3id.org/FAIR-course-UT/2026/group09/data" TargetMode="External"/><Relationship Id="rId4" Type="http://schemas.openxmlformats.org/officeDocument/2006/relationships/hyperlink" Target="https://w3id.org/FAIR-course-UT/2026/group09/ont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06453" y="550355"/>
            <a:ext cx="5403124" cy="4106374"/>
          </a:xfrm>
          <a:custGeom>
            <a:avLst/>
            <a:gdLst/>
            <a:ahLst/>
            <a:cxnLst/>
            <a:rect l="l" t="t" r="r" b="b"/>
            <a:pathLst>
              <a:path w="5403124" h="4106374">
                <a:moveTo>
                  <a:pt x="0" y="0"/>
                </a:moveTo>
                <a:lnTo>
                  <a:pt x="5403123" y="0"/>
                </a:lnTo>
                <a:lnTo>
                  <a:pt x="5403123" y="4106374"/>
                </a:lnTo>
                <a:lnTo>
                  <a:pt x="0" y="41063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/>
          </a:p>
        </p:txBody>
      </p:sp>
      <p:sp>
        <p:nvSpPr>
          <p:cNvPr id="3" name="Freeform 3"/>
          <p:cNvSpPr/>
          <p:nvPr/>
        </p:nvSpPr>
        <p:spPr>
          <a:xfrm>
            <a:off x="12196704" y="541929"/>
            <a:ext cx="5414211" cy="4114800"/>
          </a:xfrm>
          <a:custGeom>
            <a:avLst/>
            <a:gdLst/>
            <a:ahLst/>
            <a:cxnLst/>
            <a:rect l="l" t="t" r="r" b="b"/>
            <a:pathLst>
              <a:path w="5414211" h="4114800">
                <a:moveTo>
                  <a:pt x="0" y="0"/>
                </a:moveTo>
                <a:lnTo>
                  <a:pt x="5414210" y="0"/>
                </a:lnTo>
                <a:lnTo>
                  <a:pt x="54142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 dirty="0"/>
          </a:p>
        </p:txBody>
      </p:sp>
      <p:grpSp>
        <p:nvGrpSpPr>
          <p:cNvPr id="4" name="Group 4"/>
          <p:cNvGrpSpPr/>
          <p:nvPr/>
        </p:nvGrpSpPr>
        <p:grpSpPr>
          <a:xfrm>
            <a:off x="1507139" y="4374926"/>
            <a:ext cx="15273723" cy="3960625"/>
            <a:chOff x="0" y="0"/>
            <a:chExt cx="4022709" cy="1043128"/>
          </a:xfrm>
          <a:effectLst>
            <a:outerShdw blurRad="63500" sx="101000" sy="101000" algn="ctr" rotWithShape="0">
              <a:prstClr val="black">
                <a:alpha val="60000"/>
              </a:prstClr>
            </a:outerShdw>
          </a:effectLst>
        </p:grpSpPr>
        <p:sp>
          <p:nvSpPr>
            <p:cNvPr id="5" name="Freeform 5"/>
            <p:cNvSpPr/>
            <p:nvPr/>
          </p:nvSpPr>
          <p:spPr>
            <a:xfrm>
              <a:off x="0" y="0"/>
              <a:ext cx="4022709" cy="1043128"/>
            </a:xfrm>
            <a:custGeom>
              <a:avLst/>
              <a:gdLst/>
              <a:ahLst/>
              <a:cxnLst/>
              <a:rect l="l" t="t" r="r" b="b"/>
              <a:pathLst>
                <a:path w="4022709" h="1043128">
                  <a:moveTo>
                    <a:pt x="25851" y="0"/>
                  </a:moveTo>
                  <a:lnTo>
                    <a:pt x="3996858" y="0"/>
                  </a:lnTo>
                  <a:cubicBezTo>
                    <a:pt x="4003715" y="0"/>
                    <a:pt x="4010290" y="2724"/>
                    <a:pt x="4015137" y="7572"/>
                  </a:cubicBezTo>
                  <a:cubicBezTo>
                    <a:pt x="4019986" y="12419"/>
                    <a:pt x="4022709" y="18995"/>
                    <a:pt x="4022709" y="25851"/>
                  </a:cubicBezTo>
                  <a:lnTo>
                    <a:pt x="4022709" y="1017277"/>
                  </a:lnTo>
                  <a:cubicBezTo>
                    <a:pt x="4022709" y="1031554"/>
                    <a:pt x="4011135" y="1043128"/>
                    <a:pt x="3996858" y="1043128"/>
                  </a:cubicBezTo>
                  <a:lnTo>
                    <a:pt x="25851" y="1043128"/>
                  </a:lnTo>
                  <a:cubicBezTo>
                    <a:pt x="18995" y="1043128"/>
                    <a:pt x="12419" y="1040404"/>
                    <a:pt x="7572" y="1035556"/>
                  </a:cubicBezTo>
                  <a:cubicBezTo>
                    <a:pt x="2724" y="1030708"/>
                    <a:pt x="0" y="1024133"/>
                    <a:pt x="0" y="1017277"/>
                  </a:cubicBezTo>
                  <a:lnTo>
                    <a:pt x="0" y="25851"/>
                  </a:lnTo>
                  <a:cubicBezTo>
                    <a:pt x="0" y="18995"/>
                    <a:pt x="2724" y="12419"/>
                    <a:pt x="7572" y="7572"/>
                  </a:cubicBezTo>
                  <a:cubicBezTo>
                    <a:pt x="12419" y="2724"/>
                    <a:pt x="18995" y="0"/>
                    <a:pt x="25851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022709" cy="10812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504489" y="1990185"/>
            <a:ext cx="11279021" cy="2837255"/>
            <a:chOff x="0" y="0"/>
            <a:chExt cx="2970606" cy="747260"/>
          </a:xfrm>
          <a:effectLst>
            <a:outerShdw blurRad="63500" sx="101000" sy="101000" algn="ctr" rotWithShape="0">
              <a:prstClr val="black">
                <a:alpha val="60000"/>
              </a:prstClr>
            </a:outerShdw>
          </a:effectLst>
        </p:grpSpPr>
        <p:sp>
          <p:nvSpPr>
            <p:cNvPr id="9" name="Freeform 9"/>
            <p:cNvSpPr/>
            <p:nvPr/>
          </p:nvSpPr>
          <p:spPr>
            <a:xfrm>
              <a:off x="0" y="0"/>
              <a:ext cx="2970606" cy="747260"/>
            </a:xfrm>
            <a:custGeom>
              <a:avLst/>
              <a:gdLst/>
              <a:ahLst/>
              <a:cxnLst/>
              <a:rect l="l" t="t" r="r" b="b"/>
              <a:pathLst>
                <a:path w="2970606" h="747260">
                  <a:moveTo>
                    <a:pt x="35006" y="0"/>
                  </a:moveTo>
                  <a:lnTo>
                    <a:pt x="2935600" y="0"/>
                  </a:lnTo>
                  <a:cubicBezTo>
                    <a:pt x="2954934" y="0"/>
                    <a:pt x="2970606" y="15673"/>
                    <a:pt x="2970606" y="35006"/>
                  </a:cubicBezTo>
                  <a:lnTo>
                    <a:pt x="2970606" y="712254"/>
                  </a:lnTo>
                  <a:cubicBezTo>
                    <a:pt x="2970606" y="731588"/>
                    <a:pt x="2954934" y="747260"/>
                    <a:pt x="2935600" y="747260"/>
                  </a:cubicBezTo>
                  <a:lnTo>
                    <a:pt x="35006" y="747260"/>
                  </a:lnTo>
                  <a:cubicBezTo>
                    <a:pt x="15673" y="747260"/>
                    <a:pt x="0" y="731588"/>
                    <a:pt x="0" y="712254"/>
                  </a:cubicBezTo>
                  <a:lnTo>
                    <a:pt x="0" y="35006"/>
                  </a:lnTo>
                  <a:cubicBezTo>
                    <a:pt x="0" y="15673"/>
                    <a:pt x="15673" y="0"/>
                    <a:pt x="35006" y="0"/>
                  </a:cubicBezTo>
                  <a:close/>
                </a:path>
              </a:pathLst>
            </a:custGeom>
            <a:solidFill>
              <a:srgbClr val="FFFFFF"/>
            </a:solidFill>
            <a:effectLst>
              <a:outerShdw blurRad="50800" dist="50800" dir="5400000" algn="ctr" rotWithShape="0">
                <a:schemeClr val="tx1">
                  <a:alpha val="50000"/>
                </a:schemeClr>
              </a:outerShdw>
            </a:effectLst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970606" cy="7853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139262" y="2430425"/>
            <a:ext cx="10158385" cy="1987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33"/>
              </a:lnSpc>
            </a:pPr>
            <a:r>
              <a:rPr lang="en-US" sz="5400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FAIRIFICATION OF PREMIER LEAGUE DATA</a:t>
            </a:r>
          </a:p>
        </p:txBody>
      </p:sp>
      <p:sp>
        <p:nvSpPr>
          <p:cNvPr id="13" name="Freeform 13"/>
          <p:cNvSpPr/>
          <p:nvPr/>
        </p:nvSpPr>
        <p:spPr>
          <a:xfrm>
            <a:off x="7950515" y="7712987"/>
            <a:ext cx="2386971" cy="2386649"/>
          </a:xfrm>
          <a:custGeom>
            <a:avLst/>
            <a:gdLst/>
            <a:ahLst/>
            <a:cxnLst/>
            <a:rect l="l" t="t" r="r" b="b"/>
            <a:pathLst>
              <a:path w="1619589" h="1789601">
                <a:moveTo>
                  <a:pt x="0" y="0"/>
                </a:moveTo>
                <a:lnTo>
                  <a:pt x="1619589" y="0"/>
                </a:lnTo>
                <a:lnTo>
                  <a:pt x="1619589" y="1789601"/>
                </a:lnTo>
                <a:lnTo>
                  <a:pt x="0" y="17896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algn="ctr"/>
            <a:endParaRPr lang="el-GR" dirty="0"/>
          </a:p>
        </p:txBody>
      </p:sp>
      <p:sp>
        <p:nvSpPr>
          <p:cNvPr id="14" name="TextBox 14"/>
          <p:cNvSpPr txBox="1"/>
          <p:nvPr/>
        </p:nvSpPr>
        <p:spPr>
          <a:xfrm>
            <a:off x="2268785" y="5227490"/>
            <a:ext cx="13750429" cy="607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19"/>
              </a:lnSpc>
            </a:pPr>
            <a:r>
              <a:rPr lang="en-US" sz="3657" b="1" dirty="0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PLAYER STATISTICS FOR 2024-2025 SEASON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73271" y="6288564"/>
            <a:ext cx="8341459" cy="10323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7"/>
              </a:lnSpc>
            </a:pPr>
            <a:r>
              <a:rPr lang="en-US" sz="28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Group 9:</a:t>
            </a:r>
          </a:p>
          <a:p>
            <a:pPr algn="ctr">
              <a:lnSpc>
                <a:spcPts val="4177"/>
              </a:lnSpc>
            </a:pPr>
            <a:r>
              <a:rPr lang="en-US" sz="28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Giorgos Oratis &amp; Nefeli </a:t>
            </a:r>
            <a:r>
              <a:rPr lang="en-US" sz="2800" dirty="0" err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Kantouna</a:t>
            </a:r>
            <a:endParaRPr lang="en-US" sz="28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9" name="Graphic 18" descr="Football Goal with solid fill">
            <a:extLst>
              <a:ext uri="{FF2B5EF4-FFF2-40B4-BE49-F238E27FC236}">
                <a16:creationId xmlns:a16="http://schemas.microsoft.com/office/drawing/2014/main" id="{FB4300D0-A3A1-CF13-0C25-91DC05F353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418283" y="2803301"/>
            <a:ext cx="914400" cy="914400"/>
          </a:xfrm>
          <a:prstGeom prst="rect">
            <a:avLst/>
          </a:prstGeom>
        </p:spPr>
      </p:pic>
      <p:pic>
        <p:nvPicPr>
          <p:cNvPr id="20" name="Picture 19" descr="Premier League Logo PNG, SVG - High Resolution &amp; Vector">
            <a:extLst>
              <a:ext uri="{FF2B5EF4-FFF2-40B4-BE49-F238E27FC236}">
                <a16:creationId xmlns:a16="http://schemas.microsoft.com/office/drawing/2014/main" id="{0B160A96-FF49-D49C-DE17-A6AC4C4D7FE1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75000"/>
          </a:blip>
          <a:stretch>
            <a:fillRect/>
          </a:stretch>
        </p:blipFill>
        <p:spPr>
          <a:xfrm>
            <a:off x="1235593" y="2324100"/>
            <a:ext cx="1981327" cy="19813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4621784" y="2188035"/>
            <a:ext cx="12926313" cy="7317708"/>
            <a:chOff x="0" y="0"/>
            <a:chExt cx="3404461" cy="192729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404461" cy="1927297"/>
            </a:xfrm>
            <a:custGeom>
              <a:avLst/>
              <a:gdLst/>
              <a:ahLst/>
              <a:cxnLst/>
              <a:rect l="l" t="t" r="r" b="b"/>
              <a:pathLst>
                <a:path w="3404461" h="1927297">
                  <a:moveTo>
                    <a:pt x="30545" y="0"/>
                  </a:moveTo>
                  <a:lnTo>
                    <a:pt x="3373916" y="0"/>
                  </a:lnTo>
                  <a:cubicBezTo>
                    <a:pt x="3390786" y="0"/>
                    <a:pt x="3404461" y="13676"/>
                    <a:pt x="3404461" y="30545"/>
                  </a:cubicBezTo>
                  <a:lnTo>
                    <a:pt x="3404461" y="1896752"/>
                  </a:lnTo>
                  <a:cubicBezTo>
                    <a:pt x="3404461" y="1913622"/>
                    <a:pt x="3390786" y="1927297"/>
                    <a:pt x="3373916" y="1927297"/>
                  </a:cubicBezTo>
                  <a:lnTo>
                    <a:pt x="30545" y="1927297"/>
                  </a:lnTo>
                  <a:cubicBezTo>
                    <a:pt x="13676" y="1927297"/>
                    <a:pt x="0" y="1913622"/>
                    <a:pt x="0" y="1896752"/>
                  </a:cubicBezTo>
                  <a:lnTo>
                    <a:pt x="0" y="30545"/>
                  </a:lnTo>
                  <a:cubicBezTo>
                    <a:pt x="0" y="13676"/>
                    <a:pt x="13676" y="0"/>
                    <a:pt x="30545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404461" cy="19653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69216" y="5846889"/>
            <a:ext cx="16756311" cy="3086100"/>
            <a:chOff x="0" y="0"/>
            <a:chExt cx="4413185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413185" cy="812800"/>
            </a:xfrm>
            <a:custGeom>
              <a:avLst/>
              <a:gdLst/>
              <a:ahLst/>
              <a:cxnLst/>
              <a:rect l="l" t="t" r="r" b="b"/>
              <a:pathLst>
                <a:path w="4413185" h="812800">
                  <a:moveTo>
                    <a:pt x="12475" y="0"/>
                  </a:moveTo>
                  <a:lnTo>
                    <a:pt x="4400710" y="0"/>
                  </a:lnTo>
                  <a:cubicBezTo>
                    <a:pt x="4404019" y="0"/>
                    <a:pt x="4407191" y="1314"/>
                    <a:pt x="4409531" y="3654"/>
                  </a:cubicBezTo>
                  <a:cubicBezTo>
                    <a:pt x="4411871" y="5993"/>
                    <a:pt x="4413185" y="9166"/>
                    <a:pt x="4413185" y="12475"/>
                  </a:cubicBezTo>
                  <a:lnTo>
                    <a:pt x="4413185" y="800325"/>
                  </a:lnTo>
                  <a:cubicBezTo>
                    <a:pt x="4413185" y="803634"/>
                    <a:pt x="4411871" y="806807"/>
                    <a:pt x="4409531" y="809146"/>
                  </a:cubicBezTo>
                  <a:cubicBezTo>
                    <a:pt x="4407191" y="811486"/>
                    <a:pt x="4404019" y="812800"/>
                    <a:pt x="4400710" y="812800"/>
                  </a:cubicBezTo>
                  <a:lnTo>
                    <a:pt x="12475" y="812800"/>
                  </a:lnTo>
                  <a:cubicBezTo>
                    <a:pt x="9166" y="812800"/>
                    <a:pt x="5993" y="811486"/>
                    <a:pt x="3654" y="809146"/>
                  </a:cubicBezTo>
                  <a:cubicBezTo>
                    <a:pt x="1314" y="806807"/>
                    <a:pt x="0" y="803634"/>
                    <a:pt x="0" y="800325"/>
                  </a:cubicBezTo>
                  <a:lnTo>
                    <a:pt x="0" y="12475"/>
                  </a:lnTo>
                  <a:cubicBezTo>
                    <a:pt x="0" y="9166"/>
                    <a:pt x="1314" y="5993"/>
                    <a:pt x="3654" y="3654"/>
                  </a:cubicBezTo>
                  <a:cubicBezTo>
                    <a:pt x="5993" y="1314"/>
                    <a:pt x="9166" y="0"/>
                    <a:pt x="1247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413185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6412218" y="933450"/>
            <a:ext cx="10466789" cy="72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687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Dataset Overview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100947" y="2186644"/>
            <a:ext cx="10596813" cy="3806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Roboto"/>
                <a:ea typeface="Roboto"/>
                <a:cs typeface="Roboto"/>
                <a:sym typeface="Roboto"/>
              </a:rPr>
              <a:t>Name: </a:t>
            </a:r>
            <a:r>
              <a:rPr lang="en-US" sz="2800" dirty="0">
                <a:latin typeface="Roboto"/>
                <a:ea typeface="Roboto"/>
                <a:cs typeface="Roboto"/>
                <a:sym typeface="Roboto"/>
              </a:rPr>
              <a:t>Premier League Data from 2016 to 2025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Roboto"/>
                <a:ea typeface="Roboto"/>
                <a:cs typeface="Roboto"/>
                <a:sym typeface="Roboto"/>
              </a:rPr>
              <a:t>Source: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Kaggle</a:t>
            </a: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Records: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1116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Original coverage: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Multiple seasons (2016–2025)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Original content: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Club performance, club statistics, player profiles, player performance metrics and home/away statistics.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l-GR" sz="2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Original</a:t>
            </a:r>
            <a:r>
              <a:rPr lang="el-GR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format</a:t>
            </a:r>
            <a:r>
              <a:rPr lang="el-GR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Multiple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CSV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files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endParaRPr lang="en-US" sz="2683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100947" y="6602668"/>
            <a:ext cx="10596813" cy="1429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Selected season: </a:t>
            </a:r>
            <a:r>
              <a:rPr lang="en-US" sz="2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2024–2025</a:t>
            </a:r>
          </a:p>
          <a:p>
            <a:pPr marL="457200" indent="-457200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Selected scope: </a:t>
            </a:r>
            <a:r>
              <a:rPr lang="en-US" sz="2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Player information and performance statistics </a:t>
            </a:r>
          </a:p>
          <a:p>
            <a:pPr marL="457200" indent="-457200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Selected Files: </a:t>
            </a:r>
            <a:r>
              <a:rPr lang="en-US" sz="2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Two CSV files</a:t>
            </a:r>
          </a:p>
        </p:txBody>
      </p:sp>
      <p:pic>
        <p:nvPicPr>
          <p:cNvPr id="16" name="Graphic 15" descr="Database with solid fill">
            <a:extLst>
              <a:ext uri="{FF2B5EF4-FFF2-40B4-BE49-F238E27FC236}">
                <a16:creationId xmlns:a16="http://schemas.microsoft.com/office/drawing/2014/main" id="{862E56F8-8ACC-A1FF-F5D0-15EFFA4800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9903" y="781257"/>
            <a:ext cx="4206526" cy="42065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3389420" y="432670"/>
            <a:ext cx="11509159" cy="1268008"/>
            <a:chOff x="0" y="0"/>
            <a:chExt cx="3031219" cy="33396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031219" cy="333961"/>
            </a:xfrm>
            <a:custGeom>
              <a:avLst/>
              <a:gdLst/>
              <a:ahLst/>
              <a:cxnLst/>
              <a:rect l="l" t="t" r="r" b="b"/>
              <a:pathLst>
                <a:path w="3031219" h="333961">
                  <a:moveTo>
                    <a:pt x="18162" y="0"/>
                  </a:moveTo>
                  <a:lnTo>
                    <a:pt x="3013057" y="0"/>
                  </a:lnTo>
                  <a:cubicBezTo>
                    <a:pt x="3023087" y="0"/>
                    <a:pt x="3031219" y="8132"/>
                    <a:pt x="3031219" y="18162"/>
                  </a:cubicBezTo>
                  <a:lnTo>
                    <a:pt x="3031219" y="315799"/>
                  </a:lnTo>
                  <a:cubicBezTo>
                    <a:pt x="3031219" y="325829"/>
                    <a:pt x="3023087" y="333961"/>
                    <a:pt x="3013057" y="333961"/>
                  </a:cubicBezTo>
                  <a:lnTo>
                    <a:pt x="18162" y="333961"/>
                  </a:lnTo>
                  <a:cubicBezTo>
                    <a:pt x="8132" y="333961"/>
                    <a:pt x="0" y="325829"/>
                    <a:pt x="0" y="315799"/>
                  </a:cubicBezTo>
                  <a:lnTo>
                    <a:pt x="0" y="18162"/>
                  </a:lnTo>
                  <a:cubicBezTo>
                    <a:pt x="0" y="8132"/>
                    <a:pt x="8132" y="0"/>
                    <a:pt x="18162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3031219" cy="3720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025675" y="616632"/>
            <a:ext cx="10236651" cy="805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2"/>
              </a:lnSpc>
            </a:pPr>
            <a:r>
              <a:rPr lang="en-US" sz="4800" dirty="0" err="1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FAIRification</a:t>
            </a:r>
            <a:r>
              <a:rPr lang="en-US" sz="4687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 Goals &amp; Planning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02DFD1-9CF8-2169-DE66-83B2AF8E7997}"/>
              </a:ext>
            </a:extLst>
          </p:cNvPr>
          <p:cNvGrpSpPr/>
          <p:nvPr/>
        </p:nvGrpSpPr>
        <p:grpSpPr>
          <a:xfrm>
            <a:off x="15950185" y="4441766"/>
            <a:ext cx="1260000" cy="1260000"/>
            <a:chOff x="16022184" y="4441766"/>
            <a:chExt cx="1188000" cy="1188000"/>
          </a:xfrm>
        </p:grpSpPr>
        <p:pic>
          <p:nvPicPr>
            <p:cNvPr id="17" name="Graphic 16" descr="Bullseye outline">
              <a:extLst>
                <a:ext uri="{FF2B5EF4-FFF2-40B4-BE49-F238E27FC236}">
                  <a16:creationId xmlns:a16="http://schemas.microsoft.com/office/drawing/2014/main" id="{AAB126E1-228E-A5E7-002C-11D10C5A51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58984" y="4578566"/>
              <a:ext cx="914400" cy="914400"/>
            </a:xfrm>
            <a:prstGeom prst="rect">
              <a:avLst/>
            </a:prstGeom>
          </p:spPr>
        </p:pic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FB35CCB-F085-DFEC-791A-3AC3F5113F20}"/>
                </a:ext>
              </a:extLst>
            </p:cNvPr>
            <p:cNvSpPr/>
            <p:nvPr/>
          </p:nvSpPr>
          <p:spPr>
            <a:xfrm>
              <a:off x="16022184" y="4441766"/>
              <a:ext cx="1188000" cy="118800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pic>
          <p:nvPicPr>
            <p:cNvPr id="15" name="Graphic 14" descr="Bullseye with solid fill">
              <a:extLst>
                <a:ext uri="{FF2B5EF4-FFF2-40B4-BE49-F238E27FC236}">
                  <a16:creationId xmlns:a16="http://schemas.microsoft.com/office/drawing/2014/main" id="{FE6D3516-39D5-B9F7-60E4-12FC3E36F7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158984" y="4578566"/>
              <a:ext cx="914400" cy="9144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74D5B8-F5CF-F94F-A9BC-7079920C7623}"/>
              </a:ext>
            </a:extLst>
          </p:cNvPr>
          <p:cNvGrpSpPr/>
          <p:nvPr/>
        </p:nvGrpSpPr>
        <p:grpSpPr>
          <a:xfrm>
            <a:off x="1077815" y="4441766"/>
            <a:ext cx="1260000" cy="1260000"/>
            <a:chOff x="1077815" y="4441766"/>
            <a:chExt cx="1188000" cy="1188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C1909F9-A7F6-D020-50ED-E2DAED246497}"/>
                </a:ext>
              </a:extLst>
            </p:cNvPr>
            <p:cNvSpPr/>
            <p:nvPr/>
          </p:nvSpPr>
          <p:spPr>
            <a:xfrm>
              <a:off x="1077815" y="4441766"/>
              <a:ext cx="1188000" cy="118800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pic>
          <p:nvPicPr>
            <p:cNvPr id="13" name="Graphic 12" descr="Football Goal with solid fill">
              <a:extLst>
                <a:ext uri="{FF2B5EF4-FFF2-40B4-BE49-F238E27FC236}">
                  <a16:creationId xmlns:a16="http://schemas.microsoft.com/office/drawing/2014/main" id="{817D4164-53C6-6AB6-AF8B-9761E7999D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7132" y="4551334"/>
              <a:ext cx="1049366" cy="1049366"/>
            </a:xfrm>
            <a:prstGeom prst="rect">
              <a:avLst/>
            </a:prstGeom>
          </p:spPr>
        </p:pic>
      </p:grpSp>
      <p:grpSp>
        <p:nvGrpSpPr>
          <p:cNvPr id="29" name="Group 5">
            <a:extLst>
              <a:ext uri="{FF2B5EF4-FFF2-40B4-BE49-F238E27FC236}">
                <a16:creationId xmlns:a16="http://schemas.microsoft.com/office/drawing/2014/main" id="{189A3AD0-43F0-BCAF-BF99-31FA0F342CB9}"/>
              </a:ext>
            </a:extLst>
          </p:cNvPr>
          <p:cNvGrpSpPr/>
          <p:nvPr/>
        </p:nvGrpSpPr>
        <p:grpSpPr>
          <a:xfrm>
            <a:off x="3150302" y="2448085"/>
            <a:ext cx="5341539" cy="6217179"/>
            <a:chOff x="0" y="0"/>
            <a:chExt cx="1692127" cy="1637446"/>
          </a:xfrm>
        </p:grpSpPr>
        <p:sp>
          <p:nvSpPr>
            <p:cNvPr id="30" name="Freeform 6">
              <a:extLst>
                <a:ext uri="{FF2B5EF4-FFF2-40B4-BE49-F238E27FC236}">
                  <a16:creationId xmlns:a16="http://schemas.microsoft.com/office/drawing/2014/main" id="{0C263A62-4148-1C4A-561F-97F8B443B298}"/>
                </a:ext>
              </a:extLst>
            </p:cNvPr>
            <p:cNvSpPr/>
            <p:nvPr/>
          </p:nvSpPr>
          <p:spPr>
            <a:xfrm>
              <a:off x="0" y="0"/>
              <a:ext cx="1692127" cy="1637446"/>
            </a:xfrm>
            <a:custGeom>
              <a:avLst/>
              <a:gdLst/>
              <a:ahLst/>
              <a:cxnLst/>
              <a:rect l="l" t="t" r="r" b="b"/>
              <a:pathLst>
                <a:path w="1692127" h="1637446">
                  <a:moveTo>
                    <a:pt x="25305" y="0"/>
                  </a:moveTo>
                  <a:lnTo>
                    <a:pt x="1666822" y="0"/>
                  </a:lnTo>
                  <a:cubicBezTo>
                    <a:pt x="1673533" y="0"/>
                    <a:pt x="1679969" y="2666"/>
                    <a:pt x="1684715" y="7412"/>
                  </a:cubicBezTo>
                  <a:cubicBezTo>
                    <a:pt x="1689461" y="12157"/>
                    <a:pt x="1692127" y="18594"/>
                    <a:pt x="1692127" y="25305"/>
                  </a:cubicBezTo>
                  <a:lnTo>
                    <a:pt x="1692127" y="1612141"/>
                  </a:lnTo>
                  <a:cubicBezTo>
                    <a:pt x="1692127" y="1626117"/>
                    <a:pt x="1680797" y="1637446"/>
                    <a:pt x="1666822" y="1637446"/>
                  </a:cubicBezTo>
                  <a:lnTo>
                    <a:pt x="25305" y="1637446"/>
                  </a:lnTo>
                  <a:cubicBezTo>
                    <a:pt x="18594" y="1637446"/>
                    <a:pt x="12157" y="1634780"/>
                    <a:pt x="7412" y="1630035"/>
                  </a:cubicBezTo>
                  <a:cubicBezTo>
                    <a:pt x="2666" y="1625289"/>
                    <a:pt x="0" y="1618853"/>
                    <a:pt x="0" y="1612141"/>
                  </a:cubicBezTo>
                  <a:lnTo>
                    <a:pt x="0" y="25305"/>
                  </a:lnTo>
                  <a:cubicBezTo>
                    <a:pt x="0" y="18594"/>
                    <a:pt x="2666" y="12157"/>
                    <a:pt x="7412" y="7412"/>
                  </a:cubicBezTo>
                  <a:cubicBezTo>
                    <a:pt x="12157" y="2666"/>
                    <a:pt x="18594" y="0"/>
                    <a:pt x="2530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31" name="TextBox 7">
              <a:extLst>
                <a:ext uri="{FF2B5EF4-FFF2-40B4-BE49-F238E27FC236}">
                  <a16:creationId xmlns:a16="http://schemas.microsoft.com/office/drawing/2014/main" id="{4252BCE2-FA90-0C99-8F25-BF33154C12BE}"/>
                </a:ext>
              </a:extLst>
            </p:cNvPr>
            <p:cNvSpPr txBox="1"/>
            <p:nvPr/>
          </p:nvSpPr>
          <p:spPr>
            <a:xfrm>
              <a:off x="0" y="-38100"/>
              <a:ext cx="1692127" cy="16755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15">
            <a:extLst>
              <a:ext uri="{FF2B5EF4-FFF2-40B4-BE49-F238E27FC236}">
                <a16:creationId xmlns:a16="http://schemas.microsoft.com/office/drawing/2014/main" id="{C4390217-ADFC-8638-C583-9ED86AAF5C47}"/>
              </a:ext>
            </a:extLst>
          </p:cNvPr>
          <p:cNvSpPr txBox="1"/>
          <p:nvPr/>
        </p:nvSpPr>
        <p:spPr>
          <a:xfrm>
            <a:off x="3266873" y="3032006"/>
            <a:ext cx="5108080" cy="4904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</a:pPr>
            <a:r>
              <a:rPr lang="en-US" sz="2483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1. </a:t>
            </a:r>
            <a:r>
              <a:rPr lang="en-US" sz="2483" b="1" u="sng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Data Integration: </a:t>
            </a:r>
          </a:p>
          <a:p>
            <a:pPr algn="ctr">
              <a:lnSpc>
                <a:spcPts val="3477"/>
              </a:lnSpc>
            </a:pP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Combine two CSV files into one dataset.</a:t>
            </a:r>
          </a:p>
          <a:p>
            <a:pPr algn="ctr">
              <a:lnSpc>
                <a:spcPts val="3477"/>
              </a:lnSpc>
            </a:pPr>
            <a:endParaRPr lang="en-US" sz="2483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>
              <a:lnSpc>
                <a:spcPts val="3477"/>
              </a:lnSpc>
            </a:pPr>
            <a:r>
              <a:rPr lang="en-US" sz="2483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2. </a:t>
            </a:r>
            <a:r>
              <a:rPr lang="en-US" sz="2483" b="1" u="sng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Semantic Enrichment: </a:t>
            </a:r>
          </a:p>
          <a:p>
            <a:pPr algn="ctr">
              <a:lnSpc>
                <a:spcPts val="3477"/>
              </a:lnSpc>
            </a:pP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Link relevant attributes to external entities.</a:t>
            </a:r>
          </a:p>
          <a:p>
            <a:pPr algn="ctr">
              <a:lnSpc>
                <a:spcPts val="3477"/>
              </a:lnSpc>
            </a:pPr>
            <a:endParaRPr lang="en-US" sz="2483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>
              <a:lnSpc>
                <a:spcPts val="3477"/>
              </a:lnSpc>
            </a:pPr>
            <a:r>
              <a:rPr lang="en-US" sz="2483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lang="en-US" sz="2483" b="1" u="sng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RDF Transformation: </a:t>
            </a:r>
          </a:p>
          <a:p>
            <a:pPr algn="ctr">
              <a:lnSpc>
                <a:spcPts val="3477"/>
              </a:lnSpc>
            </a:pP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Convert the dataset into a machine-readable semantic format.</a:t>
            </a:r>
          </a:p>
        </p:txBody>
      </p:sp>
      <p:grpSp>
        <p:nvGrpSpPr>
          <p:cNvPr id="33" name="Group 5">
            <a:extLst>
              <a:ext uri="{FF2B5EF4-FFF2-40B4-BE49-F238E27FC236}">
                <a16:creationId xmlns:a16="http://schemas.microsoft.com/office/drawing/2014/main" id="{C462CD1C-AB55-EEF8-FA58-AC57FD3B2D2B}"/>
              </a:ext>
            </a:extLst>
          </p:cNvPr>
          <p:cNvGrpSpPr/>
          <p:nvPr/>
        </p:nvGrpSpPr>
        <p:grpSpPr>
          <a:xfrm>
            <a:off x="9796157" y="2440465"/>
            <a:ext cx="5341540" cy="6217179"/>
            <a:chOff x="0" y="0"/>
            <a:chExt cx="1692127" cy="1637446"/>
          </a:xfrm>
        </p:grpSpPr>
        <p:sp>
          <p:nvSpPr>
            <p:cNvPr id="34" name="Freeform 6">
              <a:extLst>
                <a:ext uri="{FF2B5EF4-FFF2-40B4-BE49-F238E27FC236}">
                  <a16:creationId xmlns:a16="http://schemas.microsoft.com/office/drawing/2014/main" id="{B26EF555-B8F6-78EF-A3FE-AF84A31BAD9C}"/>
                </a:ext>
              </a:extLst>
            </p:cNvPr>
            <p:cNvSpPr/>
            <p:nvPr/>
          </p:nvSpPr>
          <p:spPr>
            <a:xfrm>
              <a:off x="0" y="0"/>
              <a:ext cx="1692127" cy="1637446"/>
            </a:xfrm>
            <a:custGeom>
              <a:avLst/>
              <a:gdLst/>
              <a:ahLst/>
              <a:cxnLst/>
              <a:rect l="l" t="t" r="r" b="b"/>
              <a:pathLst>
                <a:path w="1692127" h="1637446">
                  <a:moveTo>
                    <a:pt x="25305" y="0"/>
                  </a:moveTo>
                  <a:lnTo>
                    <a:pt x="1666822" y="0"/>
                  </a:lnTo>
                  <a:cubicBezTo>
                    <a:pt x="1673533" y="0"/>
                    <a:pt x="1679969" y="2666"/>
                    <a:pt x="1684715" y="7412"/>
                  </a:cubicBezTo>
                  <a:cubicBezTo>
                    <a:pt x="1689461" y="12157"/>
                    <a:pt x="1692127" y="18594"/>
                    <a:pt x="1692127" y="25305"/>
                  </a:cubicBezTo>
                  <a:lnTo>
                    <a:pt x="1692127" y="1612141"/>
                  </a:lnTo>
                  <a:cubicBezTo>
                    <a:pt x="1692127" y="1626117"/>
                    <a:pt x="1680797" y="1637446"/>
                    <a:pt x="1666822" y="1637446"/>
                  </a:cubicBezTo>
                  <a:lnTo>
                    <a:pt x="25305" y="1637446"/>
                  </a:lnTo>
                  <a:cubicBezTo>
                    <a:pt x="18594" y="1637446"/>
                    <a:pt x="12157" y="1634780"/>
                    <a:pt x="7412" y="1630035"/>
                  </a:cubicBezTo>
                  <a:cubicBezTo>
                    <a:pt x="2666" y="1625289"/>
                    <a:pt x="0" y="1618853"/>
                    <a:pt x="0" y="1612141"/>
                  </a:cubicBezTo>
                  <a:lnTo>
                    <a:pt x="0" y="25305"/>
                  </a:lnTo>
                  <a:cubicBezTo>
                    <a:pt x="0" y="18594"/>
                    <a:pt x="2666" y="12157"/>
                    <a:pt x="7412" y="7412"/>
                  </a:cubicBezTo>
                  <a:cubicBezTo>
                    <a:pt x="12157" y="2666"/>
                    <a:pt x="18594" y="0"/>
                    <a:pt x="2530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35" name="TextBox 7">
              <a:extLst>
                <a:ext uri="{FF2B5EF4-FFF2-40B4-BE49-F238E27FC236}">
                  <a16:creationId xmlns:a16="http://schemas.microsoft.com/office/drawing/2014/main" id="{4C95279E-C81F-DA0B-AD85-B738A29A4888}"/>
                </a:ext>
              </a:extLst>
            </p:cNvPr>
            <p:cNvSpPr txBox="1"/>
            <p:nvPr/>
          </p:nvSpPr>
          <p:spPr>
            <a:xfrm>
              <a:off x="0" y="-38100"/>
              <a:ext cx="1692127" cy="16755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TextBox 15">
            <a:extLst>
              <a:ext uri="{FF2B5EF4-FFF2-40B4-BE49-F238E27FC236}">
                <a16:creationId xmlns:a16="http://schemas.microsoft.com/office/drawing/2014/main" id="{03E3945C-325D-9CCE-A54F-42BA129BCDB5}"/>
              </a:ext>
            </a:extLst>
          </p:cNvPr>
          <p:cNvSpPr txBox="1"/>
          <p:nvPr/>
        </p:nvSpPr>
        <p:spPr>
          <a:xfrm>
            <a:off x="9912727" y="3032006"/>
            <a:ext cx="5108400" cy="4904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</a:pPr>
            <a:r>
              <a:rPr lang="en-US" sz="2483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lang="en-US" sz="2483" b="1" u="sng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Findability: </a:t>
            </a:r>
          </a:p>
          <a:p>
            <a:pPr algn="ctr">
              <a:lnSpc>
                <a:spcPts val="3477"/>
              </a:lnSpc>
            </a:pP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Provide descriptive metadata and persistent identifiers.</a:t>
            </a:r>
          </a:p>
          <a:p>
            <a:pPr algn="ctr">
              <a:lnSpc>
                <a:spcPts val="3477"/>
              </a:lnSpc>
            </a:pPr>
            <a:endParaRPr lang="en-US" sz="2483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>
              <a:lnSpc>
                <a:spcPts val="3477"/>
              </a:lnSpc>
            </a:pPr>
            <a:r>
              <a:rPr lang="en-US" sz="2483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5. </a:t>
            </a:r>
            <a:r>
              <a:rPr lang="en-US" sz="2483" b="1" u="sng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Accessibility: </a:t>
            </a:r>
          </a:p>
          <a:p>
            <a:pPr algn="ctr">
              <a:lnSpc>
                <a:spcPts val="3477"/>
              </a:lnSpc>
            </a:pP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Publish the original and </a:t>
            </a:r>
            <a:r>
              <a:rPr lang="en-US" sz="2483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FAIRified</a:t>
            </a: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resources on GitHub.</a:t>
            </a:r>
          </a:p>
          <a:p>
            <a:pPr algn="ctr">
              <a:lnSpc>
                <a:spcPts val="3477"/>
              </a:lnSpc>
            </a:pPr>
            <a:endParaRPr lang="en-US" sz="2483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>
              <a:lnSpc>
                <a:spcPts val="3477"/>
              </a:lnSpc>
            </a:pPr>
            <a:r>
              <a:rPr lang="en-US" sz="2483" b="1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6. </a:t>
            </a:r>
            <a:r>
              <a:rPr lang="en-US" sz="2483" b="1" u="sng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Metadata Description: </a:t>
            </a:r>
          </a:p>
          <a:p>
            <a:pPr algn="ctr">
              <a:lnSpc>
                <a:spcPts val="3477"/>
              </a:lnSpc>
            </a:pPr>
            <a:r>
              <a:rPr lang="en-US" sz="2483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Describe the datasets and how to access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26324-D51C-F69B-36AB-05A7DD4C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7361D651-2F48-0837-50C7-DFA07C4A68D6}"/>
              </a:ext>
            </a:extLst>
          </p:cNvPr>
          <p:cNvGrpSpPr/>
          <p:nvPr/>
        </p:nvGrpSpPr>
        <p:grpSpPr>
          <a:xfrm>
            <a:off x="5025502" y="5719500"/>
            <a:ext cx="11764001" cy="1710000"/>
            <a:chOff x="0" y="0"/>
            <a:chExt cx="3098338" cy="35246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07B9203-30F1-4822-392C-993F22CADD47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B303D3E-F9CB-A64C-577F-04077B507019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BD75F66D-A8D1-D840-4A4A-6F94A213656D}"/>
              </a:ext>
            </a:extLst>
          </p:cNvPr>
          <p:cNvGrpSpPr/>
          <p:nvPr/>
        </p:nvGrpSpPr>
        <p:grpSpPr>
          <a:xfrm>
            <a:off x="5025502" y="3881940"/>
            <a:ext cx="11764001" cy="1710000"/>
            <a:chOff x="0" y="0"/>
            <a:chExt cx="3098338" cy="35246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5ABEAD7-608D-A375-BA63-CD5174834E82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4B144DA-6ED0-F416-8570-8ADDFAC46639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503F610-FEC6-0B84-60FF-8C63B0DD6EFF}"/>
              </a:ext>
            </a:extLst>
          </p:cNvPr>
          <p:cNvGrpSpPr/>
          <p:nvPr/>
        </p:nvGrpSpPr>
        <p:grpSpPr>
          <a:xfrm>
            <a:off x="5025502" y="2070215"/>
            <a:ext cx="11764001" cy="1710000"/>
            <a:chOff x="0" y="0"/>
            <a:chExt cx="3098338" cy="35246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C139641-4F50-7570-F9B6-44F4CA1A9C8B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9504AF5-604D-E637-2D1D-472E7713B325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2FB80B4A-9C36-F690-6760-AE11DA919305}"/>
              </a:ext>
            </a:extLst>
          </p:cNvPr>
          <p:cNvGrpSpPr/>
          <p:nvPr/>
        </p:nvGrpSpPr>
        <p:grpSpPr>
          <a:xfrm>
            <a:off x="5025502" y="7549037"/>
            <a:ext cx="11764001" cy="1709263"/>
            <a:chOff x="0" y="0"/>
            <a:chExt cx="3098338" cy="352460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66495660-76A2-3BBC-9FBD-3F842CAFCD3C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DEBD686D-0E92-5AA1-FC8E-E5D306333450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2" name="TextBox 22">
            <a:extLst>
              <a:ext uri="{FF2B5EF4-FFF2-40B4-BE49-F238E27FC236}">
                <a16:creationId xmlns:a16="http://schemas.microsoft.com/office/drawing/2014/main" id="{FE6E3897-95CA-E651-6B16-F2B66F38118C}"/>
              </a:ext>
            </a:extLst>
          </p:cNvPr>
          <p:cNvSpPr txBox="1"/>
          <p:nvPr/>
        </p:nvSpPr>
        <p:spPr>
          <a:xfrm>
            <a:off x="3380677" y="723900"/>
            <a:ext cx="11526647" cy="717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1"/>
              </a:lnSpc>
            </a:pPr>
            <a:r>
              <a:rPr lang="en-US" sz="4687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Reuse Stakeholders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45DEFE2-B3CF-4422-C513-2C7CBABE2246}"/>
              </a:ext>
            </a:extLst>
          </p:cNvPr>
          <p:cNvSpPr txBox="1"/>
          <p:nvPr/>
        </p:nvSpPr>
        <p:spPr>
          <a:xfrm>
            <a:off x="6212426" y="2452053"/>
            <a:ext cx="10399174" cy="9388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3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Football Analysts &amp; Sports Statisticians:</a:t>
            </a:r>
          </a:p>
          <a:p>
            <a:pPr algn="l">
              <a:lnSpc>
                <a:spcPts val="3757"/>
              </a:lnSpc>
            </a:pPr>
            <a:r>
              <a:rPr lang="en-US" sz="2683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Compare player performance statistics for the 2024/2025 season.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85583109-A5E0-F064-CA69-1DDD7D489074}"/>
              </a:ext>
            </a:extLst>
          </p:cNvPr>
          <p:cNvSpPr txBox="1"/>
          <p:nvPr/>
        </p:nvSpPr>
        <p:spPr>
          <a:xfrm>
            <a:off x="6191344" y="4229100"/>
            <a:ext cx="9878696" cy="9510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3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Researchers &amp; University Students: </a:t>
            </a:r>
          </a:p>
          <a:p>
            <a:pPr algn="l">
              <a:lnSpc>
                <a:spcPts val="3757"/>
              </a:lnSpc>
            </a:pPr>
            <a:r>
              <a:rPr lang="en-US" sz="2683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Use the dataset for research and educational activities.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C9AB5F6-33AD-60F6-C46D-4A0C0A19DD19}"/>
              </a:ext>
            </a:extLst>
          </p:cNvPr>
          <p:cNvSpPr txBox="1"/>
          <p:nvPr/>
        </p:nvSpPr>
        <p:spPr>
          <a:xfrm>
            <a:off x="6191344" y="6097490"/>
            <a:ext cx="9878696" cy="9510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3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Football Clubs &amp; Scouting Analysts: </a:t>
            </a:r>
          </a:p>
          <a:p>
            <a:pPr algn="l">
              <a:lnSpc>
                <a:spcPts val="3757"/>
              </a:lnSpc>
            </a:pPr>
            <a:r>
              <a:rPr lang="en-US" sz="2683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Explore player statistics to support player comparisons.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1F6BD62-6EE7-C26B-9C93-1F131F03009C}"/>
              </a:ext>
            </a:extLst>
          </p:cNvPr>
          <p:cNvSpPr txBox="1"/>
          <p:nvPr/>
        </p:nvSpPr>
        <p:spPr>
          <a:xfrm>
            <a:off x="6158872" y="7661044"/>
            <a:ext cx="10399174" cy="14261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3" b="1" dirty="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Data Scientists &amp; Developers: </a:t>
            </a:r>
          </a:p>
          <a:p>
            <a:pPr algn="l">
              <a:lnSpc>
                <a:spcPts val="3757"/>
              </a:lnSpc>
            </a:pPr>
            <a:r>
              <a:rPr lang="en-US" sz="2683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 Bold"/>
              </a:rPr>
              <a:t>Integrate the dataset into analytical workflows and combine it with other football datasets.</a:t>
            </a:r>
          </a:p>
        </p:txBody>
      </p:sp>
      <p:pic>
        <p:nvPicPr>
          <p:cNvPr id="32" name="Picture 31" descr="Close-up of documents and charts">
            <a:extLst>
              <a:ext uri="{FF2B5EF4-FFF2-40B4-BE49-F238E27FC236}">
                <a16:creationId xmlns:a16="http://schemas.microsoft.com/office/drawing/2014/main" id="{672D019C-08AE-3D84-C370-490790526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19" r="42588"/>
          <a:stretch>
            <a:fillRect/>
          </a:stretch>
        </p:blipFill>
        <p:spPr>
          <a:xfrm>
            <a:off x="514256" y="2071705"/>
            <a:ext cx="4279789" cy="7189200"/>
          </a:xfrm>
          <a:prstGeom prst="roundRect">
            <a:avLst>
              <a:gd name="adj" fmla="val 6340"/>
            </a:avLst>
          </a:prstGeom>
        </p:spPr>
      </p:pic>
      <p:pic>
        <p:nvPicPr>
          <p:cNvPr id="34" name="Graphic 33" descr="Database with solid fill">
            <a:extLst>
              <a:ext uri="{FF2B5EF4-FFF2-40B4-BE49-F238E27FC236}">
                <a16:creationId xmlns:a16="http://schemas.microsoft.com/office/drawing/2014/main" id="{36242C3E-8502-5674-89FB-00FF1AABD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1223" y="7916924"/>
            <a:ext cx="914400" cy="914400"/>
          </a:xfrm>
          <a:prstGeom prst="rect">
            <a:avLst/>
          </a:prstGeom>
        </p:spPr>
      </p:pic>
      <p:pic>
        <p:nvPicPr>
          <p:cNvPr id="36" name="Graphic 35" descr="Trophy with solid fill">
            <a:extLst>
              <a:ext uri="{FF2B5EF4-FFF2-40B4-BE49-F238E27FC236}">
                <a16:creationId xmlns:a16="http://schemas.microsoft.com/office/drawing/2014/main" id="{F0B95016-E6F8-3BB5-1F9D-45E4671B6A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61216" y="6080714"/>
            <a:ext cx="914400" cy="914400"/>
          </a:xfrm>
          <a:prstGeom prst="rect">
            <a:avLst/>
          </a:prstGeom>
        </p:spPr>
      </p:pic>
      <p:pic>
        <p:nvPicPr>
          <p:cNvPr id="38" name="Graphic 37" descr="Graduation cap with solid fill">
            <a:extLst>
              <a:ext uri="{FF2B5EF4-FFF2-40B4-BE49-F238E27FC236}">
                <a16:creationId xmlns:a16="http://schemas.microsoft.com/office/drawing/2014/main" id="{80D3A7D1-C719-B538-5AFB-01EB983B77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51223" y="4280109"/>
            <a:ext cx="914400" cy="914400"/>
          </a:xfrm>
          <a:prstGeom prst="rect">
            <a:avLst/>
          </a:prstGeom>
        </p:spPr>
      </p:pic>
      <p:pic>
        <p:nvPicPr>
          <p:cNvPr id="40" name="Graphic 39" descr="Bar graph with upward trend with solid fill">
            <a:extLst>
              <a:ext uri="{FF2B5EF4-FFF2-40B4-BE49-F238E27FC236}">
                <a16:creationId xmlns:a16="http://schemas.microsoft.com/office/drawing/2014/main" id="{871AED24-8FA9-8078-97E7-C0A15BFA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61216" y="253935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256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8287543" cy="1207008"/>
          </a:xfrm>
          <a:prstGeom prst="rect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sz="2700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" y="9985248"/>
            <a:ext cx="18287543" cy="301752"/>
          </a:xfrm>
          <a:prstGeom prst="rect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sz="27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220724" y="245713"/>
            <a:ext cx="16309848" cy="8018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ts val="6562"/>
              </a:lnSpc>
              <a:defRPr sz="3100" b="1">
                <a:solidFill>
                  <a:srgbClr val="FFFFFF"/>
                </a:solidFill>
                <a:latin typeface="Arial"/>
              </a:defRPr>
            </a:pPr>
            <a:r>
              <a:rPr sz="4687" dirty="0">
                <a:solidFill>
                  <a:schemeClr val="bg1"/>
                </a:solidFill>
                <a:latin typeface="Archivo Black"/>
              </a:rPr>
              <a:t>Data Selection &amp; Preparation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086356"/>
            <a:ext cx="576072" cy="576072"/>
          </a:xfrm>
          <a:prstGeom prst="ellipse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defTabSz="685800">
              <a:defRPr sz="1500" b="1">
                <a:solidFill>
                  <a:srgbClr val="FFFFFF"/>
                </a:solidFill>
                <a:latin typeface="Arial"/>
              </a:defRPr>
            </a:pPr>
            <a:r>
              <a:rPr sz="225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92808" y="1855501"/>
            <a:ext cx="6720840" cy="1038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500" b="0">
                <a:solidFill>
                  <a:srgbClr val="0C0C0C"/>
                </a:solidFill>
                <a:latin typeface="Arial"/>
              </a:defRPr>
            </a:pPr>
            <a:r>
              <a:rPr sz="2250" dirty="0">
                <a:solidFill>
                  <a:srgbClr val="0C0C0C"/>
                </a:solidFill>
                <a:latin typeface="Arial"/>
              </a:rPr>
              <a:t>Selected two CSV files containing player</a:t>
            </a:r>
            <a:br>
              <a:rPr sz="2250" dirty="0">
                <a:solidFill>
                  <a:srgbClr val="0C0C0C"/>
                </a:solidFill>
                <a:latin typeface="Arial"/>
              </a:rPr>
            </a:br>
            <a:r>
              <a:rPr sz="2250" dirty="0">
                <a:solidFill>
                  <a:srgbClr val="0C0C0C"/>
                </a:solidFill>
                <a:latin typeface="Arial"/>
              </a:rPr>
              <a:t>information and performance statistics</a:t>
            </a:r>
            <a:r>
              <a:rPr lang="en-US" sz="2250" dirty="0">
                <a:solidFill>
                  <a:srgbClr val="0C0C0C"/>
                </a:solidFill>
                <a:latin typeface="Arial"/>
              </a:rPr>
              <a:t> from 2024/2025 season</a:t>
            </a:r>
            <a:endParaRPr sz="2250" dirty="0">
              <a:solidFill>
                <a:srgbClr val="0C0C0C"/>
              </a:solidFill>
              <a:latin typeface="Arial"/>
            </a:endParaRPr>
          </a:p>
        </p:txBody>
      </p:sp>
      <p:sp>
        <p:nvSpPr>
          <p:cNvPr id="7" name="Oval 6"/>
          <p:cNvSpPr/>
          <p:nvPr/>
        </p:nvSpPr>
        <p:spPr>
          <a:xfrm>
            <a:off x="918972" y="3612172"/>
            <a:ext cx="576072" cy="576072"/>
          </a:xfrm>
          <a:prstGeom prst="ellipse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defTabSz="685800">
              <a:defRPr sz="1500" b="1">
                <a:solidFill>
                  <a:srgbClr val="FFFFFF"/>
                </a:solidFill>
                <a:latin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918972" y="5144097"/>
            <a:ext cx="576072" cy="576072"/>
          </a:xfrm>
          <a:prstGeom prst="ellipse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defTabSz="685800">
              <a:defRPr sz="1500" b="1">
                <a:solidFill>
                  <a:srgbClr val="FFFFFF"/>
                </a:solidFill>
                <a:latin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7568" y="3425952"/>
            <a:ext cx="6720840" cy="10387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500" b="0">
                <a:solidFill>
                  <a:srgbClr val="0C0C0C"/>
                </a:solidFill>
                <a:latin typeface="Arial"/>
              </a:defRPr>
            </a:pPr>
            <a:r>
              <a:rPr lang="en-US" sz="2250" dirty="0">
                <a:solidFill>
                  <a:srgbClr val="0C0C0C"/>
                </a:solidFill>
                <a:latin typeface="Arial"/>
              </a:rPr>
              <a:t>Removed columns to focus on 10 relevant properties, following the course recommendation to select a manageable dataset for </a:t>
            </a:r>
            <a:r>
              <a:rPr lang="en-US" sz="2250" dirty="0" err="1">
                <a:solidFill>
                  <a:srgbClr val="0C0C0C"/>
                </a:solidFill>
                <a:latin typeface="Arial"/>
              </a:rPr>
              <a:t>FAIRification</a:t>
            </a:r>
            <a:r>
              <a:rPr lang="en-US" sz="2250" dirty="0">
                <a:solidFill>
                  <a:srgbClr val="0C0C0C"/>
                </a:solidFill>
                <a:latin typeface="Arial"/>
              </a:rPr>
              <a:t>.</a:t>
            </a:r>
            <a:endParaRPr sz="2250" dirty="0">
              <a:solidFill>
                <a:srgbClr val="0C0C0C"/>
              </a:solidFill>
              <a:latin typeface="Arial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918972" y="6676023"/>
            <a:ext cx="576072" cy="576072"/>
          </a:xfrm>
          <a:prstGeom prst="ellipse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defTabSz="685800">
              <a:defRPr sz="1500" b="1">
                <a:solidFill>
                  <a:srgbClr val="FFFFFF"/>
                </a:solidFill>
                <a:latin typeface="Arial"/>
              </a:defRPr>
            </a:pPr>
            <a:r>
              <a:rPr sz="2250" b="1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8" y="5258411"/>
            <a:ext cx="672084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500" b="0">
                <a:solidFill>
                  <a:srgbClr val="0C0C0C"/>
                </a:solidFill>
                <a:latin typeface="Arial"/>
              </a:defRPr>
            </a:pPr>
            <a:r>
              <a:rPr sz="2250" dirty="0">
                <a:solidFill>
                  <a:srgbClr val="0C0C0C"/>
                </a:solidFill>
                <a:latin typeface="Arial"/>
              </a:rPr>
              <a:t>Merged the selected data into one CSV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18972" y="8202168"/>
            <a:ext cx="576072" cy="576072"/>
          </a:xfrm>
          <a:prstGeom prst="ellipse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defTabSz="685800">
              <a:defRPr sz="1500" b="1">
                <a:solidFill>
                  <a:srgbClr val="FFFFFF"/>
                </a:solidFill>
                <a:latin typeface="Arial"/>
              </a:defRPr>
            </a:pPr>
            <a:r>
              <a:rPr sz="2250" b="1" dirty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6790934"/>
            <a:ext cx="6720840" cy="346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500" b="0">
                <a:solidFill>
                  <a:srgbClr val="0C0C0C"/>
                </a:solidFill>
                <a:latin typeface="Arial"/>
              </a:defRPr>
            </a:pPr>
            <a:r>
              <a:rPr sz="2250" dirty="0">
                <a:solidFill>
                  <a:srgbClr val="0C0C0C"/>
                </a:solidFill>
                <a:latin typeface="Arial"/>
              </a:rPr>
              <a:t>Cleaned and prepared the resulting dataset.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8" y="8143955"/>
            <a:ext cx="6720840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500" b="0">
                <a:solidFill>
                  <a:srgbClr val="0C0C0C"/>
                </a:solidFill>
                <a:latin typeface="Arial"/>
              </a:defRPr>
            </a:pPr>
            <a:r>
              <a:rPr sz="2250" dirty="0">
                <a:solidFill>
                  <a:srgbClr val="0C0C0C"/>
                </a:solidFill>
                <a:latin typeface="Arial"/>
              </a:rPr>
              <a:t>Used </a:t>
            </a:r>
            <a:r>
              <a:rPr sz="2250" dirty="0" err="1">
                <a:solidFill>
                  <a:srgbClr val="0C0C0C"/>
                </a:solidFill>
                <a:latin typeface="Arial"/>
              </a:rPr>
              <a:t>OpenRefine</a:t>
            </a:r>
            <a:r>
              <a:rPr sz="2250" dirty="0">
                <a:solidFill>
                  <a:srgbClr val="0C0C0C"/>
                </a:solidFill>
                <a:latin typeface="Arial"/>
              </a:rPr>
              <a:t> to reconcile relevant</a:t>
            </a:r>
            <a:br>
              <a:rPr sz="2250" dirty="0">
                <a:solidFill>
                  <a:srgbClr val="0C0C0C"/>
                </a:solidFill>
                <a:latin typeface="Arial"/>
              </a:rPr>
            </a:br>
            <a:r>
              <a:rPr sz="2250" dirty="0">
                <a:solidFill>
                  <a:srgbClr val="0C0C0C"/>
                </a:solidFill>
                <a:latin typeface="Arial"/>
              </a:rPr>
              <a:t>entities with </a:t>
            </a:r>
            <a:r>
              <a:rPr sz="2250" dirty="0" err="1">
                <a:solidFill>
                  <a:srgbClr val="0C0C0C"/>
                </a:solidFill>
                <a:latin typeface="Arial"/>
              </a:rPr>
              <a:t>Wikidata</a:t>
            </a:r>
            <a:r>
              <a:rPr sz="2250" dirty="0">
                <a:solidFill>
                  <a:srgbClr val="0C0C0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60408" y="1803654"/>
            <a:ext cx="8023860" cy="1440180"/>
          </a:xfrm>
          <a:prstGeom prst="roundRect">
            <a:avLst/>
          </a:prstGeom>
          <a:solidFill>
            <a:srgbClr val="EE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sz="27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225784" y="1968246"/>
            <a:ext cx="576072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600" b="1">
                <a:solidFill>
                  <a:srgbClr val="0C0C0C"/>
                </a:solidFill>
                <a:latin typeface="Arial"/>
              </a:defRPr>
            </a:pPr>
            <a:r>
              <a:rPr sz="2400" b="1">
                <a:solidFill>
                  <a:srgbClr val="0C0C0C"/>
                </a:solidFill>
                <a:latin typeface="Arial"/>
              </a:rPr>
              <a:t>Two original CSV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25784" y="2434591"/>
            <a:ext cx="5829300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100" b="0">
                <a:solidFill>
                  <a:srgbClr val="0C0C0C"/>
                </a:solidFill>
                <a:latin typeface="Arial"/>
              </a:defRPr>
            </a:pPr>
            <a:r>
              <a:rPr sz="1650" dirty="0">
                <a:solidFill>
                  <a:srgbClr val="0C0C0C"/>
                </a:solidFill>
                <a:latin typeface="Arial"/>
              </a:rPr>
              <a:t>Player information + performance statistics</a:t>
            </a:r>
            <a:br>
              <a:rPr sz="1650" dirty="0">
                <a:solidFill>
                  <a:srgbClr val="0C0C0C"/>
                </a:solidFill>
                <a:latin typeface="Arial"/>
              </a:rPr>
            </a:br>
            <a:r>
              <a:rPr sz="1650" dirty="0">
                <a:solidFill>
                  <a:srgbClr val="0C0C0C"/>
                </a:solidFill>
                <a:latin typeface="Arial"/>
              </a:rPr>
              <a:t>(2024/2025 season)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60408" y="3847338"/>
            <a:ext cx="8023860" cy="1440180"/>
          </a:xfrm>
          <a:prstGeom prst="roundRect">
            <a:avLst/>
          </a:prstGeom>
          <a:solidFill>
            <a:srgbClr val="EE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sz="27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225784" y="4011930"/>
            <a:ext cx="576072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600" b="1">
                <a:solidFill>
                  <a:srgbClr val="0C0C0C"/>
                </a:solidFill>
                <a:latin typeface="Arial"/>
              </a:defRPr>
            </a:pPr>
            <a:r>
              <a:rPr sz="2400" b="1">
                <a:solidFill>
                  <a:srgbClr val="0C0C0C"/>
                </a:solidFill>
                <a:latin typeface="Arial"/>
              </a:rPr>
              <a:t>Select columns and merge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25784" y="4478275"/>
            <a:ext cx="5829300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100" b="0">
                <a:solidFill>
                  <a:srgbClr val="0C0C0C"/>
                </a:solidFill>
                <a:latin typeface="Arial"/>
              </a:defRPr>
            </a:pPr>
            <a:r>
              <a:rPr sz="1650" dirty="0">
                <a:solidFill>
                  <a:srgbClr val="0C0C0C"/>
                </a:solidFill>
                <a:latin typeface="Arial"/>
              </a:rPr>
              <a:t>Remove </a:t>
            </a:r>
            <a:r>
              <a:rPr lang="en-US" sz="1650" dirty="0">
                <a:solidFill>
                  <a:srgbClr val="0C0C0C"/>
                </a:solidFill>
                <a:latin typeface="Arial"/>
              </a:rPr>
              <a:t>some</a:t>
            </a:r>
            <a:r>
              <a:rPr sz="1650" dirty="0">
                <a:solidFill>
                  <a:srgbClr val="0C0C0C"/>
                </a:solidFill>
                <a:latin typeface="Arial"/>
              </a:rPr>
              <a:t> columns</a:t>
            </a:r>
            <a:br>
              <a:rPr sz="1650" dirty="0">
                <a:solidFill>
                  <a:srgbClr val="0C0C0C"/>
                </a:solidFill>
                <a:latin typeface="Arial"/>
              </a:rPr>
            </a:br>
            <a:r>
              <a:rPr sz="1650" dirty="0">
                <a:solidFill>
                  <a:srgbClr val="0C0C0C"/>
                </a:solidFill>
                <a:latin typeface="Arial"/>
              </a:rPr>
              <a:t>Combine the selected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60408" y="5891022"/>
            <a:ext cx="8023860" cy="1440180"/>
          </a:xfrm>
          <a:prstGeom prst="roundRect">
            <a:avLst/>
          </a:prstGeom>
          <a:solidFill>
            <a:srgbClr val="EE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sz="2700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225784" y="6055614"/>
            <a:ext cx="576072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600" b="1">
                <a:solidFill>
                  <a:srgbClr val="0C0C0C"/>
                </a:solidFill>
                <a:latin typeface="Arial"/>
              </a:defRPr>
            </a:pPr>
            <a:r>
              <a:rPr sz="2400" b="1">
                <a:solidFill>
                  <a:srgbClr val="0C0C0C"/>
                </a:solidFill>
                <a:latin typeface="Arial"/>
              </a:rPr>
              <a:t>Prepare and reconcile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25784" y="6521959"/>
            <a:ext cx="5829300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100" b="0">
                <a:solidFill>
                  <a:srgbClr val="0C0C0C"/>
                </a:solidFill>
                <a:latin typeface="Arial"/>
              </a:defRPr>
            </a:pPr>
            <a:r>
              <a:rPr sz="1650" dirty="0">
                <a:solidFill>
                  <a:srgbClr val="0C0C0C"/>
                </a:solidFill>
                <a:latin typeface="Arial"/>
              </a:rPr>
              <a:t>Clean and prepare the dataset</a:t>
            </a:r>
            <a:br>
              <a:rPr sz="1650" dirty="0">
                <a:solidFill>
                  <a:srgbClr val="0C0C0C"/>
                </a:solidFill>
                <a:latin typeface="Arial"/>
              </a:rPr>
            </a:br>
            <a:r>
              <a:rPr sz="1650" dirty="0">
                <a:solidFill>
                  <a:srgbClr val="0C0C0C"/>
                </a:solidFill>
                <a:latin typeface="Arial"/>
              </a:rPr>
              <a:t>Use </a:t>
            </a:r>
            <a:r>
              <a:rPr sz="1650" dirty="0" err="1">
                <a:solidFill>
                  <a:srgbClr val="0C0C0C"/>
                </a:solidFill>
                <a:latin typeface="Arial"/>
              </a:rPr>
              <a:t>OpenRefine</a:t>
            </a:r>
            <a:r>
              <a:rPr sz="1650" dirty="0">
                <a:solidFill>
                  <a:srgbClr val="0C0C0C"/>
                </a:solidFill>
                <a:latin typeface="Arial"/>
              </a:rPr>
              <a:t> to link entities with </a:t>
            </a:r>
            <a:r>
              <a:rPr sz="1650" dirty="0" err="1">
                <a:solidFill>
                  <a:srgbClr val="0C0C0C"/>
                </a:solidFill>
                <a:latin typeface="Arial"/>
              </a:rPr>
              <a:t>Wikidata</a:t>
            </a:r>
            <a:endParaRPr sz="1650" dirty="0">
              <a:solidFill>
                <a:srgbClr val="0C0C0C"/>
              </a:solidFill>
              <a:latin typeface="Arial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13379196" y="3243834"/>
            <a:ext cx="0" cy="562356"/>
          </a:xfrm>
          <a:prstGeom prst="line">
            <a:avLst/>
          </a:prstGeom>
          <a:ln w="25400">
            <a:solidFill>
              <a:srgbClr val="0C0C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3379196" y="5287518"/>
            <a:ext cx="0" cy="562356"/>
          </a:xfrm>
          <a:prstGeom prst="line">
            <a:avLst/>
          </a:prstGeom>
          <a:ln w="25400">
            <a:solidFill>
              <a:srgbClr val="0C0C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360408" y="7948422"/>
            <a:ext cx="8023860" cy="1440180"/>
          </a:xfrm>
          <a:prstGeom prst="roundRect">
            <a:avLst/>
          </a:prstGeom>
          <a:solidFill>
            <a:srgbClr val="0C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sz="27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225784" y="8167878"/>
            <a:ext cx="576072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</a:rPr>
              <a:t>One prepared CSV 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25784" y="8634222"/>
            <a:ext cx="5829300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685800">
              <a:defRPr sz="1100" b="0">
                <a:solidFill>
                  <a:srgbClr val="D2D2D2"/>
                </a:solidFill>
                <a:latin typeface="Arial"/>
              </a:defRPr>
            </a:pPr>
            <a:r>
              <a:rPr sz="1650" dirty="0">
                <a:solidFill>
                  <a:srgbClr val="D2D2D2"/>
                </a:solidFill>
                <a:latin typeface="Arial"/>
              </a:rPr>
              <a:t>10 relevant columns for the project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379196" y="7358634"/>
            <a:ext cx="0" cy="534924"/>
          </a:xfrm>
          <a:prstGeom prst="line">
            <a:avLst/>
          </a:prstGeom>
          <a:ln w="25400">
            <a:solidFill>
              <a:srgbClr val="0C0C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phic 36" descr="Document with solid fill">
            <a:extLst>
              <a:ext uri="{FF2B5EF4-FFF2-40B4-BE49-F238E27FC236}">
                <a16:creationId xmlns:a16="http://schemas.microsoft.com/office/drawing/2014/main" id="{E65EC39B-4D6E-7E3B-8205-BCF86C63DC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89948" y="2063351"/>
            <a:ext cx="914400" cy="914400"/>
          </a:xfrm>
          <a:prstGeom prst="rect">
            <a:avLst/>
          </a:prstGeom>
        </p:spPr>
      </p:pic>
      <p:pic>
        <p:nvPicPr>
          <p:cNvPr id="39" name="Graphic 38" descr="Document with solid fill">
            <a:extLst>
              <a:ext uri="{FF2B5EF4-FFF2-40B4-BE49-F238E27FC236}">
                <a16:creationId xmlns:a16="http://schemas.microsoft.com/office/drawing/2014/main" id="{D8065AEA-1F4C-E331-078E-3180106C9B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0904" y="2063351"/>
            <a:ext cx="914400" cy="914400"/>
          </a:xfrm>
          <a:prstGeom prst="rect">
            <a:avLst/>
          </a:prstGeom>
        </p:spPr>
      </p:pic>
      <p:sp>
        <p:nvSpPr>
          <p:cNvPr id="41" name="Freeform 6">
            <a:extLst>
              <a:ext uri="{FF2B5EF4-FFF2-40B4-BE49-F238E27FC236}">
                <a16:creationId xmlns:a16="http://schemas.microsoft.com/office/drawing/2014/main" id="{FBC745BB-94DD-0555-059A-7B71670DCEEB}"/>
              </a:ext>
            </a:extLst>
          </p:cNvPr>
          <p:cNvSpPr/>
          <p:nvPr/>
        </p:nvSpPr>
        <p:spPr>
          <a:xfrm>
            <a:off x="9711151" y="4057975"/>
            <a:ext cx="1163890" cy="1107299"/>
          </a:xfrm>
          <a:custGeom>
            <a:avLst/>
            <a:gdLst/>
            <a:ahLst/>
            <a:cxnLst/>
            <a:rect l="l" t="t" r="r" b="b"/>
            <a:pathLst>
              <a:path w="1590167" h="1486806">
                <a:moveTo>
                  <a:pt x="0" y="0"/>
                </a:moveTo>
                <a:lnTo>
                  <a:pt x="1590167" y="0"/>
                </a:lnTo>
                <a:lnTo>
                  <a:pt x="1590167" y="1486806"/>
                </a:lnTo>
                <a:lnTo>
                  <a:pt x="0" y="1486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/>
          </a:p>
        </p:txBody>
      </p:sp>
      <p:pic>
        <p:nvPicPr>
          <p:cNvPr id="43" name="Graphic 42" descr="Document with solid fill">
            <a:extLst>
              <a:ext uri="{FF2B5EF4-FFF2-40B4-BE49-F238E27FC236}">
                <a16:creationId xmlns:a16="http://schemas.microsoft.com/office/drawing/2014/main" id="{85E0C55B-A67E-E79A-288E-5FA3349B8F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5896" y="8178244"/>
            <a:ext cx="914400" cy="914400"/>
          </a:xfrm>
          <a:prstGeom prst="rect">
            <a:avLst/>
          </a:prstGeom>
        </p:spPr>
      </p:pic>
      <p:pic>
        <p:nvPicPr>
          <p:cNvPr id="51" name="Graphic 50" descr="Database with solid fill">
            <a:extLst>
              <a:ext uri="{FF2B5EF4-FFF2-40B4-BE49-F238E27FC236}">
                <a16:creationId xmlns:a16="http://schemas.microsoft.com/office/drawing/2014/main" id="{6DB488B6-EA6F-0E02-DB4F-0AC4A2419A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89948" y="6122345"/>
            <a:ext cx="914400" cy="914400"/>
          </a:xfrm>
          <a:prstGeom prst="rect">
            <a:avLst/>
          </a:prstGeom>
        </p:spPr>
      </p:pic>
      <p:pic>
        <p:nvPicPr>
          <p:cNvPr id="53" name="Graphic 52" descr="Single gear with solid fill">
            <a:extLst>
              <a:ext uri="{FF2B5EF4-FFF2-40B4-BE49-F238E27FC236}">
                <a16:creationId xmlns:a16="http://schemas.microsoft.com/office/drawing/2014/main" id="{670639E2-FF0B-FE7D-E1A4-D480DDC33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46030" y="614705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FF1C363-BF5C-54EE-EE80-C41B237A1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54" t="6031" r="42187" b="12137"/>
          <a:stretch>
            <a:fillRect/>
          </a:stretch>
        </p:blipFill>
        <p:spPr>
          <a:xfrm>
            <a:off x="7465896" y="0"/>
            <a:ext cx="10822104" cy="10358303"/>
          </a:xfrm>
          <a:prstGeom prst="rect">
            <a:avLst/>
          </a:prstGeom>
        </p:spPr>
      </p:pic>
      <p:grpSp>
        <p:nvGrpSpPr>
          <p:cNvPr id="87" name="Group 15">
            <a:extLst>
              <a:ext uri="{FF2B5EF4-FFF2-40B4-BE49-F238E27FC236}">
                <a16:creationId xmlns:a16="http://schemas.microsoft.com/office/drawing/2014/main" id="{58F0309F-B9F0-C0EC-A005-C44EC9A33A2B}"/>
              </a:ext>
            </a:extLst>
          </p:cNvPr>
          <p:cNvGrpSpPr/>
          <p:nvPr/>
        </p:nvGrpSpPr>
        <p:grpSpPr>
          <a:xfrm>
            <a:off x="-1600200" y="1181100"/>
            <a:ext cx="10216612" cy="1066800"/>
            <a:chOff x="0" y="0"/>
            <a:chExt cx="2833685" cy="167471"/>
          </a:xfrm>
        </p:grpSpPr>
        <p:sp>
          <p:nvSpPr>
            <p:cNvPr id="88" name="Freeform 16">
              <a:extLst>
                <a:ext uri="{FF2B5EF4-FFF2-40B4-BE49-F238E27FC236}">
                  <a16:creationId xmlns:a16="http://schemas.microsoft.com/office/drawing/2014/main" id="{D41F6D77-FA83-59F1-B583-F75133813CA4}"/>
                </a:ext>
              </a:extLst>
            </p:cNvPr>
            <p:cNvSpPr/>
            <p:nvPr/>
          </p:nvSpPr>
          <p:spPr>
            <a:xfrm>
              <a:off x="0" y="0"/>
              <a:ext cx="2833685" cy="167471"/>
            </a:xfrm>
            <a:custGeom>
              <a:avLst/>
              <a:gdLst/>
              <a:ahLst/>
              <a:cxnLst/>
              <a:rect l="l" t="t" r="r" b="b"/>
              <a:pathLst>
                <a:path w="2833685" h="167471">
                  <a:moveTo>
                    <a:pt x="22733" y="0"/>
                  </a:moveTo>
                  <a:lnTo>
                    <a:pt x="2810951" y="0"/>
                  </a:lnTo>
                  <a:cubicBezTo>
                    <a:pt x="2816981" y="0"/>
                    <a:pt x="2822763" y="2395"/>
                    <a:pt x="2827026" y="6658"/>
                  </a:cubicBezTo>
                  <a:cubicBezTo>
                    <a:pt x="2831289" y="10922"/>
                    <a:pt x="2833685" y="16704"/>
                    <a:pt x="2833685" y="22733"/>
                  </a:cubicBezTo>
                  <a:lnTo>
                    <a:pt x="2833685" y="144738"/>
                  </a:lnTo>
                  <a:cubicBezTo>
                    <a:pt x="2833685" y="157293"/>
                    <a:pt x="2823507" y="167471"/>
                    <a:pt x="2810951" y="167471"/>
                  </a:cubicBezTo>
                  <a:lnTo>
                    <a:pt x="22733" y="167471"/>
                  </a:lnTo>
                  <a:cubicBezTo>
                    <a:pt x="16704" y="167471"/>
                    <a:pt x="10922" y="165076"/>
                    <a:pt x="6658" y="160813"/>
                  </a:cubicBezTo>
                  <a:cubicBezTo>
                    <a:pt x="2395" y="156549"/>
                    <a:pt x="0" y="150767"/>
                    <a:pt x="0" y="144738"/>
                  </a:cubicBezTo>
                  <a:lnTo>
                    <a:pt x="0" y="22733"/>
                  </a:lnTo>
                  <a:cubicBezTo>
                    <a:pt x="0" y="16704"/>
                    <a:pt x="2395" y="10922"/>
                    <a:pt x="6658" y="6658"/>
                  </a:cubicBezTo>
                  <a:cubicBezTo>
                    <a:pt x="10922" y="2395"/>
                    <a:pt x="16704" y="0"/>
                    <a:pt x="2273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89" name="TextBox 17">
              <a:extLst>
                <a:ext uri="{FF2B5EF4-FFF2-40B4-BE49-F238E27FC236}">
                  <a16:creationId xmlns:a16="http://schemas.microsoft.com/office/drawing/2014/main" id="{FEC1FA8B-6B33-D026-F999-84EA5C8FE942}"/>
                </a:ext>
              </a:extLst>
            </p:cNvPr>
            <p:cNvSpPr txBox="1"/>
            <p:nvPr/>
          </p:nvSpPr>
          <p:spPr>
            <a:xfrm>
              <a:off x="0" y="-38100"/>
              <a:ext cx="2833685" cy="2055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1" name="TextBox 23">
            <a:extLst>
              <a:ext uri="{FF2B5EF4-FFF2-40B4-BE49-F238E27FC236}">
                <a16:creationId xmlns:a16="http://schemas.microsoft.com/office/drawing/2014/main" id="{08277FB4-DFD3-3554-F7CB-282932E0E208}"/>
              </a:ext>
            </a:extLst>
          </p:cNvPr>
          <p:cNvSpPr txBox="1"/>
          <p:nvPr/>
        </p:nvSpPr>
        <p:spPr>
          <a:xfrm>
            <a:off x="-563333" y="1312082"/>
            <a:ext cx="9707333" cy="804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2"/>
              </a:lnSpc>
            </a:pPr>
            <a:r>
              <a:rPr lang="en-US" sz="4687" dirty="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Semantic Data Model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9BBE7A8-9CA5-3307-2BB9-B44ACED7D2DA}"/>
              </a:ext>
            </a:extLst>
          </p:cNvPr>
          <p:cNvSpPr txBox="1"/>
          <p:nvPr/>
        </p:nvSpPr>
        <p:spPr>
          <a:xfrm>
            <a:off x="654333" y="2621581"/>
            <a:ext cx="7272000" cy="709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Main Class: 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Football Player, defined for the project.</a:t>
            </a:r>
          </a:p>
          <a:p>
            <a:pPr marL="457200" lvl="0" indent="-4572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External Classes: 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Country, Sports Club, Football Position and Laterality, reused from external vocabularies.</a:t>
            </a:r>
          </a:p>
          <a:p>
            <a:pPr marL="457200" lvl="0" indent="-4572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Reused Properties: 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Country for sport, Member of, Position played on team, Footedness, name and date of birth.</a:t>
            </a:r>
          </a:p>
          <a:p>
            <a:pPr marL="457200" lvl="0" indent="-4572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Project-Specific Properties: 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goals, assists given, expected Goals (</a:t>
            </a:r>
            <a:r>
              <a:rPr lang="en-US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xG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and expected Assists (</a:t>
            </a:r>
            <a:r>
              <a:rPr lang="en-US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xA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</a:t>
            </a:r>
          </a:p>
          <a:p>
            <a:pPr marL="457200" lvl="0" indent="-457200">
              <a:spcBef>
                <a:spcPts val="2400"/>
              </a:spcBef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Implementation: 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ontology was developed in Protégé and </a:t>
            </a:r>
            <a:r>
              <a:rPr lang="en-US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visualised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using </a:t>
            </a:r>
            <a:r>
              <a:rPr lang="en-US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WebVOWL</a:t>
            </a:r>
            <a:r>
              <a:rPr lang="en-US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B02B49F-CB31-28A2-28DF-3AD922D08A46}"/>
              </a:ext>
            </a:extLst>
          </p:cNvPr>
          <p:cNvSpPr txBox="1"/>
          <p:nvPr/>
        </p:nvSpPr>
        <p:spPr>
          <a:xfrm>
            <a:off x="4648200" y="59055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903614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0FBACAA-16B0-98C5-1BC1-4C42EE20C8F6}"/>
              </a:ext>
            </a:extLst>
          </p:cNvPr>
          <p:cNvSpPr/>
          <p:nvPr/>
        </p:nvSpPr>
        <p:spPr>
          <a:xfrm>
            <a:off x="1600200" y="2019299"/>
            <a:ext cx="18090556" cy="3733801"/>
          </a:xfrm>
          <a:prstGeom prst="roundRect">
            <a:avLst>
              <a:gd name="adj" fmla="val 9973"/>
            </a:avLst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1FEA1F-6529-3405-A6A6-58163108C9C5}"/>
              </a:ext>
            </a:extLst>
          </p:cNvPr>
          <p:cNvSpPr txBox="1"/>
          <p:nvPr/>
        </p:nvSpPr>
        <p:spPr>
          <a:xfrm>
            <a:off x="2133600" y="2254853"/>
            <a:ext cx="15849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RDF Transformation: 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Converted the prepared CSV dataset into RDF triples using 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OpenRefine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lvl="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Entity Linking: 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Reconciled relevant values with 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Wikidata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linked them to corresponding external entities.</a:t>
            </a:r>
          </a:p>
          <a:p>
            <a:pPr marL="342900" lvl="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Ontology Reuse: 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Used existing 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Wikidata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properties and identifiers where appropriate to represent player information.</a:t>
            </a:r>
          </a:p>
          <a:p>
            <a:pPr marL="342900" lvl="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Custom Properties: 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Defined project-specific properties for player statistics, including goals, assists, 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expectedGoals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expectedAssists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lvl="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RDF Output: 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Exported the resulting 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FAIRified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dataset in Turtle (.</a:t>
            </a:r>
            <a:r>
              <a:rPr lang="en-US" sz="2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ttl</a:t>
            </a:r>
            <a:r>
              <a:rPr lang="en-US" sz="2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format.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50CB49C8-9B60-593B-614A-5807EE5DDB5D}"/>
              </a:ext>
            </a:extLst>
          </p:cNvPr>
          <p:cNvSpPr txBox="1"/>
          <p:nvPr/>
        </p:nvSpPr>
        <p:spPr>
          <a:xfrm>
            <a:off x="4088267" y="578658"/>
            <a:ext cx="10111466" cy="801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62"/>
              </a:lnSpc>
            </a:pPr>
            <a:r>
              <a:rPr lang="en-US" sz="4687" dirty="0">
                <a:latin typeface="Archivo Black"/>
                <a:ea typeface="Archivo Black"/>
                <a:cs typeface="Archivo Black"/>
                <a:sym typeface="Archivo Black"/>
              </a:rPr>
              <a:t>RDF Transformation &amp; Linking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247C583-DD57-0A5E-4F6E-EDC35D454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52601" y="6097270"/>
            <a:ext cx="12523902" cy="354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360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15164A2-FFAB-2F19-60CA-6563DB34BB51}"/>
              </a:ext>
            </a:extLst>
          </p:cNvPr>
          <p:cNvSpPr/>
          <p:nvPr/>
        </p:nvSpPr>
        <p:spPr>
          <a:xfrm>
            <a:off x="533400" y="3238500"/>
            <a:ext cx="17145000" cy="5257799"/>
          </a:xfrm>
          <a:prstGeom prst="roundRect">
            <a:avLst>
              <a:gd name="adj" fmla="val 9973"/>
            </a:avLst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1690ED-3EF2-4AD2-D54A-6F9CE981864B}"/>
              </a:ext>
            </a:extLst>
          </p:cNvPr>
          <p:cNvCxnSpPr>
            <a:cxnSpLocks/>
          </p:cNvCxnSpPr>
          <p:nvPr/>
        </p:nvCxnSpPr>
        <p:spPr>
          <a:xfrm>
            <a:off x="5069751" y="7413950"/>
            <a:ext cx="42460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EED9928A-52C1-1232-D301-30A3C2E19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77735" y="7030032"/>
            <a:ext cx="3533805" cy="1177935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202B60FB-5D8B-82B1-BC6A-BBB060ECE2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0600" y="3619500"/>
            <a:ext cx="4287135" cy="458846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0D0DE17C-E4AA-7EFB-260B-180ACE6690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440851" y="3624943"/>
            <a:ext cx="3780349" cy="45884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5C08E0-3B57-39B6-0FD2-2861D5C9813D}"/>
              </a:ext>
            </a:extLst>
          </p:cNvPr>
          <p:cNvSpPr txBox="1"/>
          <p:nvPr/>
        </p:nvSpPr>
        <p:spPr>
          <a:xfrm>
            <a:off x="5494355" y="3795516"/>
            <a:ext cx="7612045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l-GR" b="1" u="sng" dirty="0" err="1">
                <a:solidFill>
                  <a:schemeClr val="bg1"/>
                </a:solidFill>
              </a:rPr>
              <a:t>Custom</a:t>
            </a:r>
            <a:r>
              <a:rPr lang="el-GR" b="1" u="sng" dirty="0">
                <a:solidFill>
                  <a:schemeClr val="bg1"/>
                </a:solidFill>
              </a:rPr>
              <a:t> SHACL </a:t>
            </a:r>
            <a:r>
              <a:rPr lang="el-GR" b="1" u="sng" dirty="0" err="1">
                <a:solidFill>
                  <a:schemeClr val="bg1"/>
                </a:solidFill>
              </a:rPr>
              <a:t>Schemas</a:t>
            </a:r>
            <a:r>
              <a:rPr lang="el-GR" b="1" u="sng" dirty="0">
                <a:solidFill>
                  <a:schemeClr val="bg1"/>
                </a:solidFill>
              </a:rPr>
              <a:t>:</a:t>
            </a:r>
            <a:r>
              <a:rPr lang="el-GR" u="sng" dirty="0">
                <a:solidFill>
                  <a:schemeClr val="bg1"/>
                </a:solidFill>
              </a:rPr>
              <a:t> </a:t>
            </a:r>
            <a:endParaRPr lang="en-US" u="sng" dirty="0">
              <a:solidFill>
                <a:schemeClr val="bg1"/>
              </a:solidFill>
            </a:endParaRPr>
          </a:p>
          <a:p>
            <a:pPr lvl="0" algn="ctr"/>
            <a:r>
              <a:rPr lang="el-GR" dirty="0" err="1">
                <a:solidFill>
                  <a:schemeClr val="bg1"/>
                </a:solidFill>
              </a:rPr>
              <a:t>Defined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separate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schemas</a:t>
            </a:r>
            <a:r>
              <a:rPr lang="el-GR" dirty="0">
                <a:solidFill>
                  <a:schemeClr val="bg1"/>
                </a:solidFill>
              </a:rPr>
              <a:t> for </a:t>
            </a:r>
            <a:r>
              <a:rPr lang="el-GR" dirty="0" err="1">
                <a:solidFill>
                  <a:schemeClr val="bg1"/>
                </a:solidFill>
              </a:rPr>
              <a:t>dataset</a:t>
            </a:r>
            <a:r>
              <a:rPr lang="el-GR" dirty="0">
                <a:solidFill>
                  <a:schemeClr val="bg1"/>
                </a:solidFill>
              </a:rPr>
              <a:t> and </a:t>
            </a:r>
            <a:r>
              <a:rPr lang="el-GR" dirty="0" err="1">
                <a:solidFill>
                  <a:schemeClr val="bg1"/>
                </a:solidFill>
              </a:rPr>
              <a:t>distribution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metadata</a:t>
            </a:r>
            <a:r>
              <a:rPr lang="el-GR" dirty="0">
                <a:solidFill>
                  <a:schemeClr val="bg1"/>
                </a:solidFill>
              </a:rPr>
              <a:t>.</a:t>
            </a:r>
          </a:p>
          <a:p>
            <a:pPr lvl="0" algn="ctr">
              <a:spcBef>
                <a:spcPts val="600"/>
              </a:spcBef>
            </a:pPr>
            <a:r>
              <a:rPr lang="el-GR" b="1" u="sng" dirty="0" err="1">
                <a:solidFill>
                  <a:schemeClr val="bg1"/>
                </a:solidFill>
              </a:rPr>
              <a:t>Dataset</a:t>
            </a:r>
            <a:r>
              <a:rPr lang="el-GR" b="1" u="sng" dirty="0">
                <a:solidFill>
                  <a:schemeClr val="bg1"/>
                </a:solidFill>
              </a:rPr>
              <a:t> </a:t>
            </a:r>
            <a:r>
              <a:rPr lang="el-GR" b="1" u="sng" dirty="0" err="1">
                <a:solidFill>
                  <a:schemeClr val="bg1"/>
                </a:solidFill>
              </a:rPr>
              <a:t>Schema</a:t>
            </a:r>
            <a:r>
              <a:rPr lang="el-GR" b="1" u="sng" dirty="0">
                <a:solidFill>
                  <a:schemeClr val="bg1"/>
                </a:solidFill>
              </a:rPr>
              <a:t>:</a:t>
            </a:r>
            <a:r>
              <a:rPr lang="el-GR" u="sng" dirty="0">
                <a:solidFill>
                  <a:schemeClr val="bg1"/>
                </a:solidFill>
              </a:rPr>
              <a:t> </a:t>
            </a:r>
            <a:endParaRPr lang="en-US" u="sng" dirty="0">
              <a:solidFill>
                <a:schemeClr val="bg1"/>
              </a:solidFill>
            </a:endParaRPr>
          </a:p>
          <a:p>
            <a:pPr lvl="0" algn="ctr"/>
            <a:r>
              <a:rPr lang="el-GR" dirty="0" err="1">
                <a:solidFill>
                  <a:schemeClr val="bg1"/>
                </a:solidFill>
              </a:rPr>
              <a:t>Specifies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metadata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fields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such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as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title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description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creators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dates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license</a:t>
            </a:r>
            <a:r>
              <a:rPr lang="el-GR" dirty="0">
                <a:solidFill>
                  <a:schemeClr val="bg1"/>
                </a:solidFill>
              </a:rPr>
              <a:t> and </a:t>
            </a:r>
            <a:r>
              <a:rPr lang="el-GR" dirty="0" err="1">
                <a:solidFill>
                  <a:schemeClr val="bg1"/>
                </a:solidFill>
              </a:rPr>
              <a:t>coverage</a:t>
            </a:r>
            <a:r>
              <a:rPr lang="el-GR" dirty="0">
                <a:solidFill>
                  <a:schemeClr val="bg1"/>
                </a:solidFill>
              </a:rPr>
              <a:t>.</a:t>
            </a:r>
          </a:p>
          <a:p>
            <a:pPr lvl="0" algn="ctr">
              <a:spcBef>
                <a:spcPts val="600"/>
              </a:spcBef>
            </a:pPr>
            <a:r>
              <a:rPr lang="el-GR" b="1" u="sng" dirty="0">
                <a:solidFill>
                  <a:schemeClr val="bg1"/>
                </a:solidFill>
              </a:rPr>
              <a:t>Distribution </a:t>
            </a:r>
            <a:r>
              <a:rPr lang="el-GR" b="1" u="sng" dirty="0" err="1">
                <a:solidFill>
                  <a:schemeClr val="bg1"/>
                </a:solidFill>
              </a:rPr>
              <a:t>Schema</a:t>
            </a:r>
            <a:r>
              <a:rPr lang="el-GR" b="1" u="sng" dirty="0">
                <a:solidFill>
                  <a:schemeClr val="bg1"/>
                </a:solidFill>
              </a:rPr>
              <a:t>:</a:t>
            </a:r>
            <a:r>
              <a:rPr lang="el-GR" u="sng" dirty="0">
                <a:solidFill>
                  <a:schemeClr val="bg1"/>
                </a:solidFill>
              </a:rPr>
              <a:t> </a:t>
            </a:r>
            <a:endParaRPr lang="en-US" u="sng" dirty="0">
              <a:solidFill>
                <a:schemeClr val="bg1"/>
              </a:solidFill>
            </a:endParaRPr>
          </a:p>
          <a:p>
            <a:pPr lvl="0" algn="ctr"/>
            <a:r>
              <a:rPr lang="el-GR" dirty="0" err="1">
                <a:solidFill>
                  <a:schemeClr val="bg1"/>
                </a:solidFill>
              </a:rPr>
              <a:t>Defines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fields</a:t>
            </a:r>
            <a:r>
              <a:rPr lang="el-GR" dirty="0">
                <a:solidFill>
                  <a:schemeClr val="bg1"/>
                </a:solidFill>
              </a:rPr>
              <a:t> for </a:t>
            </a:r>
            <a:r>
              <a:rPr lang="el-GR" dirty="0" err="1">
                <a:solidFill>
                  <a:schemeClr val="bg1"/>
                </a:solidFill>
              </a:rPr>
              <a:t>format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media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type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access</a:t>
            </a:r>
            <a:r>
              <a:rPr lang="el-GR" dirty="0">
                <a:solidFill>
                  <a:schemeClr val="bg1"/>
                </a:solidFill>
              </a:rPr>
              <a:t> and </a:t>
            </a:r>
            <a:r>
              <a:rPr lang="el-GR" dirty="0" err="1">
                <a:solidFill>
                  <a:schemeClr val="bg1"/>
                </a:solidFill>
              </a:rPr>
              <a:t>download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URLs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file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size</a:t>
            </a:r>
            <a:r>
              <a:rPr lang="el-GR" dirty="0">
                <a:solidFill>
                  <a:schemeClr val="bg1"/>
                </a:solidFill>
              </a:rPr>
              <a:t> and </a:t>
            </a:r>
            <a:r>
              <a:rPr lang="el-GR" dirty="0" err="1">
                <a:solidFill>
                  <a:schemeClr val="bg1"/>
                </a:solidFill>
              </a:rPr>
              <a:t>conformance</a:t>
            </a:r>
            <a:r>
              <a:rPr lang="el-GR" dirty="0">
                <a:solidFill>
                  <a:schemeClr val="bg1"/>
                </a:solidFill>
              </a:rPr>
              <a:t>.</a:t>
            </a:r>
          </a:p>
          <a:p>
            <a:pPr lvl="0" algn="ctr">
              <a:spcBef>
                <a:spcPts val="600"/>
              </a:spcBef>
            </a:pPr>
            <a:r>
              <a:rPr lang="el-GR" b="1" u="sng" dirty="0" err="1">
                <a:solidFill>
                  <a:schemeClr val="bg1"/>
                </a:solidFill>
              </a:rPr>
              <a:t>Validation</a:t>
            </a:r>
            <a:r>
              <a:rPr lang="el-GR" b="1" u="sng" dirty="0">
                <a:solidFill>
                  <a:schemeClr val="bg1"/>
                </a:solidFill>
              </a:rPr>
              <a:t> </a:t>
            </a:r>
            <a:r>
              <a:rPr lang="el-GR" b="1" u="sng" dirty="0" err="1">
                <a:solidFill>
                  <a:schemeClr val="bg1"/>
                </a:solidFill>
              </a:rPr>
              <a:t>Constraints</a:t>
            </a:r>
            <a:r>
              <a:rPr lang="el-GR" b="1" u="sng" dirty="0">
                <a:solidFill>
                  <a:schemeClr val="bg1"/>
                </a:solidFill>
              </a:rPr>
              <a:t>:</a:t>
            </a:r>
            <a:r>
              <a:rPr lang="el-GR" u="sng" dirty="0">
                <a:solidFill>
                  <a:schemeClr val="bg1"/>
                </a:solidFill>
              </a:rPr>
              <a:t> </a:t>
            </a:r>
            <a:endParaRPr lang="en-US" u="sng" dirty="0">
              <a:solidFill>
                <a:schemeClr val="bg1"/>
              </a:solidFill>
            </a:endParaRPr>
          </a:p>
          <a:p>
            <a:pPr lvl="0" algn="ctr"/>
            <a:r>
              <a:rPr lang="el-GR" dirty="0" err="1">
                <a:solidFill>
                  <a:schemeClr val="bg1"/>
                </a:solidFill>
              </a:rPr>
              <a:t>Specifies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required</a:t>
            </a:r>
            <a:r>
              <a:rPr lang="el-GR" dirty="0">
                <a:solidFill>
                  <a:schemeClr val="bg1"/>
                </a:solidFill>
              </a:rPr>
              <a:t> and </a:t>
            </a:r>
            <a:r>
              <a:rPr lang="el-GR" dirty="0" err="1">
                <a:solidFill>
                  <a:schemeClr val="bg1"/>
                </a:solidFill>
              </a:rPr>
              <a:t>optional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fields</a:t>
            </a:r>
            <a:r>
              <a:rPr lang="el-GR" dirty="0">
                <a:solidFill>
                  <a:schemeClr val="bg1"/>
                </a:solidFill>
              </a:rPr>
              <a:t>, </a:t>
            </a:r>
            <a:r>
              <a:rPr lang="el-GR" dirty="0" err="1">
                <a:solidFill>
                  <a:schemeClr val="bg1"/>
                </a:solidFill>
              </a:rPr>
              <a:t>expected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datatypes</a:t>
            </a:r>
            <a:r>
              <a:rPr lang="el-GR" dirty="0">
                <a:solidFill>
                  <a:schemeClr val="bg1"/>
                </a:solidFill>
              </a:rPr>
              <a:t> and </a:t>
            </a:r>
            <a:r>
              <a:rPr lang="el-GR" dirty="0" err="1">
                <a:solidFill>
                  <a:schemeClr val="bg1"/>
                </a:solidFill>
              </a:rPr>
              <a:t>cardinality</a:t>
            </a:r>
            <a:r>
              <a:rPr lang="el-GR" dirty="0">
                <a:solidFill>
                  <a:schemeClr val="bg1"/>
                </a:solidFill>
              </a:rPr>
              <a:t> </a:t>
            </a:r>
            <a:r>
              <a:rPr lang="el-GR" dirty="0" err="1">
                <a:solidFill>
                  <a:schemeClr val="bg1"/>
                </a:solidFill>
              </a:rPr>
              <a:t>constraints</a:t>
            </a:r>
            <a:r>
              <a:rPr lang="el-GR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89CFA699-04BF-BE19-36AB-887719ED5924}"/>
              </a:ext>
            </a:extLst>
          </p:cNvPr>
          <p:cNvSpPr txBox="1"/>
          <p:nvPr/>
        </p:nvSpPr>
        <p:spPr>
          <a:xfrm>
            <a:off x="4034073" y="626498"/>
            <a:ext cx="9707333" cy="804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65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87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chivo Black"/>
                <a:ea typeface="Archivo Black"/>
                <a:cs typeface="Archivo Black"/>
                <a:sym typeface="Archivo Black"/>
              </a:rPr>
              <a:t>Metadata Schemas</a:t>
            </a:r>
          </a:p>
        </p:txBody>
      </p:sp>
    </p:spTree>
    <p:extLst>
      <p:ext uri="{BB962C8B-B14F-4D97-AF65-F5344CB8AC3E}">
        <p14:creationId xmlns:p14="http://schemas.microsoft.com/office/powerpoint/2010/main" val="3508679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AC9819-7D15-438F-A8C8-81F8A79F4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7B56F29-9751-D754-52E1-E5C93FF6E454}"/>
              </a:ext>
            </a:extLst>
          </p:cNvPr>
          <p:cNvGrpSpPr/>
          <p:nvPr/>
        </p:nvGrpSpPr>
        <p:grpSpPr>
          <a:xfrm>
            <a:off x="439984" y="1793921"/>
            <a:ext cx="17408031" cy="7700282"/>
            <a:chOff x="0" y="0"/>
            <a:chExt cx="4584831" cy="202805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966BF78-7108-FB22-26E4-E5ACD4FD791A}"/>
                </a:ext>
              </a:extLst>
            </p:cNvPr>
            <p:cNvSpPr/>
            <p:nvPr/>
          </p:nvSpPr>
          <p:spPr>
            <a:xfrm>
              <a:off x="0" y="0"/>
              <a:ext cx="4584831" cy="2028058"/>
            </a:xfrm>
            <a:custGeom>
              <a:avLst/>
              <a:gdLst/>
              <a:ahLst/>
              <a:cxnLst/>
              <a:rect l="l" t="t" r="r" b="b"/>
              <a:pathLst>
                <a:path w="4584831" h="2028058">
                  <a:moveTo>
                    <a:pt x="19124" y="0"/>
                  </a:moveTo>
                  <a:lnTo>
                    <a:pt x="4565708" y="0"/>
                  </a:lnTo>
                  <a:cubicBezTo>
                    <a:pt x="4576270" y="0"/>
                    <a:pt x="4584831" y="8562"/>
                    <a:pt x="4584831" y="19124"/>
                  </a:cubicBezTo>
                  <a:lnTo>
                    <a:pt x="4584831" y="2008934"/>
                  </a:lnTo>
                  <a:cubicBezTo>
                    <a:pt x="4584831" y="2019496"/>
                    <a:pt x="4576270" y="2028058"/>
                    <a:pt x="4565708" y="2028058"/>
                  </a:cubicBezTo>
                  <a:lnTo>
                    <a:pt x="19124" y="2028058"/>
                  </a:lnTo>
                  <a:cubicBezTo>
                    <a:pt x="8562" y="2028058"/>
                    <a:pt x="0" y="2019496"/>
                    <a:pt x="0" y="2008934"/>
                  </a:cubicBezTo>
                  <a:lnTo>
                    <a:pt x="0" y="19124"/>
                  </a:lnTo>
                  <a:cubicBezTo>
                    <a:pt x="0" y="8562"/>
                    <a:pt x="8562" y="0"/>
                    <a:pt x="19124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l-G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3C06B51-715C-79F0-81EF-427EEE3102A3}"/>
                </a:ext>
              </a:extLst>
            </p:cNvPr>
            <p:cNvSpPr txBox="1"/>
            <p:nvPr/>
          </p:nvSpPr>
          <p:spPr>
            <a:xfrm>
              <a:off x="0" y="-38100"/>
              <a:ext cx="4584831" cy="20661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49D6F7E4-EB44-1251-DC49-5D06338D796F}"/>
              </a:ext>
            </a:extLst>
          </p:cNvPr>
          <p:cNvGrpSpPr/>
          <p:nvPr/>
        </p:nvGrpSpPr>
        <p:grpSpPr>
          <a:xfrm>
            <a:off x="770107" y="5783847"/>
            <a:ext cx="9359170" cy="3074520"/>
            <a:chOff x="0" y="0"/>
            <a:chExt cx="1879698" cy="846113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2FAC998E-A918-461F-81FD-D430AB3D903A}"/>
                </a:ext>
              </a:extLst>
            </p:cNvPr>
            <p:cNvSpPr/>
            <p:nvPr/>
          </p:nvSpPr>
          <p:spPr>
            <a:xfrm>
              <a:off x="0" y="0"/>
              <a:ext cx="1879698" cy="846113"/>
            </a:xfrm>
            <a:custGeom>
              <a:avLst/>
              <a:gdLst/>
              <a:ahLst/>
              <a:cxnLst/>
              <a:rect l="l" t="t" r="r" b="b"/>
              <a:pathLst>
                <a:path w="1879698" h="846113">
                  <a:moveTo>
                    <a:pt x="46645" y="0"/>
                  </a:moveTo>
                  <a:lnTo>
                    <a:pt x="1833053" y="0"/>
                  </a:lnTo>
                  <a:cubicBezTo>
                    <a:pt x="1845424" y="0"/>
                    <a:pt x="1857289" y="4914"/>
                    <a:pt x="1866036" y="13662"/>
                  </a:cubicBezTo>
                  <a:cubicBezTo>
                    <a:pt x="1874784" y="22410"/>
                    <a:pt x="1879698" y="34274"/>
                    <a:pt x="1879698" y="46645"/>
                  </a:cubicBezTo>
                  <a:lnTo>
                    <a:pt x="1879698" y="799469"/>
                  </a:lnTo>
                  <a:cubicBezTo>
                    <a:pt x="1879698" y="825230"/>
                    <a:pt x="1858814" y="846113"/>
                    <a:pt x="1833053" y="846113"/>
                  </a:cubicBezTo>
                  <a:lnTo>
                    <a:pt x="46645" y="846113"/>
                  </a:lnTo>
                  <a:cubicBezTo>
                    <a:pt x="34274" y="846113"/>
                    <a:pt x="22410" y="841199"/>
                    <a:pt x="13662" y="832451"/>
                  </a:cubicBezTo>
                  <a:cubicBezTo>
                    <a:pt x="4914" y="823704"/>
                    <a:pt x="0" y="811839"/>
                    <a:pt x="0" y="799469"/>
                  </a:cubicBezTo>
                  <a:lnTo>
                    <a:pt x="0" y="46645"/>
                  </a:lnTo>
                  <a:cubicBezTo>
                    <a:pt x="0" y="20884"/>
                    <a:pt x="20884" y="0"/>
                    <a:pt x="46645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l-GR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33CE5A6-FA6F-9940-FD84-19F845440FFE}"/>
                </a:ext>
              </a:extLst>
            </p:cNvPr>
            <p:cNvSpPr txBox="1"/>
            <p:nvPr/>
          </p:nvSpPr>
          <p:spPr>
            <a:xfrm>
              <a:off x="0" y="-38100"/>
              <a:ext cx="1879698" cy="884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AB253663-B936-10EE-D731-35DEEE30A3CA}"/>
              </a:ext>
            </a:extLst>
          </p:cNvPr>
          <p:cNvGrpSpPr/>
          <p:nvPr/>
        </p:nvGrpSpPr>
        <p:grpSpPr>
          <a:xfrm>
            <a:off x="10470306" y="2280444"/>
            <a:ext cx="6980086" cy="6577924"/>
            <a:chOff x="0" y="0"/>
            <a:chExt cx="1838377" cy="846113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800061D-1B56-9B06-4621-98AF9FBDFABB}"/>
                </a:ext>
              </a:extLst>
            </p:cNvPr>
            <p:cNvSpPr/>
            <p:nvPr/>
          </p:nvSpPr>
          <p:spPr>
            <a:xfrm>
              <a:off x="0" y="0"/>
              <a:ext cx="1838377" cy="846113"/>
            </a:xfrm>
            <a:custGeom>
              <a:avLst/>
              <a:gdLst/>
              <a:ahLst/>
              <a:cxnLst/>
              <a:rect l="l" t="t" r="r" b="b"/>
              <a:pathLst>
                <a:path w="1838377" h="846113">
                  <a:moveTo>
                    <a:pt x="47693" y="0"/>
                  </a:moveTo>
                  <a:lnTo>
                    <a:pt x="1790683" y="0"/>
                  </a:lnTo>
                  <a:cubicBezTo>
                    <a:pt x="1803332" y="0"/>
                    <a:pt x="1815463" y="5025"/>
                    <a:pt x="1824408" y="13969"/>
                  </a:cubicBezTo>
                  <a:cubicBezTo>
                    <a:pt x="1833352" y="22913"/>
                    <a:pt x="1838377" y="35044"/>
                    <a:pt x="1838377" y="47693"/>
                  </a:cubicBezTo>
                  <a:lnTo>
                    <a:pt x="1838377" y="798420"/>
                  </a:lnTo>
                  <a:cubicBezTo>
                    <a:pt x="1838377" y="824760"/>
                    <a:pt x="1817024" y="846113"/>
                    <a:pt x="1790683" y="846113"/>
                  </a:cubicBezTo>
                  <a:lnTo>
                    <a:pt x="47693" y="846113"/>
                  </a:lnTo>
                  <a:cubicBezTo>
                    <a:pt x="35044" y="846113"/>
                    <a:pt x="22913" y="841088"/>
                    <a:pt x="13969" y="832144"/>
                  </a:cubicBezTo>
                  <a:cubicBezTo>
                    <a:pt x="5025" y="823200"/>
                    <a:pt x="0" y="811069"/>
                    <a:pt x="0" y="798420"/>
                  </a:cubicBezTo>
                  <a:lnTo>
                    <a:pt x="0" y="47693"/>
                  </a:lnTo>
                  <a:cubicBezTo>
                    <a:pt x="0" y="35044"/>
                    <a:pt x="5025" y="22913"/>
                    <a:pt x="13969" y="13969"/>
                  </a:cubicBezTo>
                  <a:cubicBezTo>
                    <a:pt x="22913" y="5025"/>
                    <a:pt x="35044" y="0"/>
                    <a:pt x="4769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l-G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21FABDF9-439A-C838-5839-32EA3D133BA2}"/>
                </a:ext>
              </a:extLst>
            </p:cNvPr>
            <p:cNvSpPr txBox="1"/>
            <p:nvPr/>
          </p:nvSpPr>
          <p:spPr>
            <a:xfrm>
              <a:off x="0" y="-38100"/>
              <a:ext cx="1838377" cy="884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3" name="TextBox 23">
            <a:extLst>
              <a:ext uri="{FF2B5EF4-FFF2-40B4-BE49-F238E27FC236}">
                <a16:creationId xmlns:a16="http://schemas.microsoft.com/office/drawing/2014/main" id="{9FA02762-F862-DC23-AB5B-0B361677F534}"/>
              </a:ext>
            </a:extLst>
          </p:cNvPr>
          <p:cNvSpPr txBox="1"/>
          <p:nvPr/>
        </p:nvSpPr>
        <p:spPr>
          <a:xfrm>
            <a:off x="4290334" y="578658"/>
            <a:ext cx="9707333" cy="804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65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87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chivo Black"/>
                <a:ea typeface="Archivo Black"/>
                <a:cs typeface="Archivo Black"/>
                <a:sym typeface="Archivo Black"/>
              </a:rPr>
              <a:t>Metadata Records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DB2F3CE6-0282-9656-1D9C-05B3D58C4A7E}"/>
              </a:ext>
            </a:extLst>
          </p:cNvPr>
          <p:cNvSpPr txBox="1"/>
          <p:nvPr/>
        </p:nvSpPr>
        <p:spPr>
          <a:xfrm>
            <a:off x="3251304" y="5951252"/>
            <a:ext cx="425127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l-GR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Distribution</a:t>
            </a: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Records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846C2B79-107D-0671-1A3C-EBAA2AE38F18}"/>
              </a:ext>
            </a:extLst>
          </p:cNvPr>
          <p:cNvSpPr txBox="1"/>
          <p:nvPr/>
        </p:nvSpPr>
        <p:spPr>
          <a:xfrm>
            <a:off x="1211162" y="6519534"/>
            <a:ext cx="3570332" cy="2154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b="1" u="sng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Original</a:t>
            </a:r>
            <a:r>
              <a:rPr lang="en-US" sz="2800" u="sng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</a:p>
          <a:p>
            <a:pPr algn="ctr"/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Describes the two original CSV files, packaged together in a single ZIP archive.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34" name="Group 16">
            <a:extLst>
              <a:ext uri="{FF2B5EF4-FFF2-40B4-BE49-F238E27FC236}">
                <a16:creationId xmlns:a16="http://schemas.microsoft.com/office/drawing/2014/main" id="{18A46320-EC2B-6861-8136-4680F95800D2}"/>
              </a:ext>
            </a:extLst>
          </p:cNvPr>
          <p:cNvGrpSpPr/>
          <p:nvPr/>
        </p:nvGrpSpPr>
        <p:grpSpPr>
          <a:xfrm>
            <a:off x="780993" y="2280444"/>
            <a:ext cx="4478400" cy="3074520"/>
            <a:chOff x="0" y="0"/>
            <a:chExt cx="1879698" cy="846113"/>
          </a:xfrm>
        </p:grpSpPr>
        <p:sp>
          <p:nvSpPr>
            <p:cNvPr id="35" name="Freeform 17">
              <a:extLst>
                <a:ext uri="{FF2B5EF4-FFF2-40B4-BE49-F238E27FC236}">
                  <a16:creationId xmlns:a16="http://schemas.microsoft.com/office/drawing/2014/main" id="{3D3F39EA-0DBA-64CB-9B81-11FC2AAAEAFD}"/>
                </a:ext>
              </a:extLst>
            </p:cNvPr>
            <p:cNvSpPr/>
            <p:nvPr/>
          </p:nvSpPr>
          <p:spPr>
            <a:xfrm>
              <a:off x="0" y="0"/>
              <a:ext cx="1879698" cy="846113"/>
            </a:xfrm>
            <a:custGeom>
              <a:avLst/>
              <a:gdLst/>
              <a:ahLst/>
              <a:cxnLst/>
              <a:rect l="l" t="t" r="r" b="b"/>
              <a:pathLst>
                <a:path w="1879698" h="846113">
                  <a:moveTo>
                    <a:pt x="46645" y="0"/>
                  </a:moveTo>
                  <a:lnTo>
                    <a:pt x="1833053" y="0"/>
                  </a:lnTo>
                  <a:cubicBezTo>
                    <a:pt x="1845424" y="0"/>
                    <a:pt x="1857289" y="4914"/>
                    <a:pt x="1866036" y="13662"/>
                  </a:cubicBezTo>
                  <a:cubicBezTo>
                    <a:pt x="1874784" y="22410"/>
                    <a:pt x="1879698" y="34274"/>
                    <a:pt x="1879698" y="46645"/>
                  </a:cubicBezTo>
                  <a:lnTo>
                    <a:pt x="1879698" y="799469"/>
                  </a:lnTo>
                  <a:cubicBezTo>
                    <a:pt x="1879698" y="825230"/>
                    <a:pt x="1858814" y="846113"/>
                    <a:pt x="1833053" y="846113"/>
                  </a:cubicBezTo>
                  <a:lnTo>
                    <a:pt x="46645" y="846113"/>
                  </a:lnTo>
                  <a:cubicBezTo>
                    <a:pt x="34274" y="846113"/>
                    <a:pt x="22410" y="841199"/>
                    <a:pt x="13662" y="832451"/>
                  </a:cubicBezTo>
                  <a:cubicBezTo>
                    <a:pt x="4914" y="823704"/>
                    <a:pt x="0" y="811839"/>
                    <a:pt x="0" y="799469"/>
                  </a:cubicBezTo>
                  <a:lnTo>
                    <a:pt x="0" y="46645"/>
                  </a:lnTo>
                  <a:cubicBezTo>
                    <a:pt x="0" y="20884"/>
                    <a:pt x="20884" y="0"/>
                    <a:pt x="46645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l-G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F9B2990B-7288-7100-12F0-1FF02FA64A87}"/>
                </a:ext>
              </a:extLst>
            </p:cNvPr>
            <p:cNvSpPr txBox="1"/>
            <p:nvPr/>
          </p:nvSpPr>
          <p:spPr>
            <a:xfrm>
              <a:off x="0" y="-38100"/>
              <a:ext cx="1879698" cy="884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pic>
        <p:nvPicPr>
          <p:cNvPr id="38" name="Picture 37">
            <a:extLst>
              <a:ext uri="{FF2B5EF4-FFF2-40B4-BE49-F238E27FC236}">
                <a16:creationId xmlns:a16="http://schemas.microsoft.com/office/drawing/2014/main" id="{FAEED11C-3975-4727-FE64-ABF56BC0D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3779" y="2746706"/>
            <a:ext cx="8163991" cy="5449464"/>
          </a:xfrm>
          <a:prstGeom prst="rect">
            <a:avLst/>
          </a:prstGeom>
        </p:spPr>
      </p:pic>
      <p:grpSp>
        <p:nvGrpSpPr>
          <p:cNvPr id="39" name="Group 16">
            <a:extLst>
              <a:ext uri="{FF2B5EF4-FFF2-40B4-BE49-F238E27FC236}">
                <a16:creationId xmlns:a16="http://schemas.microsoft.com/office/drawing/2014/main" id="{E93301FD-186F-4A2E-1CBA-39F0AD549358}"/>
              </a:ext>
            </a:extLst>
          </p:cNvPr>
          <p:cNvGrpSpPr/>
          <p:nvPr/>
        </p:nvGrpSpPr>
        <p:grpSpPr>
          <a:xfrm>
            <a:off x="5626016" y="2302215"/>
            <a:ext cx="4477667" cy="3074520"/>
            <a:chOff x="0" y="0"/>
            <a:chExt cx="1879698" cy="846113"/>
          </a:xfrm>
        </p:grpSpPr>
        <p:sp>
          <p:nvSpPr>
            <p:cNvPr id="40" name="Freeform 17">
              <a:extLst>
                <a:ext uri="{FF2B5EF4-FFF2-40B4-BE49-F238E27FC236}">
                  <a16:creationId xmlns:a16="http://schemas.microsoft.com/office/drawing/2014/main" id="{514F6051-B144-DCBF-5F7C-9C4A042AD019}"/>
                </a:ext>
              </a:extLst>
            </p:cNvPr>
            <p:cNvSpPr/>
            <p:nvPr/>
          </p:nvSpPr>
          <p:spPr>
            <a:xfrm>
              <a:off x="0" y="0"/>
              <a:ext cx="1879698" cy="846113"/>
            </a:xfrm>
            <a:custGeom>
              <a:avLst/>
              <a:gdLst/>
              <a:ahLst/>
              <a:cxnLst/>
              <a:rect l="l" t="t" r="r" b="b"/>
              <a:pathLst>
                <a:path w="1879698" h="846113">
                  <a:moveTo>
                    <a:pt x="46645" y="0"/>
                  </a:moveTo>
                  <a:lnTo>
                    <a:pt x="1833053" y="0"/>
                  </a:lnTo>
                  <a:cubicBezTo>
                    <a:pt x="1845424" y="0"/>
                    <a:pt x="1857289" y="4914"/>
                    <a:pt x="1866036" y="13662"/>
                  </a:cubicBezTo>
                  <a:cubicBezTo>
                    <a:pt x="1874784" y="22410"/>
                    <a:pt x="1879698" y="34274"/>
                    <a:pt x="1879698" y="46645"/>
                  </a:cubicBezTo>
                  <a:lnTo>
                    <a:pt x="1879698" y="799469"/>
                  </a:lnTo>
                  <a:cubicBezTo>
                    <a:pt x="1879698" y="825230"/>
                    <a:pt x="1858814" y="846113"/>
                    <a:pt x="1833053" y="846113"/>
                  </a:cubicBezTo>
                  <a:lnTo>
                    <a:pt x="46645" y="846113"/>
                  </a:lnTo>
                  <a:cubicBezTo>
                    <a:pt x="34274" y="846113"/>
                    <a:pt x="22410" y="841199"/>
                    <a:pt x="13662" y="832451"/>
                  </a:cubicBezTo>
                  <a:cubicBezTo>
                    <a:pt x="4914" y="823704"/>
                    <a:pt x="0" y="811839"/>
                    <a:pt x="0" y="799469"/>
                  </a:cubicBezTo>
                  <a:lnTo>
                    <a:pt x="0" y="46645"/>
                  </a:lnTo>
                  <a:cubicBezTo>
                    <a:pt x="0" y="20884"/>
                    <a:pt x="20884" y="0"/>
                    <a:pt x="46645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l-GR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41" name="TextBox 18">
              <a:extLst>
                <a:ext uri="{FF2B5EF4-FFF2-40B4-BE49-F238E27FC236}">
                  <a16:creationId xmlns:a16="http://schemas.microsoft.com/office/drawing/2014/main" id="{1EC6D207-3C38-45F8-E233-BB7CD4791BD8}"/>
                </a:ext>
              </a:extLst>
            </p:cNvPr>
            <p:cNvSpPr txBox="1"/>
            <p:nvPr/>
          </p:nvSpPr>
          <p:spPr>
            <a:xfrm>
              <a:off x="0" y="-38100"/>
              <a:ext cx="1879698" cy="884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sp>
        <p:nvSpPr>
          <p:cNvPr id="43" name="TextBox 32">
            <a:extLst>
              <a:ext uri="{FF2B5EF4-FFF2-40B4-BE49-F238E27FC236}">
                <a16:creationId xmlns:a16="http://schemas.microsoft.com/office/drawing/2014/main" id="{A2311F86-638B-181D-9D12-3D3B2089F611}"/>
              </a:ext>
            </a:extLst>
          </p:cNvPr>
          <p:cNvSpPr txBox="1"/>
          <p:nvPr/>
        </p:nvSpPr>
        <p:spPr>
          <a:xfrm>
            <a:off x="6057913" y="6483304"/>
            <a:ext cx="3570332" cy="2154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l-GR" sz="2800" b="1" u="sng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FAIRified</a:t>
            </a:r>
            <a:r>
              <a:rPr lang="en-US" sz="2800" u="sng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</a:p>
          <a:p>
            <a:pPr lvl="0" algn="ctr"/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Describes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transformed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provided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in RDF/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Turtle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(.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ttl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</a:t>
            </a:r>
            <a:r>
              <a:rPr lang="el-GR" sz="28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format</a:t>
            </a:r>
            <a:r>
              <a:rPr lang="el-GR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45" name="TextBox 32">
            <a:extLst>
              <a:ext uri="{FF2B5EF4-FFF2-40B4-BE49-F238E27FC236}">
                <a16:creationId xmlns:a16="http://schemas.microsoft.com/office/drawing/2014/main" id="{4FEF1089-3D70-CCD4-7B05-E103E22634C0}"/>
              </a:ext>
            </a:extLst>
          </p:cNvPr>
          <p:cNvSpPr txBox="1"/>
          <p:nvPr/>
        </p:nvSpPr>
        <p:spPr>
          <a:xfrm>
            <a:off x="1211161" y="3561622"/>
            <a:ext cx="3570332" cy="12926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Describes the catalog containing the project dataset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7" name="TextBox 32">
            <a:extLst>
              <a:ext uri="{FF2B5EF4-FFF2-40B4-BE49-F238E27FC236}">
                <a16:creationId xmlns:a16="http://schemas.microsoft.com/office/drawing/2014/main" id="{7FA91991-20EC-F88A-5AC1-406BE84B24EB}"/>
              </a:ext>
            </a:extLst>
          </p:cNvPr>
          <p:cNvSpPr txBox="1"/>
          <p:nvPr/>
        </p:nvSpPr>
        <p:spPr>
          <a:xfrm>
            <a:off x="6057913" y="3389287"/>
            <a:ext cx="3570332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Provides descriptive metadata about the Premier League player statistics dataset.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9" name="TextBox 27">
            <a:extLst>
              <a:ext uri="{FF2B5EF4-FFF2-40B4-BE49-F238E27FC236}">
                <a16:creationId xmlns:a16="http://schemas.microsoft.com/office/drawing/2014/main" id="{526D3CBA-0ECE-DCA7-A918-8D55C4838F29}"/>
              </a:ext>
            </a:extLst>
          </p:cNvPr>
          <p:cNvSpPr txBox="1"/>
          <p:nvPr/>
        </p:nvSpPr>
        <p:spPr>
          <a:xfrm>
            <a:off x="5751107" y="2574560"/>
            <a:ext cx="425127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l-GR" sz="2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Record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1" name="TextBox 27">
            <a:extLst>
              <a:ext uri="{FF2B5EF4-FFF2-40B4-BE49-F238E27FC236}">
                <a16:creationId xmlns:a16="http://schemas.microsoft.com/office/drawing/2014/main" id="{1C5C6FDF-FF6C-E954-2E57-D3E7AAC13C3E}"/>
              </a:ext>
            </a:extLst>
          </p:cNvPr>
          <p:cNvSpPr txBox="1"/>
          <p:nvPr/>
        </p:nvSpPr>
        <p:spPr>
          <a:xfrm>
            <a:off x="960604" y="2543167"/>
            <a:ext cx="425127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l-GR" sz="2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Catalog</a:t>
            </a:r>
            <a:r>
              <a:rPr lang="el-GR" sz="2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8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Record</a:t>
            </a:r>
            <a:endParaRPr lang="el-GR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1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70B79-C295-99AB-143F-FE54784A8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BCA04F87-3FA6-C403-D70A-C3D93D4C2B9F}"/>
              </a:ext>
            </a:extLst>
          </p:cNvPr>
          <p:cNvSpPr/>
          <p:nvPr/>
        </p:nvSpPr>
        <p:spPr>
          <a:xfrm>
            <a:off x="-228600" y="1"/>
            <a:ext cx="19964399" cy="10286999"/>
          </a:xfrm>
          <a:custGeom>
            <a:avLst/>
            <a:gdLst/>
            <a:ahLst/>
            <a:cxnLst/>
            <a:rect l="l" t="t" r="r" b="b"/>
            <a:pathLst>
              <a:path w="4416690" h="2234140">
                <a:moveTo>
                  <a:pt x="23545" y="0"/>
                </a:moveTo>
                <a:lnTo>
                  <a:pt x="4393146" y="0"/>
                </a:lnTo>
                <a:cubicBezTo>
                  <a:pt x="4406149" y="0"/>
                  <a:pt x="4416690" y="10541"/>
                  <a:pt x="4416690" y="23545"/>
                </a:cubicBezTo>
                <a:lnTo>
                  <a:pt x="4416690" y="2210595"/>
                </a:lnTo>
                <a:cubicBezTo>
                  <a:pt x="4416690" y="2223599"/>
                  <a:pt x="4406149" y="2234140"/>
                  <a:pt x="4393146" y="2234140"/>
                </a:cubicBezTo>
                <a:lnTo>
                  <a:pt x="23545" y="2234140"/>
                </a:lnTo>
                <a:cubicBezTo>
                  <a:pt x="17300" y="2234140"/>
                  <a:pt x="11312" y="2231660"/>
                  <a:pt x="6896" y="2227244"/>
                </a:cubicBezTo>
                <a:cubicBezTo>
                  <a:pt x="2481" y="2222829"/>
                  <a:pt x="0" y="2216840"/>
                  <a:pt x="0" y="2210595"/>
                </a:cubicBezTo>
                <a:lnTo>
                  <a:pt x="0" y="23545"/>
                </a:lnTo>
                <a:cubicBezTo>
                  <a:pt x="0" y="17300"/>
                  <a:pt x="2481" y="11312"/>
                  <a:pt x="6896" y="6896"/>
                </a:cubicBezTo>
                <a:cubicBezTo>
                  <a:pt x="11312" y="2481"/>
                  <a:pt x="17300" y="0"/>
                  <a:pt x="23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/>
          <a:lstStyle/>
          <a:p>
            <a:endParaRPr lang="el-GR" dirty="0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31404A0-4E4F-BB4C-BA4E-A20FCFC8F7CF}"/>
              </a:ext>
            </a:extLst>
          </p:cNvPr>
          <p:cNvGrpSpPr/>
          <p:nvPr/>
        </p:nvGrpSpPr>
        <p:grpSpPr>
          <a:xfrm>
            <a:off x="4870291" y="6625639"/>
            <a:ext cx="11764001" cy="1692000"/>
            <a:chOff x="0" y="0"/>
            <a:chExt cx="3098338" cy="35246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8E03B79-6E55-5B0C-EA9D-6C35AFCB279D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chemeClr val="bg1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95F549C-4E45-7A2C-C8B3-873019020EC7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E587498-87A7-2EC5-611C-FEE45AA90F69}"/>
              </a:ext>
            </a:extLst>
          </p:cNvPr>
          <p:cNvGrpSpPr/>
          <p:nvPr/>
        </p:nvGrpSpPr>
        <p:grpSpPr>
          <a:xfrm>
            <a:off x="4870291" y="4762500"/>
            <a:ext cx="11764001" cy="1692000"/>
            <a:chOff x="0" y="0"/>
            <a:chExt cx="3098338" cy="35246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6ECEFD9-5426-1FDB-F741-1FAC0AFA32E5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chemeClr val="bg1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4276ECD7-E0B3-6D45-CAD8-092407C319E4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8CCECEE-7A33-8089-D464-60DF50AD2600}"/>
              </a:ext>
            </a:extLst>
          </p:cNvPr>
          <p:cNvGrpSpPr/>
          <p:nvPr/>
        </p:nvGrpSpPr>
        <p:grpSpPr>
          <a:xfrm>
            <a:off x="4870291" y="2871568"/>
            <a:ext cx="11764001" cy="1692000"/>
            <a:chOff x="0" y="0"/>
            <a:chExt cx="3098338" cy="35246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4AA303B-7F2D-9B56-0F0F-E4D7FABF2C4A}"/>
                </a:ext>
              </a:extLst>
            </p:cNvPr>
            <p:cNvSpPr/>
            <p:nvPr/>
          </p:nvSpPr>
          <p:spPr>
            <a:xfrm>
              <a:off x="0" y="0"/>
              <a:ext cx="3098338" cy="352460"/>
            </a:xfrm>
            <a:custGeom>
              <a:avLst/>
              <a:gdLst/>
              <a:ahLst/>
              <a:cxnLst/>
              <a:rect l="l" t="t" r="r" b="b"/>
              <a:pathLst>
                <a:path w="3098338" h="352460">
                  <a:moveTo>
                    <a:pt x="13820" y="0"/>
                  </a:moveTo>
                  <a:lnTo>
                    <a:pt x="3084518" y="0"/>
                  </a:lnTo>
                  <a:cubicBezTo>
                    <a:pt x="3092150" y="0"/>
                    <a:pt x="3098338" y="6187"/>
                    <a:pt x="3098338" y="13820"/>
                  </a:cubicBezTo>
                  <a:lnTo>
                    <a:pt x="3098338" y="338640"/>
                  </a:lnTo>
                  <a:cubicBezTo>
                    <a:pt x="3098338" y="346273"/>
                    <a:pt x="3092150" y="352460"/>
                    <a:pt x="3084518" y="352460"/>
                  </a:cubicBezTo>
                  <a:lnTo>
                    <a:pt x="13820" y="352460"/>
                  </a:lnTo>
                  <a:cubicBezTo>
                    <a:pt x="6187" y="352460"/>
                    <a:pt x="0" y="346273"/>
                    <a:pt x="0" y="338640"/>
                  </a:cubicBezTo>
                  <a:lnTo>
                    <a:pt x="0" y="13820"/>
                  </a:lnTo>
                  <a:cubicBezTo>
                    <a:pt x="0" y="6187"/>
                    <a:pt x="6187" y="0"/>
                    <a:pt x="13820" y="0"/>
                  </a:cubicBezTo>
                  <a:close/>
                </a:path>
              </a:pathLst>
            </a:custGeom>
            <a:solidFill>
              <a:schemeClr val="bg1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D0BAC35-1DE7-EFB0-4359-2085B50C53A0}"/>
                </a:ext>
              </a:extLst>
            </p:cNvPr>
            <p:cNvSpPr txBox="1"/>
            <p:nvPr/>
          </p:nvSpPr>
          <p:spPr>
            <a:xfrm>
              <a:off x="0" y="-38100"/>
              <a:ext cx="3098338" cy="390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96660DC6-1C61-A808-B607-977059E2AB8B}"/>
              </a:ext>
            </a:extLst>
          </p:cNvPr>
          <p:cNvSpPr/>
          <p:nvPr/>
        </p:nvSpPr>
        <p:spPr>
          <a:xfrm>
            <a:off x="971946" y="8506533"/>
            <a:ext cx="1388865" cy="1319422"/>
          </a:xfrm>
          <a:custGeom>
            <a:avLst/>
            <a:gdLst/>
            <a:ahLst/>
            <a:cxnLst/>
            <a:rect l="l" t="t" r="r" b="b"/>
            <a:pathLst>
              <a:path w="1388865" h="1319422">
                <a:moveTo>
                  <a:pt x="0" y="0"/>
                </a:moveTo>
                <a:lnTo>
                  <a:pt x="1388865" y="0"/>
                </a:lnTo>
                <a:lnTo>
                  <a:pt x="1388865" y="1319422"/>
                </a:lnTo>
                <a:lnTo>
                  <a:pt x="0" y="13194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B1B733D-F022-EB49-3C5F-130F787E45F4}"/>
              </a:ext>
            </a:extLst>
          </p:cNvPr>
          <p:cNvSpPr txBox="1"/>
          <p:nvPr/>
        </p:nvSpPr>
        <p:spPr>
          <a:xfrm>
            <a:off x="4870291" y="6922624"/>
            <a:ext cx="11764001" cy="1482909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2EF3747-4182-C38B-3DC9-5CD6CCD3F5DD}"/>
              </a:ext>
            </a:extLst>
          </p:cNvPr>
          <p:cNvSpPr txBox="1"/>
          <p:nvPr/>
        </p:nvSpPr>
        <p:spPr>
          <a:xfrm>
            <a:off x="3380676" y="1680141"/>
            <a:ext cx="11526647" cy="717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1"/>
              </a:lnSpc>
            </a:pPr>
            <a:r>
              <a:rPr lang="en-US" sz="4687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  <a:sym typeface="Archivo Black"/>
              </a:rPr>
              <a:t>Publication &amp; Persistent Identifiers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92E5E518-9CC7-72B0-56CC-485F4840AE60}"/>
              </a:ext>
            </a:extLst>
          </p:cNvPr>
          <p:cNvSpPr txBox="1"/>
          <p:nvPr/>
        </p:nvSpPr>
        <p:spPr>
          <a:xfrm>
            <a:off x="5179771" y="3032413"/>
            <a:ext cx="11660429" cy="1349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0" b="1" dirty="0">
                <a:latin typeface="Roboto Bold"/>
                <a:ea typeface="Roboto Bold"/>
                <a:cs typeface="Roboto Bold"/>
                <a:sym typeface="Roboto Bold"/>
              </a:rPr>
              <a:t>Publication:</a:t>
            </a:r>
          </a:p>
          <a:p>
            <a:pPr lvl="0"/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Published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project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resources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in a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GitHub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repository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lvl="0"/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Included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original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FAIRified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ontology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metadata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files</a:t>
            </a:r>
            <a:r>
              <a:rPr lang="el-GR" sz="2680" dirty="0"/>
              <a:t>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0706E3C7-D308-4696-8DB4-4A34ACBDC97C}"/>
              </a:ext>
            </a:extLst>
          </p:cNvPr>
          <p:cNvSpPr txBox="1"/>
          <p:nvPr/>
        </p:nvSpPr>
        <p:spPr>
          <a:xfrm>
            <a:off x="5206985" y="4943559"/>
            <a:ext cx="11633215" cy="1349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0" b="1" dirty="0">
                <a:latin typeface="Roboto Bold"/>
                <a:ea typeface="Roboto Bold"/>
                <a:cs typeface="Roboto Bold"/>
                <a:sym typeface="Roboto Bold"/>
              </a:rPr>
              <a:t>Persistent Identifiers</a:t>
            </a:r>
          </a:p>
          <a:p>
            <a:pPr lvl="0"/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Assigned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W3ID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identifiers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ontology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both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distributions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lvl="0"/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Linked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identifiers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corresponding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resources</a:t>
            </a:r>
            <a:r>
              <a:rPr lang="el-GR" sz="268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F42E182-664E-9E26-184B-7C61CD6E0926}"/>
              </a:ext>
            </a:extLst>
          </p:cNvPr>
          <p:cNvSpPr txBox="1"/>
          <p:nvPr/>
        </p:nvSpPr>
        <p:spPr>
          <a:xfrm>
            <a:off x="5177327" y="6819900"/>
            <a:ext cx="9728568" cy="14280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l-GR" sz="268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Access</a:t>
            </a:r>
            <a:endParaRPr lang="el-GR" sz="268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r>
              <a:rPr lang="el-GR" sz="2200" u="sng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4"/>
              </a:rPr>
              <a:t>https://w3id.org/FAIR-course-UT/2026/group09/ont</a:t>
            </a:r>
            <a:endParaRPr lang="en-US" sz="2200" u="sng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r>
              <a:rPr lang="el-GR" sz="2200" u="sng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5"/>
              </a:rPr>
              <a:t>https://w3id.org/FAIR-course-UT/2026/group09/data</a:t>
            </a:r>
            <a:endParaRPr lang="en-US" sz="2200" u="sng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r>
              <a:rPr lang="el-GR" sz="2200" u="sng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6"/>
              </a:rPr>
              <a:t>https://w3id.org/FAIR-course-UT/2026/group09/data-original</a:t>
            </a:r>
            <a:endParaRPr lang="el-GR" sz="2200" dirty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7" name="Picture 26" descr="Five children playing with electronics">
            <a:extLst>
              <a:ext uri="{FF2B5EF4-FFF2-40B4-BE49-F238E27FC236}">
                <a16:creationId xmlns:a16="http://schemas.microsoft.com/office/drawing/2014/main" id="{920F828F-06DF-4494-4647-DD489EF9EE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21" t="37370" r="20723" b="-1"/>
          <a:stretch>
            <a:fillRect/>
          </a:stretch>
        </p:blipFill>
        <p:spPr>
          <a:xfrm>
            <a:off x="320982" y="2886521"/>
            <a:ext cx="4343401" cy="5484171"/>
          </a:xfrm>
          <a:prstGeom prst="roundRect">
            <a:avLst>
              <a:gd name="adj" fmla="val 5751"/>
            </a:avLst>
          </a:prstGeom>
          <a:ln w="76200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4343401"/>
                      <a:gd name="csY0" fmla="*/ 0 h 5484171"/>
                      <a:gd name="csX1" fmla="*/ 4343401 w 4343401"/>
                      <a:gd name="csY1" fmla="*/ 0 h 5484171"/>
                      <a:gd name="csX2" fmla="*/ 4343401 w 4343401"/>
                      <a:gd name="csY2" fmla="*/ 5484171 h 5484171"/>
                      <a:gd name="csX3" fmla="*/ 0 w 4343401"/>
                      <a:gd name="csY3" fmla="*/ 5484171 h 5484171"/>
                      <a:gd name="csX4" fmla="*/ 0 w 4343401"/>
                      <a:gd name="csY4" fmla="*/ 0 h 54841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343401" h="5484171" fill="none" extrusionOk="0">
                        <a:moveTo>
                          <a:pt x="0" y="0"/>
                        </a:moveTo>
                        <a:cubicBezTo>
                          <a:pt x="1175198" y="-49533"/>
                          <a:pt x="3338322" y="-14809"/>
                          <a:pt x="4343401" y="0"/>
                        </a:cubicBezTo>
                        <a:cubicBezTo>
                          <a:pt x="4431040" y="1788889"/>
                          <a:pt x="4270722" y="3296098"/>
                          <a:pt x="4343401" y="5484171"/>
                        </a:cubicBezTo>
                        <a:cubicBezTo>
                          <a:pt x="3169935" y="5435940"/>
                          <a:pt x="1884540" y="5568626"/>
                          <a:pt x="0" y="5484171"/>
                        </a:cubicBezTo>
                        <a:cubicBezTo>
                          <a:pt x="-38581" y="4243566"/>
                          <a:pt x="63341" y="1244240"/>
                          <a:pt x="0" y="0"/>
                        </a:cubicBezTo>
                        <a:close/>
                      </a:path>
                      <a:path w="4343401" h="5484171" stroke="0" extrusionOk="0">
                        <a:moveTo>
                          <a:pt x="0" y="0"/>
                        </a:moveTo>
                        <a:cubicBezTo>
                          <a:pt x="1767582" y="118645"/>
                          <a:pt x="2546336" y="116012"/>
                          <a:pt x="4343401" y="0"/>
                        </a:cubicBezTo>
                        <a:cubicBezTo>
                          <a:pt x="4210519" y="2113603"/>
                          <a:pt x="4428352" y="3041974"/>
                          <a:pt x="4343401" y="5484171"/>
                        </a:cubicBezTo>
                        <a:cubicBezTo>
                          <a:pt x="3382497" y="5618771"/>
                          <a:pt x="2015455" y="5326975"/>
                          <a:pt x="0" y="5484171"/>
                        </a:cubicBezTo>
                        <a:cubicBezTo>
                          <a:pt x="-20187" y="3912540"/>
                          <a:pt x="-152480" y="95860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softEdge rad="0"/>
          </a:effectLst>
        </p:spPr>
      </p:pic>
      <p:sp>
        <p:nvSpPr>
          <p:cNvPr id="17" name="Freeform 17">
            <a:extLst>
              <a:ext uri="{FF2B5EF4-FFF2-40B4-BE49-F238E27FC236}">
                <a16:creationId xmlns:a16="http://schemas.microsoft.com/office/drawing/2014/main" id="{19A450D7-B3EE-3574-5E94-DBBD82646836}"/>
              </a:ext>
            </a:extLst>
          </p:cNvPr>
          <p:cNvSpPr/>
          <p:nvPr/>
        </p:nvSpPr>
        <p:spPr>
          <a:xfrm>
            <a:off x="2059565" y="7599386"/>
            <a:ext cx="2002929" cy="2213181"/>
          </a:xfrm>
          <a:custGeom>
            <a:avLst/>
            <a:gdLst/>
            <a:ahLst/>
            <a:cxnLst/>
            <a:rect l="l" t="t" r="r" b="b"/>
            <a:pathLst>
              <a:path w="2002929" h="2213181">
                <a:moveTo>
                  <a:pt x="0" y="0"/>
                </a:moveTo>
                <a:lnTo>
                  <a:pt x="2002929" y="0"/>
                </a:lnTo>
                <a:lnTo>
                  <a:pt x="2002929" y="2213181"/>
                </a:lnTo>
                <a:lnTo>
                  <a:pt x="0" y="22131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688834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14400" y="1562100"/>
            <a:ext cx="164592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960120" y="2247900"/>
            <a:ext cx="7991855" cy="2971800"/>
          </a:xfrm>
          <a:prstGeom prst="roundRect">
            <a:avLst/>
          </a:prstGeom>
          <a:solidFill>
            <a:srgbClr val="000000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54385" y="2449068"/>
            <a:ext cx="160332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rPr sz="24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FINDABLE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070860"/>
            <a:ext cx="7351776" cy="0"/>
          </a:xfrm>
          <a:prstGeom prst="line">
            <a:avLst/>
          </a:prstGeom>
          <a:ln w="101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80160" y="3272028"/>
            <a:ext cx="7351775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Assigned W3ID identifiers to the ontology and data distributions.</a:t>
            </a:r>
          </a:p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Created descriptive metadata for the catalog, dataset and distributions.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36024" y="2247900"/>
            <a:ext cx="7991855" cy="2971800"/>
          </a:xfrm>
          <a:prstGeom prst="roundRect">
            <a:avLst/>
          </a:prstGeom>
          <a:solidFill>
            <a:srgbClr val="000000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345143" y="2449068"/>
            <a:ext cx="197361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rPr sz="24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ACCESSIBLE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56063" y="3070860"/>
            <a:ext cx="7351776" cy="0"/>
          </a:xfrm>
          <a:prstGeom prst="line">
            <a:avLst/>
          </a:prstGeom>
          <a:ln w="101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56063" y="3272028"/>
            <a:ext cx="7351775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Published project resources in a GitHub repository.</a:t>
            </a:r>
          </a:p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Provided original data as a ZIP archive and </a:t>
            </a:r>
            <a:r>
              <a:rPr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FAIRified</a:t>
            </a: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data as RDF/Turtle.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5676900"/>
            <a:ext cx="7991855" cy="2971800"/>
          </a:xfrm>
          <a:prstGeom prst="roundRect">
            <a:avLst/>
          </a:prstGeom>
          <a:solidFill>
            <a:srgbClr val="000000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67875" y="5878068"/>
            <a:ext cx="257634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rPr sz="24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INTEROPERABLE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80160" y="6499860"/>
            <a:ext cx="7351776" cy="0"/>
          </a:xfrm>
          <a:prstGeom prst="line">
            <a:avLst/>
          </a:prstGeom>
          <a:ln w="101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80160" y="6701028"/>
            <a:ext cx="7351775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Represented the prepared data as RDF using a project-specific ontology.</a:t>
            </a:r>
          </a:p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Linked selected entities to external Wikidata identifiers.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5676900"/>
            <a:ext cx="7991855" cy="2971800"/>
          </a:xfrm>
          <a:prstGeom prst="roundRect">
            <a:avLst/>
          </a:prstGeom>
          <a:solidFill>
            <a:srgbClr val="000000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86207" y="5878068"/>
            <a:ext cx="169148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 Display"/>
              </a:defRPr>
            </a:pPr>
            <a:r>
              <a:rPr sz="24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REUSABLE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56063" y="6499860"/>
            <a:ext cx="7351776" cy="0"/>
          </a:xfrm>
          <a:prstGeom prst="line">
            <a:avLst/>
          </a:prstGeom>
          <a:ln w="101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656063" y="6701028"/>
            <a:ext cx="7351775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Documented the data preparation and transformation process.</a:t>
            </a:r>
          </a:p>
          <a:p>
            <a:pPr>
              <a:spcAft>
                <a:spcPts val="18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•  Included metadata about provenance and licensing, while preserving the original source files.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82160" y="9875520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8C8C8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22" name="TextBox 23">
            <a:extLst>
              <a:ext uri="{FF2B5EF4-FFF2-40B4-BE49-F238E27FC236}">
                <a16:creationId xmlns:a16="http://schemas.microsoft.com/office/drawing/2014/main" id="{EE9A5623-303F-F95F-882D-74FCEB998945}"/>
              </a:ext>
            </a:extLst>
          </p:cNvPr>
          <p:cNvSpPr txBox="1"/>
          <p:nvPr/>
        </p:nvSpPr>
        <p:spPr>
          <a:xfrm>
            <a:off x="4034073" y="626498"/>
            <a:ext cx="9707333" cy="804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65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87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chivo Black"/>
                <a:ea typeface="Archivo Black"/>
                <a:cs typeface="Archivo Black"/>
                <a:sym typeface="Archivo Black"/>
              </a:rPr>
              <a:t>FAIRness</a:t>
            </a:r>
            <a:r>
              <a:rPr kumimoji="0" lang="en-US" sz="4687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chivo Black"/>
                <a:ea typeface="Archivo Black"/>
                <a:cs typeface="Archivo Black"/>
                <a:sym typeface="Archivo Black"/>
              </a:rPr>
              <a:t> Improvements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15">
            <a:extLst>
              <a:ext uri="{FF2B5EF4-FFF2-40B4-BE49-F238E27FC236}">
                <a16:creationId xmlns:a16="http://schemas.microsoft.com/office/drawing/2014/main" id="{35AA6719-39E5-2CBE-0B22-F52DFB447404}"/>
              </a:ext>
            </a:extLst>
          </p:cNvPr>
          <p:cNvGrpSpPr/>
          <p:nvPr/>
        </p:nvGrpSpPr>
        <p:grpSpPr>
          <a:xfrm>
            <a:off x="3856252" y="4498642"/>
            <a:ext cx="14831965" cy="2702258"/>
            <a:chOff x="0" y="-38100"/>
            <a:chExt cx="2833685" cy="205571"/>
          </a:xfrm>
        </p:grpSpPr>
        <p:sp>
          <p:nvSpPr>
            <p:cNvPr id="49" name="Freeform 16">
              <a:extLst>
                <a:ext uri="{FF2B5EF4-FFF2-40B4-BE49-F238E27FC236}">
                  <a16:creationId xmlns:a16="http://schemas.microsoft.com/office/drawing/2014/main" id="{049E5554-B1DF-158D-263C-EE98276E8346}"/>
                </a:ext>
              </a:extLst>
            </p:cNvPr>
            <p:cNvSpPr/>
            <p:nvPr/>
          </p:nvSpPr>
          <p:spPr>
            <a:xfrm>
              <a:off x="0" y="0"/>
              <a:ext cx="2833685" cy="167471"/>
            </a:xfrm>
            <a:custGeom>
              <a:avLst/>
              <a:gdLst/>
              <a:ahLst/>
              <a:cxnLst/>
              <a:rect l="l" t="t" r="r" b="b"/>
              <a:pathLst>
                <a:path w="2833685" h="167471">
                  <a:moveTo>
                    <a:pt x="22733" y="0"/>
                  </a:moveTo>
                  <a:lnTo>
                    <a:pt x="2810951" y="0"/>
                  </a:lnTo>
                  <a:cubicBezTo>
                    <a:pt x="2816981" y="0"/>
                    <a:pt x="2822763" y="2395"/>
                    <a:pt x="2827026" y="6658"/>
                  </a:cubicBezTo>
                  <a:cubicBezTo>
                    <a:pt x="2831289" y="10922"/>
                    <a:pt x="2833685" y="16704"/>
                    <a:pt x="2833685" y="22733"/>
                  </a:cubicBezTo>
                  <a:lnTo>
                    <a:pt x="2833685" y="144738"/>
                  </a:lnTo>
                  <a:cubicBezTo>
                    <a:pt x="2833685" y="157293"/>
                    <a:pt x="2823507" y="167471"/>
                    <a:pt x="2810951" y="167471"/>
                  </a:cubicBezTo>
                  <a:lnTo>
                    <a:pt x="22733" y="167471"/>
                  </a:lnTo>
                  <a:cubicBezTo>
                    <a:pt x="16704" y="167471"/>
                    <a:pt x="10922" y="165076"/>
                    <a:pt x="6658" y="160813"/>
                  </a:cubicBezTo>
                  <a:cubicBezTo>
                    <a:pt x="2395" y="156549"/>
                    <a:pt x="0" y="150767"/>
                    <a:pt x="0" y="144738"/>
                  </a:cubicBezTo>
                  <a:lnTo>
                    <a:pt x="0" y="22733"/>
                  </a:lnTo>
                  <a:cubicBezTo>
                    <a:pt x="0" y="16704"/>
                    <a:pt x="2395" y="10922"/>
                    <a:pt x="6658" y="6658"/>
                  </a:cubicBezTo>
                  <a:cubicBezTo>
                    <a:pt x="10922" y="2395"/>
                    <a:pt x="16704" y="0"/>
                    <a:pt x="2273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 dirty="0">
                <a:solidFill>
                  <a:schemeClr val="bg1"/>
                </a:solidFill>
              </a:endParaRPr>
            </a:p>
          </p:txBody>
        </p:sp>
        <p:sp>
          <p:nvSpPr>
            <p:cNvPr id="50" name="TextBox 17">
              <a:extLst>
                <a:ext uri="{FF2B5EF4-FFF2-40B4-BE49-F238E27FC236}">
                  <a16:creationId xmlns:a16="http://schemas.microsoft.com/office/drawing/2014/main" id="{9FB8A2A1-47AF-19D2-81E1-28A8DE7D9599}"/>
                </a:ext>
              </a:extLst>
            </p:cNvPr>
            <p:cNvSpPr txBox="1"/>
            <p:nvPr/>
          </p:nvSpPr>
          <p:spPr>
            <a:xfrm>
              <a:off x="0" y="-38100"/>
              <a:ext cx="2833685" cy="2055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15">
            <a:extLst>
              <a:ext uri="{FF2B5EF4-FFF2-40B4-BE49-F238E27FC236}">
                <a16:creationId xmlns:a16="http://schemas.microsoft.com/office/drawing/2014/main" id="{67FE0C5C-D6DE-3BE7-E95A-C84B7B53499A}"/>
              </a:ext>
            </a:extLst>
          </p:cNvPr>
          <p:cNvGrpSpPr/>
          <p:nvPr/>
        </p:nvGrpSpPr>
        <p:grpSpPr>
          <a:xfrm>
            <a:off x="3826149" y="7145939"/>
            <a:ext cx="14831965" cy="2702258"/>
            <a:chOff x="0" y="-38100"/>
            <a:chExt cx="2833685" cy="205571"/>
          </a:xfrm>
        </p:grpSpPr>
        <p:sp>
          <p:nvSpPr>
            <p:cNvPr id="52" name="Freeform 16">
              <a:extLst>
                <a:ext uri="{FF2B5EF4-FFF2-40B4-BE49-F238E27FC236}">
                  <a16:creationId xmlns:a16="http://schemas.microsoft.com/office/drawing/2014/main" id="{61A00DEA-C0E8-84E8-FF8F-1810038B65EE}"/>
                </a:ext>
              </a:extLst>
            </p:cNvPr>
            <p:cNvSpPr/>
            <p:nvPr/>
          </p:nvSpPr>
          <p:spPr>
            <a:xfrm>
              <a:off x="0" y="0"/>
              <a:ext cx="2833685" cy="167471"/>
            </a:xfrm>
            <a:custGeom>
              <a:avLst/>
              <a:gdLst/>
              <a:ahLst/>
              <a:cxnLst/>
              <a:rect l="l" t="t" r="r" b="b"/>
              <a:pathLst>
                <a:path w="2833685" h="167471">
                  <a:moveTo>
                    <a:pt x="22733" y="0"/>
                  </a:moveTo>
                  <a:lnTo>
                    <a:pt x="2810951" y="0"/>
                  </a:lnTo>
                  <a:cubicBezTo>
                    <a:pt x="2816981" y="0"/>
                    <a:pt x="2822763" y="2395"/>
                    <a:pt x="2827026" y="6658"/>
                  </a:cubicBezTo>
                  <a:cubicBezTo>
                    <a:pt x="2831289" y="10922"/>
                    <a:pt x="2833685" y="16704"/>
                    <a:pt x="2833685" y="22733"/>
                  </a:cubicBezTo>
                  <a:lnTo>
                    <a:pt x="2833685" y="144738"/>
                  </a:lnTo>
                  <a:cubicBezTo>
                    <a:pt x="2833685" y="157293"/>
                    <a:pt x="2823507" y="167471"/>
                    <a:pt x="2810951" y="167471"/>
                  </a:cubicBezTo>
                  <a:lnTo>
                    <a:pt x="22733" y="167471"/>
                  </a:lnTo>
                  <a:cubicBezTo>
                    <a:pt x="16704" y="167471"/>
                    <a:pt x="10922" y="165076"/>
                    <a:pt x="6658" y="160813"/>
                  </a:cubicBezTo>
                  <a:cubicBezTo>
                    <a:pt x="2395" y="156549"/>
                    <a:pt x="0" y="150767"/>
                    <a:pt x="0" y="144738"/>
                  </a:cubicBezTo>
                  <a:lnTo>
                    <a:pt x="0" y="22733"/>
                  </a:lnTo>
                  <a:cubicBezTo>
                    <a:pt x="0" y="16704"/>
                    <a:pt x="2395" y="10922"/>
                    <a:pt x="6658" y="6658"/>
                  </a:cubicBezTo>
                  <a:cubicBezTo>
                    <a:pt x="10922" y="2395"/>
                    <a:pt x="16704" y="0"/>
                    <a:pt x="2273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 dirty="0">
                <a:solidFill>
                  <a:schemeClr val="bg1"/>
                </a:solidFill>
              </a:endParaRPr>
            </a:p>
          </p:txBody>
        </p:sp>
        <p:sp>
          <p:nvSpPr>
            <p:cNvPr id="53" name="TextBox 17">
              <a:extLst>
                <a:ext uri="{FF2B5EF4-FFF2-40B4-BE49-F238E27FC236}">
                  <a16:creationId xmlns:a16="http://schemas.microsoft.com/office/drawing/2014/main" id="{B6F51581-BBA7-B51D-232B-EE8B8F0A8CB3}"/>
                </a:ext>
              </a:extLst>
            </p:cNvPr>
            <p:cNvSpPr txBox="1"/>
            <p:nvPr/>
          </p:nvSpPr>
          <p:spPr>
            <a:xfrm>
              <a:off x="0" y="-38100"/>
              <a:ext cx="2833685" cy="2055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54" name="Group 15">
            <a:extLst>
              <a:ext uri="{FF2B5EF4-FFF2-40B4-BE49-F238E27FC236}">
                <a16:creationId xmlns:a16="http://schemas.microsoft.com/office/drawing/2014/main" id="{611C2880-BD88-C275-205D-924B6CE50E9D}"/>
              </a:ext>
            </a:extLst>
          </p:cNvPr>
          <p:cNvGrpSpPr/>
          <p:nvPr/>
        </p:nvGrpSpPr>
        <p:grpSpPr>
          <a:xfrm>
            <a:off x="3790603" y="1815252"/>
            <a:ext cx="14831965" cy="2702258"/>
            <a:chOff x="0" y="-38100"/>
            <a:chExt cx="2833685" cy="205571"/>
          </a:xfrm>
        </p:grpSpPr>
        <p:sp>
          <p:nvSpPr>
            <p:cNvPr id="55" name="Freeform 16">
              <a:extLst>
                <a:ext uri="{FF2B5EF4-FFF2-40B4-BE49-F238E27FC236}">
                  <a16:creationId xmlns:a16="http://schemas.microsoft.com/office/drawing/2014/main" id="{DAAB0C15-49D5-2665-BAE2-969FD54A18D4}"/>
                </a:ext>
              </a:extLst>
            </p:cNvPr>
            <p:cNvSpPr/>
            <p:nvPr/>
          </p:nvSpPr>
          <p:spPr>
            <a:xfrm>
              <a:off x="0" y="0"/>
              <a:ext cx="2833685" cy="167471"/>
            </a:xfrm>
            <a:custGeom>
              <a:avLst/>
              <a:gdLst/>
              <a:ahLst/>
              <a:cxnLst/>
              <a:rect l="l" t="t" r="r" b="b"/>
              <a:pathLst>
                <a:path w="2833685" h="167471">
                  <a:moveTo>
                    <a:pt x="22733" y="0"/>
                  </a:moveTo>
                  <a:lnTo>
                    <a:pt x="2810951" y="0"/>
                  </a:lnTo>
                  <a:cubicBezTo>
                    <a:pt x="2816981" y="0"/>
                    <a:pt x="2822763" y="2395"/>
                    <a:pt x="2827026" y="6658"/>
                  </a:cubicBezTo>
                  <a:cubicBezTo>
                    <a:pt x="2831289" y="10922"/>
                    <a:pt x="2833685" y="16704"/>
                    <a:pt x="2833685" y="22733"/>
                  </a:cubicBezTo>
                  <a:lnTo>
                    <a:pt x="2833685" y="144738"/>
                  </a:lnTo>
                  <a:cubicBezTo>
                    <a:pt x="2833685" y="157293"/>
                    <a:pt x="2823507" y="167471"/>
                    <a:pt x="2810951" y="167471"/>
                  </a:cubicBezTo>
                  <a:lnTo>
                    <a:pt x="22733" y="167471"/>
                  </a:lnTo>
                  <a:cubicBezTo>
                    <a:pt x="16704" y="167471"/>
                    <a:pt x="10922" y="165076"/>
                    <a:pt x="6658" y="160813"/>
                  </a:cubicBezTo>
                  <a:cubicBezTo>
                    <a:pt x="2395" y="156549"/>
                    <a:pt x="0" y="150767"/>
                    <a:pt x="0" y="144738"/>
                  </a:cubicBezTo>
                  <a:lnTo>
                    <a:pt x="0" y="22733"/>
                  </a:lnTo>
                  <a:cubicBezTo>
                    <a:pt x="0" y="16704"/>
                    <a:pt x="2395" y="10922"/>
                    <a:pt x="6658" y="6658"/>
                  </a:cubicBezTo>
                  <a:cubicBezTo>
                    <a:pt x="10922" y="2395"/>
                    <a:pt x="16704" y="0"/>
                    <a:pt x="2273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56" name="TextBox 17">
              <a:extLst>
                <a:ext uri="{FF2B5EF4-FFF2-40B4-BE49-F238E27FC236}">
                  <a16:creationId xmlns:a16="http://schemas.microsoft.com/office/drawing/2014/main" id="{B1303632-5A5B-C1AD-700C-2476E798060F}"/>
                </a:ext>
              </a:extLst>
            </p:cNvPr>
            <p:cNvSpPr txBox="1"/>
            <p:nvPr/>
          </p:nvSpPr>
          <p:spPr>
            <a:xfrm>
              <a:off x="0" y="-38100"/>
              <a:ext cx="2833685" cy="2055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253BF9E-8421-0297-CC86-3640C140B0F0}"/>
              </a:ext>
            </a:extLst>
          </p:cNvPr>
          <p:cNvSpPr txBox="1"/>
          <p:nvPr/>
        </p:nvSpPr>
        <p:spPr>
          <a:xfrm>
            <a:off x="6255963" y="2599810"/>
            <a:ext cx="10431836" cy="710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Further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Linking</a:t>
            </a:r>
            <a:endParaRPr lang="el-GR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Enrich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player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profiles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additional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information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from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external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sources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Connect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other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football-related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  <a:endParaRPr lang="en-US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endParaRPr lang="en-US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endParaRPr lang="el-GR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buNone/>
            </a:pPr>
            <a:r>
              <a:rPr lang="en-US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layer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Performance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Analysis</a:t>
            </a:r>
            <a:endParaRPr lang="el-GR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Compare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players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goals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assists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expected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goals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xG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and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expected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assists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xA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statistical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analysis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of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player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performance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during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2024/2025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season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  <a:endParaRPr lang="en-US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endParaRPr lang="en-US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/>
            <a:endParaRPr lang="el-GR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buNone/>
            </a:pP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Reuse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&amp;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Integration</a:t>
            </a:r>
            <a:endParaRPr lang="el-GR" sz="268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Reuse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RDF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in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analysis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Combine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other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compatible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for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broader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analysis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DA6D0E55-6530-6D5F-F4E7-79D55A7DBCF2}"/>
              </a:ext>
            </a:extLst>
          </p:cNvPr>
          <p:cNvSpPr txBox="1"/>
          <p:nvPr/>
        </p:nvSpPr>
        <p:spPr>
          <a:xfrm>
            <a:off x="-159292" y="725466"/>
            <a:ext cx="9707333" cy="804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62"/>
              </a:lnSpc>
            </a:pPr>
            <a:r>
              <a:rPr lang="en-US" sz="4687" dirty="0">
                <a:latin typeface="Archivo Black"/>
                <a:ea typeface="Archivo Black"/>
                <a:cs typeface="Archivo Black"/>
                <a:sym typeface="Archivo Black"/>
              </a:rPr>
              <a:t>Integration Opportunities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E92B382-0B8B-BBEB-3473-08FE5F983687}"/>
              </a:ext>
            </a:extLst>
          </p:cNvPr>
          <p:cNvSpPr/>
          <p:nvPr/>
        </p:nvSpPr>
        <p:spPr>
          <a:xfrm>
            <a:off x="4026476" y="5193420"/>
            <a:ext cx="1800000" cy="1800000"/>
          </a:xfrm>
          <a:custGeom>
            <a:avLst/>
            <a:gdLst/>
            <a:ahLst/>
            <a:cxnLst/>
            <a:rect l="l" t="t" r="r" b="b"/>
            <a:pathLst>
              <a:path w="3290021" h="3207771">
                <a:moveTo>
                  <a:pt x="0" y="0"/>
                </a:moveTo>
                <a:lnTo>
                  <a:pt x="3290022" y="0"/>
                </a:lnTo>
                <a:lnTo>
                  <a:pt x="3290022" y="3207771"/>
                </a:lnTo>
                <a:lnTo>
                  <a:pt x="0" y="32077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>
              <a:solidFill>
                <a:schemeClr val="bg1"/>
              </a:solidFill>
            </a:endParaRPr>
          </a:p>
        </p:txBody>
      </p:sp>
      <p:sp>
        <p:nvSpPr>
          <p:cNvPr id="15" name="Freeform 11">
            <a:extLst>
              <a:ext uri="{FF2B5EF4-FFF2-40B4-BE49-F238E27FC236}">
                <a16:creationId xmlns:a16="http://schemas.microsoft.com/office/drawing/2014/main" id="{E09C9782-4D00-19A1-4557-76F68EAA00F2}"/>
              </a:ext>
            </a:extLst>
          </p:cNvPr>
          <p:cNvSpPr/>
          <p:nvPr/>
        </p:nvSpPr>
        <p:spPr>
          <a:xfrm>
            <a:off x="3925488" y="7774182"/>
            <a:ext cx="2138228" cy="2001563"/>
          </a:xfrm>
          <a:custGeom>
            <a:avLst/>
            <a:gdLst/>
            <a:ahLst/>
            <a:cxnLst/>
            <a:rect l="l" t="t" r="r" b="b"/>
            <a:pathLst>
              <a:path w="2054623" h="2044350">
                <a:moveTo>
                  <a:pt x="0" y="0"/>
                </a:moveTo>
                <a:lnTo>
                  <a:pt x="2054624" y="0"/>
                </a:lnTo>
                <a:lnTo>
                  <a:pt x="2054624" y="2044350"/>
                </a:lnTo>
                <a:lnTo>
                  <a:pt x="0" y="20443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l-GR">
              <a:solidFill>
                <a:schemeClr val="bg1"/>
              </a:solidFill>
            </a:endParaRPr>
          </a:p>
        </p:txBody>
      </p:sp>
      <p:pic>
        <p:nvPicPr>
          <p:cNvPr id="39" name="Graphic 38" descr="Link with solid fill">
            <a:extLst>
              <a:ext uri="{FF2B5EF4-FFF2-40B4-BE49-F238E27FC236}">
                <a16:creationId xmlns:a16="http://schemas.microsoft.com/office/drawing/2014/main" id="{4613733C-9647-C900-15DE-B7FA7A3D1F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57600" y="2118040"/>
            <a:ext cx="2568260" cy="2568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314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B52E-FE57-7646-CB25-042C4D9E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85E310E9-765D-4CDB-CBF7-04277D4DD3A4}"/>
              </a:ext>
            </a:extLst>
          </p:cNvPr>
          <p:cNvGrpSpPr/>
          <p:nvPr/>
        </p:nvGrpSpPr>
        <p:grpSpPr>
          <a:xfrm>
            <a:off x="4621784" y="2188035"/>
            <a:ext cx="12926313" cy="7317708"/>
            <a:chOff x="0" y="0"/>
            <a:chExt cx="3404461" cy="192729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60B9B90-6B19-307D-825F-3AA0A5CEDD2F}"/>
                </a:ext>
              </a:extLst>
            </p:cNvPr>
            <p:cNvSpPr/>
            <p:nvPr/>
          </p:nvSpPr>
          <p:spPr>
            <a:xfrm>
              <a:off x="0" y="0"/>
              <a:ext cx="3404461" cy="1927297"/>
            </a:xfrm>
            <a:custGeom>
              <a:avLst/>
              <a:gdLst/>
              <a:ahLst/>
              <a:cxnLst/>
              <a:rect l="l" t="t" r="r" b="b"/>
              <a:pathLst>
                <a:path w="3404461" h="1927297">
                  <a:moveTo>
                    <a:pt x="30545" y="0"/>
                  </a:moveTo>
                  <a:lnTo>
                    <a:pt x="3373916" y="0"/>
                  </a:lnTo>
                  <a:cubicBezTo>
                    <a:pt x="3390786" y="0"/>
                    <a:pt x="3404461" y="13676"/>
                    <a:pt x="3404461" y="30545"/>
                  </a:cubicBezTo>
                  <a:lnTo>
                    <a:pt x="3404461" y="1896752"/>
                  </a:lnTo>
                  <a:cubicBezTo>
                    <a:pt x="3404461" y="1913622"/>
                    <a:pt x="3390786" y="1927297"/>
                    <a:pt x="3373916" y="1927297"/>
                  </a:cubicBezTo>
                  <a:lnTo>
                    <a:pt x="30545" y="1927297"/>
                  </a:lnTo>
                  <a:cubicBezTo>
                    <a:pt x="13676" y="1927297"/>
                    <a:pt x="0" y="1913622"/>
                    <a:pt x="0" y="1896752"/>
                  </a:cubicBezTo>
                  <a:lnTo>
                    <a:pt x="0" y="30545"/>
                  </a:lnTo>
                  <a:cubicBezTo>
                    <a:pt x="0" y="13676"/>
                    <a:pt x="13676" y="0"/>
                    <a:pt x="30545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AE4DC97-51EA-23FC-AD9F-8573730A5669}"/>
                </a:ext>
              </a:extLst>
            </p:cNvPr>
            <p:cNvSpPr txBox="1"/>
            <p:nvPr/>
          </p:nvSpPr>
          <p:spPr>
            <a:xfrm>
              <a:off x="0" y="-38100"/>
              <a:ext cx="3404461" cy="19653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E3ECCED5-9E6C-74C9-EFEF-ED552BFF078C}"/>
              </a:ext>
            </a:extLst>
          </p:cNvPr>
          <p:cNvGrpSpPr/>
          <p:nvPr/>
        </p:nvGrpSpPr>
        <p:grpSpPr>
          <a:xfrm>
            <a:off x="228598" y="7688218"/>
            <a:ext cx="16756311" cy="2067336"/>
            <a:chOff x="0" y="0"/>
            <a:chExt cx="4413185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9E7E823-D397-FE39-3D1A-686895E2A96A}"/>
                </a:ext>
              </a:extLst>
            </p:cNvPr>
            <p:cNvSpPr/>
            <p:nvPr/>
          </p:nvSpPr>
          <p:spPr>
            <a:xfrm>
              <a:off x="0" y="0"/>
              <a:ext cx="4413185" cy="812800"/>
            </a:xfrm>
            <a:custGeom>
              <a:avLst/>
              <a:gdLst/>
              <a:ahLst/>
              <a:cxnLst/>
              <a:rect l="l" t="t" r="r" b="b"/>
              <a:pathLst>
                <a:path w="4413185" h="812800">
                  <a:moveTo>
                    <a:pt x="12475" y="0"/>
                  </a:moveTo>
                  <a:lnTo>
                    <a:pt x="4400710" y="0"/>
                  </a:lnTo>
                  <a:cubicBezTo>
                    <a:pt x="4404019" y="0"/>
                    <a:pt x="4407191" y="1314"/>
                    <a:pt x="4409531" y="3654"/>
                  </a:cubicBezTo>
                  <a:cubicBezTo>
                    <a:pt x="4411871" y="5993"/>
                    <a:pt x="4413185" y="9166"/>
                    <a:pt x="4413185" y="12475"/>
                  </a:cubicBezTo>
                  <a:lnTo>
                    <a:pt x="4413185" y="800325"/>
                  </a:lnTo>
                  <a:cubicBezTo>
                    <a:pt x="4413185" y="803634"/>
                    <a:pt x="4411871" y="806807"/>
                    <a:pt x="4409531" y="809146"/>
                  </a:cubicBezTo>
                  <a:cubicBezTo>
                    <a:pt x="4407191" y="811486"/>
                    <a:pt x="4404019" y="812800"/>
                    <a:pt x="4400710" y="812800"/>
                  </a:cubicBezTo>
                  <a:lnTo>
                    <a:pt x="12475" y="812800"/>
                  </a:lnTo>
                  <a:cubicBezTo>
                    <a:pt x="9166" y="812800"/>
                    <a:pt x="5993" y="811486"/>
                    <a:pt x="3654" y="809146"/>
                  </a:cubicBezTo>
                  <a:cubicBezTo>
                    <a:pt x="1314" y="806807"/>
                    <a:pt x="0" y="803634"/>
                    <a:pt x="0" y="800325"/>
                  </a:cubicBezTo>
                  <a:lnTo>
                    <a:pt x="0" y="12475"/>
                  </a:lnTo>
                  <a:cubicBezTo>
                    <a:pt x="0" y="9166"/>
                    <a:pt x="1314" y="5993"/>
                    <a:pt x="3654" y="3654"/>
                  </a:cubicBezTo>
                  <a:cubicBezTo>
                    <a:pt x="5993" y="1314"/>
                    <a:pt x="9166" y="0"/>
                    <a:pt x="1247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l-GR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A4207FD-4A4B-6102-1929-C3FD25820B60}"/>
                </a:ext>
              </a:extLst>
            </p:cNvPr>
            <p:cNvSpPr txBox="1"/>
            <p:nvPr/>
          </p:nvSpPr>
          <p:spPr>
            <a:xfrm>
              <a:off x="0" y="-38100"/>
              <a:ext cx="4413185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D59470C-2F32-8E5F-1607-59AA11DBC401}"/>
              </a:ext>
            </a:extLst>
          </p:cNvPr>
          <p:cNvSpPr txBox="1"/>
          <p:nvPr/>
        </p:nvSpPr>
        <p:spPr>
          <a:xfrm>
            <a:off x="2876197" y="889112"/>
            <a:ext cx="12535607" cy="7212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687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Challenges, Conclusion &amp; Future Work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2E0BE8-1639-1E05-B5E0-805DEF66D52F}"/>
              </a:ext>
            </a:extLst>
          </p:cNvPr>
          <p:cNvSpPr txBox="1"/>
          <p:nvPr/>
        </p:nvSpPr>
        <p:spPr>
          <a:xfrm>
            <a:off x="5483083" y="1952480"/>
            <a:ext cx="12347717" cy="53245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57"/>
              </a:lnSpc>
            </a:pPr>
            <a:r>
              <a:rPr lang="en-US" sz="2680" b="1" dirty="0">
                <a:latin typeface="Roboto"/>
                <a:ea typeface="Roboto"/>
                <a:cs typeface="Roboto"/>
                <a:sym typeface="Roboto"/>
              </a:rPr>
              <a:t>Challenges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/>
                <a:ea typeface="Roboto"/>
                <a:cs typeface="Roboto"/>
                <a:sym typeface="Roboto"/>
              </a:rPr>
              <a:t>Entity Linking: </a:t>
            </a: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Reconciling selected entities with </a:t>
            </a:r>
            <a:r>
              <a:rPr lang="en-US" sz="2680" dirty="0" err="1">
                <a:latin typeface="Roboto"/>
                <a:ea typeface="Roboto"/>
                <a:cs typeface="Roboto"/>
                <a:sym typeface="Roboto"/>
              </a:rPr>
              <a:t>Wikidata</a:t>
            </a: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 using </a:t>
            </a:r>
            <a:r>
              <a:rPr lang="en-US" sz="2680" dirty="0" err="1">
                <a:latin typeface="Roboto"/>
                <a:ea typeface="Roboto"/>
                <a:cs typeface="Roboto"/>
                <a:sym typeface="Roboto"/>
              </a:rPr>
              <a:t>OpenRefine</a:t>
            </a: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680" b="1" dirty="0">
                <a:latin typeface="Roboto"/>
                <a:ea typeface="Roboto"/>
                <a:cs typeface="Roboto"/>
                <a:sym typeface="Roboto"/>
              </a:rPr>
              <a:t>Semantic Modelling: </a:t>
            </a: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Defining a project-specific ontology and creating RDF data.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endParaRPr lang="en-US" sz="2680" dirty="0">
              <a:latin typeface="Roboto"/>
              <a:ea typeface="Roboto"/>
              <a:cs typeface="Roboto"/>
              <a:sym typeface="Roboto"/>
            </a:endParaRPr>
          </a:p>
          <a:p>
            <a:pPr algn="l">
              <a:lnSpc>
                <a:spcPts val="3757"/>
              </a:lnSpc>
            </a:pPr>
            <a:r>
              <a:rPr lang="en-US" sz="2680" b="1" dirty="0">
                <a:latin typeface="Roboto"/>
                <a:ea typeface="Roboto"/>
                <a:cs typeface="Roboto"/>
                <a:sym typeface="Roboto"/>
              </a:rPr>
              <a:t>Conclusion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Transformed Premier League player statistics for the 2024/2025 season into RDF/Turtle.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Linked selected entities to external </a:t>
            </a:r>
            <a:r>
              <a:rPr lang="en-US" sz="2680" dirty="0" err="1">
                <a:latin typeface="Roboto"/>
                <a:ea typeface="Roboto"/>
                <a:cs typeface="Roboto"/>
                <a:sym typeface="Roboto"/>
              </a:rPr>
              <a:t>Wikidata</a:t>
            </a: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 resources.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Created structured metadata for the catalog, dataset and distributions.</a:t>
            </a:r>
          </a:p>
          <a:p>
            <a:pPr marL="457200" indent="-457200" algn="l">
              <a:lnSpc>
                <a:spcPts val="3757"/>
              </a:lnSpc>
              <a:buFont typeface="Arial" panose="020B0604020202020204" pitchFamily="34" charset="0"/>
              <a:buChar char="•"/>
            </a:pPr>
            <a:r>
              <a:rPr lang="en-US" sz="2680" dirty="0">
                <a:latin typeface="Roboto"/>
                <a:ea typeface="Roboto"/>
                <a:cs typeface="Roboto"/>
                <a:sym typeface="Roboto"/>
              </a:rPr>
              <a:t>Improved the dataset’s potential for findability, interoperability and reuse.</a:t>
            </a:r>
          </a:p>
        </p:txBody>
      </p:sp>
      <p:pic>
        <p:nvPicPr>
          <p:cNvPr id="16" name="Graphic 15" descr="Database with solid fill">
            <a:extLst>
              <a:ext uri="{FF2B5EF4-FFF2-40B4-BE49-F238E27FC236}">
                <a16:creationId xmlns:a16="http://schemas.microsoft.com/office/drawing/2014/main" id="{15C6EEB1-9E4F-C3C1-40F7-75AB4CE97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6697" y="3795966"/>
            <a:ext cx="2663683" cy="2663683"/>
          </a:xfrm>
          <a:prstGeom prst="rect">
            <a:avLst/>
          </a:prstGeom>
        </p:spPr>
      </p:pic>
      <p:pic>
        <p:nvPicPr>
          <p:cNvPr id="11" name="Graphic 10" descr="Hurdle with solid fill">
            <a:extLst>
              <a:ext uri="{FF2B5EF4-FFF2-40B4-BE49-F238E27FC236}">
                <a16:creationId xmlns:a16="http://schemas.microsoft.com/office/drawing/2014/main" id="{39934AF9-2484-AD26-9249-D70D643965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" y="1952480"/>
            <a:ext cx="2484312" cy="248431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EDE737D-0C0D-AB1D-73D0-D43901FA76B6}"/>
              </a:ext>
            </a:extLst>
          </p:cNvPr>
          <p:cNvSpPr txBox="1"/>
          <p:nvPr/>
        </p:nvSpPr>
        <p:spPr>
          <a:xfrm>
            <a:off x="942914" y="7980417"/>
            <a:ext cx="15327681" cy="132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Future</a:t>
            </a:r>
            <a:r>
              <a:rPr lang="el-GR" sz="2680" b="1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b="1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Work</a:t>
            </a:r>
            <a:endParaRPr lang="el-GR" sz="268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Link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additional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football-related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Extend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the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dataset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additional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seasons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player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268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statistics</a:t>
            </a:r>
            <a:r>
              <a:rPr lang="el-GR" sz="268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755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F9427B-19DA-6B3A-B69B-4678B6F0B973}"/>
              </a:ext>
            </a:extLst>
          </p:cNvPr>
          <p:cNvCxnSpPr>
            <a:cxnSpLocks/>
          </p:cNvCxnSpPr>
          <p:nvPr/>
        </p:nvCxnSpPr>
        <p:spPr>
          <a:xfrm>
            <a:off x="1295400" y="3271569"/>
            <a:ext cx="15697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9ECD5D5-D979-2FBB-3952-88AA8B5FA225}"/>
              </a:ext>
            </a:extLst>
          </p:cNvPr>
          <p:cNvSpPr txBox="1"/>
          <p:nvPr/>
        </p:nvSpPr>
        <p:spPr>
          <a:xfrm>
            <a:off x="5334000" y="1409700"/>
            <a:ext cx="7620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rchivo Black" panose="020B0604020202020204" charset="0"/>
              </a:rPr>
              <a:t>THANK YOU!</a:t>
            </a:r>
            <a:endParaRPr lang="el-GR" sz="8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A4C637-52A7-413D-913E-44E476678D96}"/>
              </a:ext>
            </a:extLst>
          </p:cNvPr>
          <p:cNvSpPr txBox="1"/>
          <p:nvPr/>
        </p:nvSpPr>
        <p:spPr>
          <a:xfrm>
            <a:off x="4571999" y="788670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l-GR" sz="3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Questions</a:t>
            </a:r>
            <a:r>
              <a:rPr lang="el-GR" sz="3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BAD1E3-7CB8-D1D1-7ABA-6FB66A4CB673}"/>
              </a:ext>
            </a:extLst>
          </p:cNvPr>
          <p:cNvSpPr txBox="1"/>
          <p:nvPr/>
        </p:nvSpPr>
        <p:spPr>
          <a:xfrm>
            <a:off x="4441371" y="4009475"/>
            <a:ext cx="94052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l-GR" sz="32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FAIRification</a:t>
            </a:r>
            <a:r>
              <a:rPr lang="el-GR" sz="3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of </a:t>
            </a:r>
            <a:r>
              <a:rPr lang="el-GR" sz="32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Premier</a:t>
            </a:r>
            <a:r>
              <a:rPr lang="el-GR" sz="3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32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League</a:t>
            </a:r>
            <a:r>
              <a:rPr lang="el-GR" sz="3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Player </a:t>
            </a:r>
            <a:r>
              <a:rPr lang="el-GR" sz="3200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Statistics</a:t>
            </a:r>
            <a:endParaRPr lang="en-US" sz="32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buNone/>
            </a:pPr>
            <a:endParaRPr lang="el-GR" sz="3200" b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buNone/>
            </a:pPr>
            <a:r>
              <a:rPr lang="el-GR" sz="3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Group</a:t>
            </a:r>
            <a:r>
              <a:rPr lang="el-GR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9 · Giorgos Oratis &amp; </a:t>
            </a:r>
            <a:r>
              <a:rPr lang="el-GR" sz="3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Nefeli</a:t>
            </a:r>
            <a:r>
              <a:rPr lang="el-GR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l-GR" sz="32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Kantouna</a:t>
            </a:r>
            <a:endParaRPr lang="el-GR" sz="32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645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2305</TotalTime>
  <Words>1055</Words>
  <Application>Microsoft Office PowerPoint</Application>
  <PresentationFormat>Custom</PresentationFormat>
  <Paragraphs>161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Roboto</vt:lpstr>
      <vt:lpstr>Aptos</vt:lpstr>
      <vt:lpstr>Arial</vt:lpstr>
      <vt:lpstr>Archivo Black</vt:lpstr>
      <vt:lpstr>Roboto Bold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White Modern Minimalist Research Project Presentation</dc:title>
  <dc:creator>Giorgos oratis</dc:creator>
  <cp:lastModifiedBy>Oratis, G. (Giorgos, Student M-CS)</cp:lastModifiedBy>
  <cp:revision>29</cp:revision>
  <dcterms:created xsi:type="dcterms:W3CDTF">2006-08-16T00:00:00Z</dcterms:created>
  <dcterms:modified xsi:type="dcterms:W3CDTF">2026-10-28T14:16:10Z</dcterms:modified>
  <dc:identifier>DAHX4jCIG5Q</dc:identifier>
</cp:coreProperties>
</file>